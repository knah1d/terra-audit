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cover identity from the V3 report: Kazi Nahid, BSSE Roll 1437, supervised by Dr. Emon Kumar Dey, submitted 2 August 2026. Introduce Terra-Audit as an evidence-first agricultural MRV software project. Sentinel-1 supplies observations; the project contribution is field-specific processing, methodology calculation, persistence, and auditable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raw satellite observations and methodology PDFs already exist, but they do not form a usable MRV workflow by themselves. The engineering contribution is converting evidence into a field-specific, reproducible calculation with limitations disclosed. Do not claim formal verification or issuance.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routing decision. Rice uses SAR-derived evidence; cropland ALM uses practice schedules and SOC measurements. Both paths share field identity, persistence, reporting, calculation history and portfolio aggregation.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all eighteen requirements. Explain the six capability groups and give one example from each. State that FR18 is not fully complete because the current CSV does not include livestock data; PDF and JSON remain the complete audit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the actors to field management, evidence collection, analysis, methodology calculation and reporting. Point out that the system supports two field types without merging their evidence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happy path first. Then point out that validation failures, missing evidence and methodology constraints are visible outcomes rather than hidden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software-engineering slide. Explain the registry dispatch: field type selects the correct evidence processor and methodology engine while reporting and persistence stay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this is not just storage. The schema keeps evidence tied to a field and preserves previous calculations. Rice time series, ALM schedules, SOC samples and livestock records remain separate because their provenance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orient the teacher. The demo is not a tour of buttons. It is an evidence chain: create a spatial asset, collect methodology-specific evidence, validate it, calculate, expose the audit trail, export and review at portfolio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registered fields and select one. Explain that field_type is more than a label: the registry uses it to route the user to rice AWD or cropland ALM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this is your work, not Sentinel output. Terra-Audit accepts several boundary formats, handles malformed input without crashing, calculates area and persists the spatial asset used by later evidence retrieval.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explain the extensibility contribution. The same application hosts two methodology paths, but it does not pretend that Sentinel-1 is evidence for cropland SOC accounting.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cache-first design. It makes repeated demonstrations reliable, reduces external calls and keeps each field/window data set separate. Sentinel supplies VV/VH observations; Terra-Audit controls spatial extraction, windowing and persistence.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central contribution. Raw VV and VH are not carbon credits. Terra-Audit smooths signals, calculates z-scores, identifies flooded and drydown states, derives season dates with fallback and exposes the underlying ledger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implemented calculation correctly as VM0051 QA3 using Tier 1 regional defaults. Do not repeat the incorrect Tier 2 label visible in the current UI. Show how area, season, events, factors and deductions lead to the final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you answer what your work is. The platform does not merely display a number. It makes the accounting path reconstructable, including factors, intermediate emissions, uncertainty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there are multiple formats. PDF supports human review, JSON supports exact reconstruction and integration, and CSV exposes the rice time series used by the detector. Terra-Audit estimates and documents; it does not issue Verra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baseline-versus-project structure. The platform stores the management evidence needed by VM0042 and keeps it distinct from the rice time series. Livestock inputs are supported, but the current sample project contains no livestock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these are manually entered laboratory measurements, not invented satellite estimates. The application validates the sample structure before allowing the SOC quantification path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calculation as a scoped implementation. The engine handles SOC stock change, selected N2O and CH4 terms, fossil fuel CO2, uncertainty and non-permanence buffer. Do not claim complete methodology conformity where leakage data are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demonstrates conservative software behavior. Missing or incomplete leakage evidence is surfaced to the user. The prototype provides an estimate with disclosures; it does not certify a project or issue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export completeness. The PDF and JSON include material inputs. The CSV currently covers practice and SOC data only; this is tracked under FR18 and should not be described as a complete evidence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fully honest. This is an experimental extension, not a validated agronomic AI result. The current data set is small and labels originate from the rule-based gate, so the metrics show agreement with that rule. Your defensible work is the training/evaluation/persistence pipeline and transparent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demo here. The portfolio proves that the prototype is a project system rather than a one-off notebook: it manages multiple fields, two methodology types and persistent calculation history. Values shown are local prototype estimates, not issued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status language exactly. The accounting engines have automated regression coverage. Several UI, persistence and reporting components are implemented but need broader automated system tests. The AI pipeline is experimental.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two most important risks: independent ground truth and methodology completeness. Explain concrete next steps rather than claiming that the limitations are already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progress against plan rather than reading every date. The midterm checkpoint falls during methodology audit and documentation. Remaining work is final integration, hardening, evidence review and final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exact contribution. Sentinel-1 provides observations. Terra-Audit contributes field management, evidence processing, methodology calculations, persistence, audit trails, exports and an extensible architecture. It does not issue credits, and the AI extension is not independently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reference. Figure 1 summarizes the system boundary; Figure 2 decomposes the main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reference. These diagrams support detailed questions about geometry formats, area computation, validation and database persistence.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reference. Explain that the data engine retrieves and caches observations, while the analytics component interprets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reference. Use one relevant diagram if the examiner asks about a particular subsystem; do not attempt to explain all four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reference. These activity diagrams show validations and controlled failure paths in the evidence-collection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reference. These diagrams support questions about calculation decisions, export generation and AI fallback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1"/>
        </a:solidFill>
      </p:bgPr>
    </p:bg>
    <p:spTree>
      <p:nvGrpSpPr>
        <p:cNvPr id="1" name=""/>
        <p:cNvGrpSpPr/>
        <p:nvPr/>
      </p:nvGrpSpPr>
      <p:grpSpPr>
        <a:xfrm>
          <a:off x="0" y="0"/>
          <a:ext cx="0" cy="0"/>
          <a:chOff x="0" y="0"/>
          <a:chExt cx="0" cy="0"/>
        </a:xfrm>
      </p:grpSpPr>
      <p:sp>
        <p:nvSpPr>
          <p:cNvPr id="2" name="Shape 0"/>
          <p:cNvSpPr/>
          <p:nvPr/>
        </p:nvSpPr>
        <p:spPr>
          <a:xfrm>
            <a:off x="0" y="0"/>
            <a:ext cx="9966960" cy="100584"/>
          </a:xfrm>
          <a:prstGeom prst="rect">
            <a:avLst/>
          </a:prstGeom>
          <a:solidFill>
            <a:srgbClr val="2F6B3B"/>
          </a:solidFill>
          <a:ln w="12700">
            <a:solidFill>
              <a:srgbClr val="2F6B3B"/>
            </a:solidFill>
            <a:prstDash val="solid"/>
          </a:ln>
        </p:spPr>
      </p:sp>
      <p:sp>
        <p:nvSpPr>
          <p:cNvPr id="3" name="Shape 1"/>
          <p:cNvSpPr/>
          <p:nvPr/>
        </p:nvSpPr>
        <p:spPr>
          <a:xfrm>
            <a:off x="9966960" y="0"/>
            <a:ext cx="2224735" cy="100584"/>
          </a:xfrm>
          <a:prstGeom prst="rect">
            <a:avLst/>
          </a:prstGeom>
          <a:solidFill>
            <a:srgbClr val="B08A4F"/>
          </a:solidFill>
          <a:ln w="12700">
            <a:solidFill>
              <a:srgbClr val="B08A4F"/>
            </a:solidFill>
            <a:prstDash val="solid"/>
          </a:ln>
        </p:spPr>
      </p:sp>
      <p:sp>
        <p:nvSpPr>
          <p:cNvPr id="4" name="Text 2"/>
          <p:cNvSpPr/>
          <p:nvPr/>
        </p:nvSpPr>
        <p:spPr>
          <a:xfrm>
            <a:off x="502920" y="6556248"/>
            <a:ext cx="4754880" cy="146304"/>
          </a:xfrm>
          <a:prstGeom prst="rect">
            <a:avLst/>
          </a:prstGeom>
          <a:noFill/>
          <a:ln/>
        </p:spPr>
        <p:txBody>
          <a:bodyPr wrap="square" lIns="0" tIns="0" rIns="0" bIns="0" rtlCol="0" anchor="ctr"/>
          <a:lstStyle/>
          <a:p>
            <a:pPr indent="0" marL="0">
              <a:buNone/>
            </a:pPr>
            <a:r>
              <a:rPr lang="en-US" sz="850" spc="70" kern="0" dirty="0">
                <a:solidFill>
                  <a:srgbClr val="6B7A89"/>
                </a:solidFill>
                <a:latin typeface="Aptos" pitchFamily="34" charset="0"/>
                <a:ea typeface="Aptos" pitchFamily="34" charset="-122"/>
                <a:cs typeface="Aptos" pitchFamily="34" charset="-120"/>
              </a:rPr>
              <a:t>TERRA-AUDIT  •  SE801 MIDTERM</a:t>
            </a:r>
            <a:endParaRPr lang="en-US" sz="850" dirty="0"/>
          </a:p>
        </p:txBody>
      </p:sp>
      <p:sp>
        <p:nvSpPr>
          <p:cNvPr id="5" name="Text 3"/>
          <p:cNvSpPr/>
          <p:nvPr/>
        </p:nvSpPr>
        <p:spPr>
          <a:xfrm>
            <a:off x="8412480" y="6556248"/>
            <a:ext cx="2834640" cy="146304"/>
          </a:xfrm>
          <a:prstGeom prst="rect">
            <a:avLst/>
          </a:prstGeom>
          <a:noFill/>
          <a:ln/>
        </p:spPr>
        <p:txBody>
          <a:bodyPr wrap="square" lIns="0" tIns="0" rIns="0" bIns="0" rtlCol="0" anchor="ctr"/>
          <a:lstStyle/>
          <a:p>
            <a:pPr algn="r" indent="0" marL="0">
              <a:buNone/>
            </a:pPr>
            <a:r>
              <a:rPr lang="en-US" sz="850" spc="70" kern="0" dirty="0">
                <a:solidFill>
                  <a:srgbClr val="6B7A89"/>
                </a:solidFill>
                <a:latin typeface="Aptos" pitchFamily="34" charset="0"/>
                <a:ea typeface="Aptos" pitchFamily="34" charset="-122"/>
                <a:cs typeface="Aptos" pitchFamily="34" charset="-120"/>
              </a:rPr>
              <a:t>IIT • UNIVERSITY OF DHAKA</a:t>
            </a:r>
            <a:endParaRPr lang="en-US" sz="8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file:///home/nahid/Desktop/my_project/terra-audit/docs/presentation/assets/report_v3/fig02.png" TargetMode="External"/><Relationship Id="rId1" Type="http://schemas.openxmlformats.org/officeDocument/2006/relationships/image" Target="../media/image-5-1.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file:///home/nahid/Desktop/my_project/terra-audit/docs/presentation/assets/report_v3/fig12.png" TargetMode="External"/><Relationship Id="rId1"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file:///home/nahid/Desktop/my_project/terra-audit/docs/presentation/assets/report_v3/fig20.png" TargetMode="External"/><Relationship Id="rId1"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file:///home/nahid/Desktop/my_project/terra-audit/docs/diagrams/fig22_gantt_serial_fixed.png" TargetMode="External"/><Relationship Id="rId1" Type="http://schemas.openxmlformats.org/officeDocument/2006/relationships/image" Target="../media/image-27-1.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2.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nahid/Desktop/my_project/terra-audit/docs/presentation/assets/rice_fields_cover_v2.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63B27">
              <a:alpha val="62000"/>
            </a:srgbClr>
          </a:solidFill>
          <a:ln w="12700">
            <a:solidFill>
              <a:srgbClr val="163B27">
                <a:alpha val="0"/>
              </a:srgbClr>
            </a:solidFill>
            <a:prstDash val="solid"/>
          </a:ln>
        </p:spPr>
      </p:sp>
      <p:sp>
        <p:nvSpPr>
          <p:cNvPr id="4" name="Shape 1"/>
          <p:cNvSpPr/>
          <p:nvPr/>
        </p:nvSpPr>
        <p:spPr>
          <a:xfrm>
            <a:off x="0" y="0"/>
            <a:ext cx="12191695" cy="109728"/>
          </a:xfrm>
          <a:prstGeom prst="rect">
            <a:avLst/>
          </a:prstGeom>
          <a:solidFill>
            <a:srgbClr val="B08A4F"/>
          </a:solidFill>
          <a:ln w="12700">
            <a:solidFill>
              <a:srgbClr val="B08A4F"/>
            </a:solidFill>
            <a:prstDash val="solid"/>
          </a:ln>
        </p:spPr>
      </p:sp>
      <p:sp>
        <p:nvSpPr>
          <p:cNvPr id="5" name="Shape 2"/>
          <p:cNvSpPr/>
          <p:nvPr/>
        </p:nvSpPr>
        <p:spPr>
          <a:xfrm>
            <a:off x="566928" y="365760"/>
            <a:ext cx="1828800" cy="804672"/>
          </a:xfrm>
          <a:prstGeom prst="roundRect">
            <a:avLst>
              <a:gd name="adj" fmla="val 3977"/>
            </a:avLst>
          </a:prstGeom>
          <a:solidFill>
            <a:srgbClr val="FFFFFF">
              <a:alpha val="97000"/>
            </a:srgbClr>
          </a:solidFill>
          <a:ln w="12700">
            <a:solidFill>
              <a:srgbClr val="FFFFFF">
                <a:alpha val="30000"/>
              </a:srgbClr>
            </a:solidFill>
            <a:prstDash val="solid"/>
          </a:ln>
        </p:spPr>
      </p:sp>
      <p:pic>
        <p:nvPicPr>
          <p:cNvPr id="6" name="Image 1" descr="/home/nahid/Desktop/my_project/terra-audit/docs/diagrams/logo_du_seal.png">    </p:cNvPr>
          <p:cNvPicPr>
            <a:picLocks noChangeAspect="1"/>
          </p:cNvPicPr>
          <p:nvPr/>
        </p:nvPicPr>
        <p:blipFill>
          <a:blip r:embed="rId2"/>
          <a:stretch>
            <a:fillRect/>
          </a:stretch>
        </p:blipFill>
        <p:spPr>
          <a:xfrm>
            <a:off x="740534" y="457200"/>
            <a:ext cx="484892" cy="612648"/>
          </a:xfrm>
          <a:prstGeom prst="rect">
            <a:avLst/>
          </a:prstGeom>
        </p:spPr>
      </p:pic>
      <p:pic>
        <p:nvPicPr>
          <p:cNvPr id="7" name="Image 2" descr="/home/nahid/Desktop/my_project/terra-audit/docs/diagrams/logo_iit.png">    </p:cNvPr>
          <p:cNvPicPr>
            <a:picLocks noChangeAspect="1"/>
          </p:cNvPicPr>
          <p:nvPr/>
        </p:nvPicPr>
        <p:blipFill>
          <a:blip r:embed="rId3"/>
          <a:stretch>
            <a:fillRect/>
          </a:stretch>
        </p:blipFill>
        <p:spPr>
          <a:xfrm>
            <a:off x="1444752" y="614543"/>
            <a:ext cx="612648" cy="334538"/>
          </a:xfrm>
          <a:prstGeom prst="rect">
            <a:avLst/>
          </a:prstGeom>
        </p:spPr>
      </p:pic>
      <p:sp>
        <p:nvSpPr>
          <p:cNvPr id="8" name="Text 3"/>
          <p:cNvSpPr/>
          <p:nvPr/>
        </p:nvSpPr>
        <p:spPr>
          <a:xfrm>
            <a:off x="2670048" y="630936"/>
            <a:ext cx="6126480" cy="219456"/>
          </a:xfrm>
          <a:prstGeom prst="rect">
            <a:avLst/>
          </a:prstGeom>
          <a:noFill/>
          <a:ln/>
        </p:spPr>
        <p:txBody>
          <a:bodyPr wrap="square" lIns="0" tIns="0" rIns="0" bIns="0" rtlCol="0" anchor="ctr">
            <a:normAutofit/>
          </a:bodyPr>
          <a:lstStyle/>
          <a:p>
            <a:pPr indent="0" marL="0">
              <a:buNone/>
            </a:pPr>
            <a:r>
              <a:rPr lang="en-US" sz="1020" b="1" spc="50" kern="0" dirty="0">
                <a:solidFill>
                  <a:srgbClr val="EFF5EC"/>
                </a:solidFill>
              </a:rPr>
              <a:t>INSTITUTE OF INFORMATION TECHNOLOGY  •  UNIVERSITY OF DHAKA</a:t>
            </a:r>
            <a:endParaRPr lang="en-US" sz="1020" dirty="0"/>
          </a:p>
        </p:txBody>
      </p:sp>
      <p:sp>
        <p:nvSpPr>
          <p:cNvPr id="9" name="Text 4"/>
          <p:cNvSpPr/>
          <p:nvPr/>
        </p:nvSpPr>
        <p:spPr>
          <a:xfrm>
            <a:off x="658368" y="1463040"/>
            <a:ext cx="5303520" cy="219456"/>
          </a:xfrm>
          <a:prstGeom prst="rect">
            <a:avLst/>
          </a:prstGeom>
          <a:noFill/>
          <a:ln/>
        </p:spPr>
        <p:txBody>
          <a:bodyPr wrap="square" lIns="0" tIns="0" rIns="0" bIns="0" rtlCol="0" anchor="ctr"/>
          <a:lstStyle/>
          <a:p>
            <a:pPr indent="0" marL="0">
              <a:buNone/>
            </a:pPr>
            <a:r>
              <a:rPr lang="en-US" sz="1050" b="1" spc="135" kern="0" dirty="0">
                <a:solidFill>
                  <a:srgbClr val="D8C27B"/>
                </a:solidFill>
              </a:rPr>
              <a:t>SE801 PROJECT MIDTERM REPORT</a:t>
            </a:r>
            <a:endParaRPr lang="en-US" sz="1050" dirty="0"/>
          </a:p>
        </p:txBody>
      </p:sp>
      <p:sp>
        <p:nvSpPr>
          <p:cNvPr id="10" name="Text 5"/>
          <p:cNvSpPr/>
          <p:nvPr/>
        </p:nvSpPr>
        <p:spPr>
          <a:xfrm>
            <a:off x="621792" y="1792224"/>
            <a:ext cx="7315200" cy="658368"/>
          </a:xfrm>
          <a:prstGeom prst="rect">
            <a:avLst/>
          </a:prstGeom>
          <a:noFill/>
          <a:ln/>
        </p:spPr>
        <p:txBody>
          <a:bodyPr wrap="square" lIns="0" tIns="0" rIns="0" bIns="0" rtlCol="0" anchor="ctr"/>
          <a:lstStyle/>
          <a:p>
            <a:pPr indent="0" marL="0">
              <a:buNone/>
            </a:pPr>
            <a:r>
              <a:rPr lang="en-US" sz="3900" b="1" spc="35" kern="0" dirty="0">
                <a:solidFill>
                  <a:srgbClr val="FFFFFF"/>
                </a:solidFill>
              </a:rPr>
              <a:t>TERRA-AUDIT</a:t>
            </a:r>
            <a:endParaRPr lang="en-US" sz="3900" dirty="0"/>
          </a:p>
        </p:txBody>
      </p:sp>
      <p:sp>
        <p:nvSpPr>
          <p:cNvPr id="11" name="Text 6"/>
          <p:cNvSpPr/>
          <p:nvPr/>
        </p:nvSpPr>
        <p:spPr>
          <a:xfrm>
            <a:off x="658368" y="2523744"/>
            <a:ext cx="7269480" cy="932688"/>
          </a:xfrm>
          <a:prstGeom prst="rect">
            <a:avLst/>
          </a:prstGeom>
          <a:noFill/>
          <a:ln/>
        </p:spPr>
        <p:txBody>
          <a:bodyPr wrap="square" lIns="0" tIns="0" rIns="0" bIns="0" rtlCol="0" anchor="ctr">
            <a:normAutofit/>
          </a:bodyPr>
          <a:lstStyle/>
          <a:p>
            <a:pPr indent="0" marL="0">
              <a:buNone/>
            </a:pPr>
            <a:r>
              <a:rPr lang="en-US" sz="1920" dirty="0">
                <a:solidFill>
                  <a:srgbClr val="EEF4EA"/>
                </a:solidFill>
              </a:rPr>
              <a:t>AI-Assisted Digital MRV Platform for AWD Rice Irrigation and Agricultural Land Management Carbon Credits</a:t>
            </a:r>
            <a:endParaRPr lang="en-US" sz="1920" dirty="0"/>
          </a:p>
        </p:txBody>
      </p:sp>
      <p:sp>
        <p:nvSpPr>
          <p:cNvPr id="12" name="Shape 7"/>
          <p:cNvSpPr/>
          <p:nvPr/>
        </p:nvSpPr>
        <p:spPr>
          <a:xfrm>
            <a:off x="658368" y="3675888"/>
            <a:ext cx="1280160" cy="0"/>
          </a:xfrm>
          <a:prstGeom prst="line">
            <a:avLst/>
          </a:prstGeom>
          <a:noFill/>
          <a:ln w="38100">
            <a:solidFill>
              <a:srgbClr val="B08A4F"/>
            </a:solidFill>
            <a:prstDash val="solid"/>
          </a:ln>
        </p:spPr>
      </p:sp>
      <p:sp>
        <p:nvSpPr>
          <p:cNvPr id="13" name="Shape 8"/>
          <p:cNvSpPr/>
          <p:nvPr/>
        </p:nvSpPr>
        <p:spPr>
          <a:xfrm>
            <a:off x="621792" y="3950208"/>
            <a:ext cx="7543800" cy="1353312"/>
          </a:xfrm>
          <a:prstGeom prst="roundRect">
            <a:avLst>
              <a:gd name="adj" fmla="val 3041"/>
            </a:avLst>
          </a:prstGeom>
          <a:solidFill>
            <a:srgbClr val="102F20">
              <a:alpha val="84000"/>
            </a:srgbClr>
          </a:solidFill>
          <a:ln w="10160">
            <a:solidFill>
              <a:srgbClr val="DBE8D6">
                <a:alpha val="33000"/>
              </a:srgbClr>
            </a:solidFill>
            <a:prstDash val="solid"/>
          </a:ln>
        </p:spPr>
      </p:sp>
      <p:sp>
        <p:nvSpPr>
          <p:cNvPr id="14" name="Text 9"/>
          <p:cNvSpPr/>
          <p:nvPr/>
        </p:nvSpPr>
        <p:spPr>
          <a:xfrm>
            <a:off x="859536" y="4206240"/>
            <a:ext cx="1261872" cy="164592"/>
          </a:xfrm>
          <a:prstGeom prst="rect">
            <a:avLst/>
          </a:prstGeom>
          <a:noFill/>
          <a:ln/>
        </p:spPr>
        <p:txBody>
          <a:bodyPr wrap="square" lIns="0" tIns="0" rIns="0" bIns="0" rtlCol="0" anchor="ctr"/>
          <a:lstStyle/>
          <a:p>
            <a:pPr indent="0" marL="0">
              <a:buNone/>
            </a:pPr>
            <a:r>
              <a:rPr lang="en-US" sz="850" b="1" spc="80" kern="0" dirty="0">
                <a:solidFill>
                  <a:srgbClr val="C7D9C2"/>
                </a:solidFill>
              </a:rPr>
              <a:t>SUBMITTED AS</a:t>
            </a:r>
            <a:endParaRPr lang="en-US" sz="850" dirty="0"/>
          </a:p>
        </p:txBody>
      </p:sp>
      <p:sp>
        <p:nvSpPr>
          <p:cNvPr id="15" name="Text 10"/>
          <p:cNvSpPr/>
          <p:nvPr/>
        </p:nvSpPr>
        <p:spPr>
          <a:xfrm>
            <a:off x="859536" y="4453128"/>
            <a:ext cx="2011680" cy="502920"/>
          </a:xfrm>
          <a:prstGeom prst="rect">
            <a:avLst/>
          </a:prstGeom>
          <a:noFill/>
          <a:ln/>
        </p:spPr>
        <p:txBody>
          <a:bodyPr wrap="square" lIns="0" tIns="0" rIns="0" bIns="0" rtlCol="0" anchor="ctr">
            <a:normAutofit/>
          </a:bodyPr>
          <a:lstStyle/>
          <a:p>
            <a:pPr indent="0" marL="0">
              <a:buNone/>
            </a:pPr>
            <a:r>
              <a:rPr lang="en-US" sz="1150" b="1" dirty="0">
                <a:solidFill>
                  <a:srgbClr val="FFFFFF"/>
                </a:solidFill>
              </a:rPr>
              <a:t>Technical Report</a:t>
            </a:r>
            <a:endParaRPr lang="en-US" sz="1150" dirty="0"/>
          </a:p>
          <a:p>
            <a:pPr indent="0" marL="0">
              <a:buNone/>
            </a:pPr>
            <a:r>
              <a:rPr lang="en-US" sz="1150" b="1" dirty="0">
                <a:solidFill>
                  <a:srgbClr val="FFFFFF"/>
                </a:solidFill>
              </a:rPr>
              <a:t>SE801 Project Midterm Report</a:t>
            </a:r>
            <a:endParaRPr lang="en-US" sz="1150" dirty="0"/>
          </a:p>
        </p:txBody>
      </p:sp>
      <p:sp>
        <p:nvSpPr>
          <p:cNvPr id="16" name="Text 11"/>
          <p:cNvSpPr/>
          <p:nvPr/>
        </p:nvSpPr>
        <p:spPr>
          <a:xfrm>
            <a:off x="3081528" y="4206240"/>
            <a:ext cx="1234440" cy="164592"/>
          </a:xfrm>
          <a:prstGeom prst="rect">
            <a:avLst/>
          </a:prstGeom>
          <a:noFill/>
          <a:ln/>
        </p:spPr>
        <p:txBody>
          <a:bodyPr wrap="square" lIns="0" tIns="0" rIns="0" bIns="0" rtlCol="0" anchor="ctr"/>
          <a:lstStyle/>
          <a:p>
            <a:pPr indent="0" marL="0">
              <a:buNone/>
            </a:pPr>
            <a:r>
              <a:rPr lang="en-US" sz="850" b="1" spc="80" kern="0" dirty="0">
                <a:solidFill>
                  <a:srgbClr val="C7D9C2"/>
                </a:solidFill>
              </a:rPr>
              <a:t>SUBMITTED BY</a:t>
            </a:r>
            <a:endParaRPr lang="en-US" sz="850" dirty="0"/>
          </a:p>
        </p:txBody>
      </p:sp>
      <p:sp>
        <p:nvSpPr>
          <p:cNvPr id="17" name="Text 12"/>
          <p:cNvSpPr/>
          <p:nvPr/>
        </p:nvSpPr>
        <p:spPr>
          <a:xfrm>
            <a:off x="3081528" y="4453128"/>
            <a:ext cx="1554480" cy="502920"/>
          </a:xfrm>
          <a:prstGeom prst="rect">
            <a:avLst/>
          </a:prstGeom>
          <a:noFill/>
          <a:ln/>
        </p:spPr>
        <p:txBody>
          <a:bodyPr wrap="square" lIns="0" tIns="0" rIns="0" bIns="0" rtlCol="0" anchor="ctr"/>
          <a:lstStyle/>
          <a:p>
            <a:pPr indent="0" marL="0">
              <a:buNone/>
            </a:pPr>
            <a:r>
              <a:rPr lang="en-US" sz="1200" b="1" dirty="0">
                <a:solidFill>
                  <a:srgbClr val="FFFFFF"/>
                </a:solidFill>
              </a:rPr>
              <a:t>Kazi Nahid</a:t>
            </a:r>
            <a:endParaRPr lang="en-US" sz="1200" dirty="0"/>
          </a:p>
          <a:p>
            <a:pPr indent="0" marL="0">
              <a:buNone/>
            </a:pPr>
            <a:r>
              <a:rPr lang="en-US" sz="1200" b="1" dirty="0">
                <a:solidFill>
                  <a:srgbClr val="FFFFFF"/>
                </a:solidFill>
              </a:rPr>
              <a:t>BSSE Roll: 1437</a:t>
            </a:r>
            <a:endParaRPr lang="en-US" sz="1200" dirty="0"/>
          </a:p>
        </p:txBody>
      </p:sp>
      <p:sp>
        <p:nvSpPr>
          <p:cNvPr id="18" name="Text 13"/>
          <p:cNvSpPr/>
          <p:nvPr/>
        </p:nvSpPr>
        <p:spPr>
          <a:xfrm>
            <a:off x="4882896" y="4206240"/>
            <a:ext cx="1325880" cy="164592"/>
          </a:xfrm>
          <a:prstGeom prst="rect">
            <a:avLst/>
          </a:prstGeom>
          <a:noFill/>
          <a:ln/>
        </p:spPr>
        <p:txBody>
          <a:bodyPr wrap="square" lIns="0" tIns="0" rIns="0" bIns="0" rtlCol="0" anchor="ctr"/>
          <a:lstStyle/>
          <a:p>
            <a:pPr indent="0" marL="0">
              <a:buNone/>
            </a:pPr>
            <a:r>
              <a:rPr lang="en-US" sz="850" b="1" spc="80" kern="0" dirty="0">
                <a:solidFill>
                  <a:srgbClr val="C7D9C2"/>
                </a:solidFill>
              </a:rPr>
              <a:t>SUPERVISED BY</a:t>
            </a:r>
            <a:endParaRPr lang="en-US" sz="850" dirty="0"/>
          </a:p>
        </p:txBody>
      </p:sp>
      <p:sp>
        <p:nvSpPr>
          <p:cNvPr id="19" name="Text 14"/>
          <p:cNvSpPr/>
          <p:nvPr/>
        </p:nvSpPr>
        <p:spPr>
          <a:xfrm>
            <a:off x="4882896" y="4425696"/>
            <a:ext cx="3017520" cy="676656"/>
          </a:xfrm>
          <a:prstGeom prst="rect">
            <a:avLst/>
          </a:prstGeom>
          <a:noFill/>
          <a:ln/>
        </p:spPr>
        <p:txBody>
          <a:bodyPr wrap="square" lIns="0" tIns="0" rIns="0" bIns="0" rtlCol="0" anchor="ctr">
            <a:normAutofit/>
          </a:bodyPr>
          <a:lstStyle/>
          <a:p>
            <a:pPr indent="0" marL="0">
              <a:buNone/>
            </a:pPr>
            <a:r>
              <a:rPr lang="en-US" sz="1060" b="1" dirty="0">
                <a:solidFill>
                  <a:srgbClr val="FFFFFF"/>
                </a:solidFill>
              </a:rPr>
              <a:t>Dr. Emon Kumar Dey</a:t>
            </a:r>
            <a:endParaRPr lang="en-US" sz="1060" dirty="0"/>
          </a:p>
          <a:p>
            <a:pPr indent="0" marL="0">
              <a:buNone/>
            </a:pPr>
            <a:r>
              <a:rPr lang="en-US" sz="1060" b="1" dirty="0">
                <a:solidFill>
                  <a:srgbClr val="FFFFFF"/>
                </a:solidFill>
              </a:rPr>
              <a:t>Professor, Institute of Information Technology</a:t>
            </a:r>
            <a:endParaRPr lang="en-US" sz="1060" dirty="0"/>
          </a:p>
          <a:p>
            <a:pPr indent="0" marL="0">
              <a:buNone/>
            </a:pPr>
            <a:r>
              <a:rPr lang="en-US" sz="1060" b="1" dirty="0">
                <a:solidFill>
                  <a:srgbClr val="FFFFFF"/>
                </a:solidFill>
              </a:rPr>
              <a:t>University of Dhaka</a:t>
            </a:r>
            <a:endParaRPr lang="en-US" sz="1060" dirty="0"/>
          </a:p>
        </p:txBody>
      </p:sp>
      <p:sp>
        <p:nvSpPr>
          <p:cNvPr id="20" name="Text 15"/>
          <p:cNvSpPr/>
          <p:nvPr/>
        </p:nvSpPr>
        <p:spPr>
          <a:xfrm>
            <a:off x="658368" y="5806440"/>
            <a:ext cx="1627632" cy="164592"/>
          </a:xfrm>
          <a:prstGeom prst="rect">
            <a:avLst/>
          </a:prstGeom>
          <a:noFill/>
          <a:ln/>
        </p:spPr>
        <p:txBody>
          <a:bodyPr wrap="square" lIns="0" tIns="0" rIns="0" bIns="0" rtlCol="0" anchor="ctr"/>
          <a:lstStyle/>
          <a:p>
            <a:pPr indent="0" marL="0">
              <a:buNone/>
            </a:pPr>
            <a:r>
              <a:rPr lang="en-US" sz="850" b="1" spc="80" kern="0" dirty="0">
                <a:solidFill>
                  <a:srgbClr val="C7D9C2"/>
                </a:solidFill>
              </a:rPr>
              <a:t>DATE OF SUBMISSION</a:t>
            </a:r>
            <a:endParaRPr lang="en-US" sz="850" dirty="0"/>
          </a:p>
        </p:txBody>
      </p:sp>
      <p:sp>
        <p:nvSpPr>
          <p:cNvPr id="21" name="Text 16"/>
          <p:cNvSpPr/>
          <p:nvPr/>
        </p:nvSpPr>
        <p:spPr>
          <a:xfrm>
            <a:off x="2359152" y="5751576"/>
            <a:ext cx="1874520" cy="256032"/>
          </a:xfrm>
          <a:prstGeom prst="rect">
            <a:avLst/>
          </a:prstGeom>
          <a:noFill/>
          <a:ln/>
        </p:spPr>
        <p:txBody>
          <a:bodyPr wrap="square" lIns="0" tIns="0" rIns="0" bIns="0" rtlCol="0" anchor="ctr"/>
          <a:lstStyle/>
          <a:p>
            <a:pPr indent="0" marL="0">
              <a:buNone/>
            </a:pPr>
            <a:r>
              <a:rPr lang="en-US" sz="1350" b="1" dirty="0">
                <a:solidFill>
                  <a:srgbClr val="FFFFFF"/>
                </a:solidFill>
              </a:rPr>
              <a:t>2 August 2026</a:t>
            </a:r>
            <a:endParaRPr lang="en-US" sz="1350" dirty="0"/>
          </a:p>
        </p:txBody>
      </p:sp>
      <p:sp>
        <p:nvSpPr>
          <p:cNvPr id="22" name="Text 17"/>
          <p:cNvSpPr/>
          <p:nvPr/>
        </p:nvSpPr>
        <p:spPr>
          <a:xfrm>
            <a:off x="658368" y="6291072"/>
            <a:ext cx="7955280" cy="182880"/>
          </a:xfrm>
          <a:prstGeom prst="rect">
            <a:avLst/>
          </a:prstGeom>
          <a:noFill/>
          <a:ln/>
        </p:spPr>
        <p:txBody>
          <a:bodyPr wrap="square" lIns="0" tIns="0" rIns="0" bIns="0" rtlCol="0" anchor="ctr"/>
          <a:lstStyle/>
          <a:p>
            <a:pPr indent="0" marL="0">
              <a:buNone/>
            </a:pPr>
            <a:r>
              <a:rPr lang="en-US" sz="880" b="1" spc="75" kern="0" dirty="0">
                <a:solidFill>
                  <a:srgbClr val="D8C27B"/>
                </a:solidFill>
              </a:rPr>
              <a:t>AGRICULTURAL MRV  •  SATELLITE EVIDENCE  •  TRANSPARENT ACCOUNTING</a:t>
            </a:r>
            <a:endParaRPr lang="en-US" sz="8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nahid/Desktop/my_project/terra-audit/docs/presentation/assets/rice_fields_cover_v2.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63B27">
              <a:alpha val="73000"/>
            </a:srgbClr>
          </a:solidFill>
          <a:ln w="12700">
            <a:solidFill>
              <a:srgbClr val="163B27">
                <a:alpha val="0"/>
              </a:srgbClr>
            </a:solidFill>
            <a:prstDash val="solid"/>
          </a:ln>
        </p:spPr>
      </p:sp>
      <p:sp>
        <p:nvSpPr>
          <p:cNvPr id="4" name="Shape 1"/>
          <p:cNvSpPr/>
          <p:nvPr/>
        </p:nvSpPr>
        <p:spPr>
          <a:xfrm>
            <a:off x="0" y="0"/>
            <a:ext cx="12191695" cy="100584"/>
          </a:xfrm>
          <a:prstGeom prst="rect">
            <a:avLst/>
          </a:prstGeom>
          <a:solidFill>
            <a:srgbClr val="B08A4F"/>
          </a:solidFill>
          <a:ln w="12700">
            <a:solidFill>
              <a:srgbClr val="B08A4F"/>
            </a:solidFill>
            <a:prstDash val="solid"/>
          </a:ln>
        </p:spPr>
      </p:sp>
      <p:sp>
        <p:nvSpPr>
          <p:cNvPr id="5" name="Text 2"/>
          <p:cNvSpPr/>
          <p:nvPr/>
        </p:nvSpPr>
        <p:spPr>
          <a:xfrm>
            <a:off x="603504" y="384048"/>
            <a:ext cx="2926080" cy="201168"/>
          </a:xfrm>
          <a:prstGeom prst="rect">
            <a:avLst/>
          </a:prstGeom>
          <a:noFill/>
          <a:ln/>
        </p:spPr>
        <p:txBody>
          <a:bodyPr wrap="square" lIns="0" tIns="0" rIns="0" bIns="0" rtlCol="0" anchor="ctr"/>
          <a:lstStyle/>
          <a:p>
            <a:pPr indent="0" marL="0">
              <a:buNone/>
            </a:pPr>
            <a:r>
              <a:rPr lang="en-US" sz="1000" b="1" spc="140" kern="0" dirty="0">
                <a:solidFill>
                  <a:srgbClr val="D8C27B"/>
                </a:solidFill>
              </a:rPr>
              <a:t>PROJECT OVERVIEW</a:t>
            </a:r>
            <a:endParaRPr lang="en-US" sz="1000" dirty="0"/>
          </a:p>
        </p:txBody>
      </p:sp>
      <p:sp>
        <p:nvSpPr>
          <p:cNvPr id="6" name="Text 3"/>
          <p:cNvSpPr/>
          <p:nvPr/>
        </p:nvSpPr>
        <p:spPr>
          <a:xfrm>
            <a:off x="585216" y="676656"/>
            <a:ext cx="9875520" cy="502920"/>
          </a:xfrm>
          <a:prstGeom prst="rect">
            <a:avLst/>
          </a:prstGeom>
          <a:noFill/>
          <a:ln/>
        </p:spPr>
        <p:txBody>
          <a:bodyPr wrap="square" lIns="0" tIns="0" rIns="0" bIns="0" rtlCol="0" anchor="ctr">
            <a:normAutofit/>
          </a:bodyPr>
          <a:lstStyle/>
          <a:p>
            <a:pPr indent="0" marL="0">
              <a:buNone/>
            </a:pPr>
            <a:r>
              <a:rPr lang="en-US" sz="2800" b="1" dirty="0">
                <a:solidFill>
                  <a:srgbClr val="FFFFFF"/>
                </a:solidFill>
              </a:rPr>
              <a:t>Why agricultural carbon MRV is difficult</a:t>
            </a:r>
            <a:endParaRPr lang="en-US" sz="2800" dirty="0"/>
          </a:p>
        </p:txBody>
      </p:sp>
      <p:sp>
        <p:nvSpPr>
          <p:cNvPr id="7" name="Text 4"/>
          <p:cNvSpPr/>
          <p:nvPr/>
        </p:nvSpPr>
        <p:spPr>
          <a:xfrm>
            <a:off x="603504" y="1188720"/>
            <a:ext cx="9875520" cy="274320"/>
          </a:xfrm>
          <a:prstGeom prst="rect">
            <a:avLst/>
          </a:prstGeom>
          <a:noFill/>
          <a:ln/>
        </p:spPr>
        <p:txBody>
          <a:bodyPr wrap="square" lIns="0" tIns="0" rIns="0" bIns="0" rtlCol="0" anchor="ctr">
            <a:normAutofit/>
          </a:bodyPr>
          <a:lstStyle/>
          <a:p>
            <a:pPr indent="0" marL="0">
              <a:buNone/>
            </a:pPr>
            <a:r>
              <a:rPr lang="en-US" sz="1250" dirty="0">
                <a:solidFill>
                  <a:srgbClr val="E6EEE3"/>
                </a:solidFill>
              </a:rPr>
              <a:t>The obstacle is not data availability alone — it is trustworthy interpretation and evidence.</a:t>
            </a:r>
            <a:endParaRPr lang="en-US" sz="1250" dirty="0"/>
          </a:p>
        </p:txBody>
      </p:sp>
      <p:sp>
        <p:nvSpPr>
          <p:cNvPr id="8" name="Shape 5"/>
          <p:cNvSpPr/>
          <p:nvPr/>
        </p:nvSpPr>
        <p:spPr>
          <a:xfrm>
            <a:off x="603504" y="1828800"/>
            <a:ext cx="3456432" cy="1965960"/>
          </a:xfrm>
          <a:prstGeom prst="roundRect">
            <a:avLst>
              <a:gd name="adj" fmla="val 2093"/>
            </a:avLst>
          </a:prstGeom>
          <a:solidFill>
            <a:srgbClr val="F8FAF5">
              <a:alpha val="97000"/>
            </a:srgbClr>
          </a:solidFill>
          <a:ln w="8890">
            <a:solidFill>
              <a:srgbClr val="D9E5D5">
                <a:alpha val="80000"/>
              </a:srgbClr>
            </a:solidFill>
            <a:prstDash val="solid"/>
          </a:ln>
        </p:spPr>
      </p:sp>
      <p:sp>
        <p:nvSpPr>
          <p:cNvPr id="9" name="Text 6"/>
          <p:cNvSpPr/>
          <p:nvPr/>
        </p:nvSpPr>
        <p:spPr>
          <a:xfrm>
            <a:off x="850392" y="2084832"/>
            <a:ext cx="420624" cy="201168"/>
          </a:xfrm>
          <a:prstGeom prst="rect">
            <a:avLst/>
          </a:prstGeom>
          <a:noFill/>
          <a:ln/>
        </p:spPr>
        <p:txBody>
          <a:bodyPr wrap="square" lIns="0" tIns="0" rIns="0" bIns="0" rtlCol="0" anchor="ctr"/>
          <a:lstStyle/>
          <a:p>
            <a:pPr indent="0" marL="0">
              <a:buNone/>
            </a:pPr>
            <a:r>
              <a:rPr lang="en-US" sz="1050" b="1" dirty="0">
                <a:solidFill>
                  <a:srgbClr val="1F5630"/>
                </a:solidFill>
              </a:rPr>
              <a:t>01</a:t>
            </a:r>
            <a:endParaRPr lang="en-US" sz="1050" dirty="0"/>
          </a:p>
        </p:txBody>
      </p:sp>
      <p:sp>
        <p:nvSpPr>
          <p:cNvPr id="10" name="Text 7"/>
          <p:cNvSpPr/>
          <p:nvPr/>
        </p:nvSpPr>
        <p:spPr>
          <a:xfrm>
            <a:off x="850392" y="2459736"/>
            <a:ext cx="2926080" cy="438912"/>
          </a:xfrm>
          <a:prstGeom prst="rect">
            <a:avLst/>
          </a:prstGeom>
          <a:noFill/>
          <a:ln/>
        </p:spPr>
        <p:txBody>
          <a:bodyPr wrap="square" lIns="0" tIns="0" rIns="0" bIns="0" rtlCol="0" anchor="ctr">
            <a:normAutofit/>
          </a:bodyPr>
          <a:lstStyle/>
          <a:p>
            <a:pPr indent="0" marL="0">
              <a:buNone/>
            </a:pPr>
            <a:r>
              <a:rPr lang="en-US" sz="1600" b="1" dirty="0">
                <a:solidFill>
                  <a:srgbClr val="163B27"/>
                </a:solidFill>
              </a:rPr>
              <a:t>Unverifiable practice records</a:t>
            </a:r>
            <a:endParaRPr lang="en-US" sz="1600" dirty="0"/>
          </a:p>
        </p:txBody>
      </p:sp>
      <p:sp>
        <p:nvSpPr>
          <p:cNvPr id="11" name="Text 8"/>
          <p:cNvSpPr/>
          <p:nvPr/>
        </p:nvSpPr>
        <p:spPr>
          <a:xfrm>
            <a:off x="850392" y="2999232"/>
            <a:ext cx="2926080" cy="530352"/>
          </a:xfrm>
          <a:prstGeom prst="rect">
            <a:avLst/>
          </a:prstGeom>
          <a:noFill/>
          <a:ln/>
        </p:spPr>
        <p:txBody>
          <a:bodyPr wrap="square" lIns="0" tIns="0" rIns="0" bIns="0" rtlCol="0" anchor="ctr">
            <a:normAutofit/>
          </a:bodyPr>
          <a:lstStyle/>
          <a:p>
            <a:pPr indent="0" marL="0">
              <a:buNone/>
            </a:pPr>
            <a:r>
              <a:rPr lang="en-US" sz="1120" dirty="0">
                <a:solidFill>
                  <a:srgbClr val="5F6D63"/>
                </a:solidFill>
              </a:rPr>
              <a:t>Farmer logs are difficult for an auditor to verify consistently across many small plots.</a:t>
            </a:r>
            <a:endParaRPr lang="en-US" sz="1120" dirty="0"/>
          </a:p>
        </p:txBody>
      </p:sp>
      <p:sp>
        <p:nvSpPr>
          <p:cNvPr id="12" name="Shape 9"/>
          <p:cNvSpPr/>
          <p:nvPr/>
        </p:nvSpPr>
        <p:spPr>
          <a:xfrm>
            <a:off x="4425696" y="1828800"/>
            <a:ext cx="3456432" cy="1965960"/>
          </a:xfrm>
          <a:prstGeom prst="roundRect">
            <a:avLst>
              <a:gd name="adj" fmla="val 2093"/>
            </a:avLst>
          </a:prstGeom>
          <a:solidFill>
            <a:srgbClr val="F8FAF5">
              <a:alpha val="97000"/>
            </a:srgbClr>
          </a:solidFill>
          <a:ln w="8890">
            <a:solidFill>
              <a:srgbClr val="D9E5D5">
                <a:alpha val="80000"/>
              </a:srgbClr>
            </a:solidFill>
            <a:prstDash val="solid"/>
          </a:ln>
        </p:spPr>
      </p:sp>
      <p:sp>
        <p:nvSpPr>
          <p:cNvPr id="13" name="Text 10"/>
          <p:cNvSpPr/>
          <p:nvPr/>
        </p:nvSpPr>
        <p:spPr>
          <a:xfrm>
            <a:off x="4672584" y="2084832"/>
            <a:ext cx="420624" cy="201168"/>
          </a:xfrm>
          <a:prstGeom prst="rect">
            <a:avLst/>
          </a:prstGeom>
          <a:noFill/>
          <a:ln/>
        </p:spPr>
        <p:txBody>
          <a:bodyPr wrap="square" lIns="0" tIns="0" rIns="0" bIns="0" rtlCol="0" anchor="ctr"/>
          <a:lstStyle/>
          <a:p>
            <a:pPr indent="0" marL="0">
              <a:buNone/>
            </a:pPr>
            <a:r>
              <a:rPr lang="en-US" sz="1050" b="1" dirty="0">
                <a:solidFill>
                  <a:srgbClr val="1F5630"/>
                </a:solidFill>
              </a:rPr>
              <a:t>02</a:t>
            </a:r>
            <a:endParaRPr lang="en-US" sz="1050" dirty="0"/>
          </a:p>
        </p:txBody>
      </p:sp>
      <p:sp>
        <p:nvSpPr>
          <p:cNvPr id="14" name="Text 11"/>
          <p:cNvSpPr/>
          <p:nvPr/>
        </p:nvSpPr>
        <p:spPr>
          <a:xfrm>
            <a:off x="4672584" y="2459736"/>
            <a:ext cx="2926080" cy="438912"/>
          </a:xfrm>
          <a:prstGeom prst="rect">
            <a:avLst/>
          </a:prstGeom>
          <a:noFill/>
          <a:ln/>
        </p:spPr>
        <p:txBody>
          <a:bodyPr wrap="square" lIns="0" tIns="0" rIns="0" bIns="0" rtlCol="0" anchor="ctr">
            <a:normAutofit/>
          </a:bodyPr>
          <a:lstStyle/>
          <a:p>
            <a:pPr indent="0" marL="0">
              <a:buNone/>
            </a:pPr>
            <a:r>
              <a:rPr lang="en-US" sz="1600" b="1" dirty="0">
                <a:solidFill>
                  <a:srgbClr val="163B27"/>
                </a:solidFill>
              </a:rPr>
              <a:t>Expensive field hardware</a:t>
            </a:r>
            <a:endParaRPr lang="en-US" sz="1600" dirty="0"/>
          </a:p>
        </p:txBody>
      </p:sp>
      <p:sp>
        <p:nvSpPr>
          <p:cNvPr id="15" name="Text 12"/>
          <p:cNvSpPr/>
          <p:nvPr/>
        </p:nvSpPr>
        <p:spPr>
          <a:xfrm>
            <a:off x="4672584" y="2999232"/>
            <a:ext cx="2926080" cy="530352"/>
          </a:xfrm>
          <a:prstGeom prst="rect">
            <a:avLst/>
          </a:prstGeom>
          <a:noFill/>
          <a:ln/>
        </p:spPr>
        <p:txBody>
          <a:bodyPr wrap="square" lIns="0" tIns="0" rIns="0" bIns="0" rtlCol="0" anchor="ctr">
            <a:normAutofit/>
          </a:bodyPr>
          <a:lstStyle/>
          <a:p>
            <a:pPr indent="0" marL="0">
              <a:buNone/>
            </a:pPr>
            <a:r>
              <a:rPr lang="en-US" sz="1120" dirty="0">
                <a:solidFill>
                  <a:srgbClr val="5F6D63"/>
                </a:solidFill>
              </a:rPr>
              <a:t>Water-level sensors and repeated field visits are costly to deploy and maintain at scale.</a:t>
            </a:r>
            <a:endParaRPr lang="en-US" sz="1120" dirty="0"/>
          </a:p>
        </p:txBody>
      </p:sp>
      <p:sp>
        <p:nvSpPr>
          <p:cNvPr id="16" name="Shape 13"/>
          <p:cNvSpPr/>
          <p:nvPr/>
        </p:nvSpPr>
        <p:spPr>
          <a:xfrm>
            <a:off x="8247888" y="1828800"/>
            <a:ext cx="3456432" cy="1965960"/>
          </a:xfrm>
          <a:prstGeom prst="roundRect">
            <a:avLst>
              <a:gd name="adj" fmla="val 2093"/>
            </a:avLst>
          </a:prstGeom>
          <a:solidFill>
            <a:srgbClr val="F8FAF5">
              <a:alpha val="97000"/>
            </a:srgbClr>
          </a:solidFill>
          <a:ln w="8890">
            <a:solidFill>
              <a:srgbClr val="D9E5D5">
                <a:alpha val="80000"/>
              </a:srgbClr>
            </a:solidFill>
            <a:prstDash val="solid"/>
          </a:ln>
        </p:spPr>
      </p:sp>
      <p:sp>
        <p:nvSpPr>
          <p:cNvPr id="17" name="Text 14"/>
          <p:cNvSpPr/>
          <p:nvPr/>
        </p:nvSpPr>
        <p:spPr>
          <a:xfrm>
            <a:off x="8494776" y="2084832"/>
            <a:ext cx="420624" cy="201168"/>
          </a:xfrm>
          <a:prstGeom prst="rect">
            <a:avLst/>
          </a:prstGeom>
          <a:noFill/>
          <a:ln/>
        </p:spPr>
        <p:txBody>
          <a:bodyPr wrap="square" lIns="0" tIns="0" rIns="0" bIns="0" rtlCol="0" anchor="ctr"/>
          <a:lstStyle/>
          <a:p>
            <a:pPr indent="0" marL="0">
              <a:buNone/>
            </a:pPr>
            <a:r>
              <a:rPr lang="en-US" sz="1050" b="1" dirty="0">
                <a:solidFill>
                  <a:srgbClr val="1F5630"/>
                </a:solidFill>
              </a:rPr>
              <a:t>03</a:t>
            </a:r>
            <a:endParaRPr lang="en-US" sz="1050" dirty="0"/>
          </a:p>
        </p:txBody>
      </p:sp>
      <p:sp>
        <p:nvSpPr>
          <p:cNvPr id="18" name="Text 15"/>
          <p:cNvSpPr/>
          <p:nvPr/>
        </p:nvSpPr>
        <p:spPr>
          <a:xfrm>
            <a:off x="8494776" y="2459736"/>
            <a:ext cx="2926080" cy="438912"/>
          </a:xfrm>
          <a:prstGeom prst="rect">
            <a:avLst/>
          </a:prstGeom>
          <a:noFill/>
          <a:ln/>
        </p:spPr>
        <p:txBody>
          <a:bodyPr wrap="square" lIns="0" tIns="0" rIns="0" bIns="0" rtlCol="0" anchor="ctr">
            <a:normAutofit/>
          </a:bodyPr>
          <a:lstStyle/>
          <a:p>
            <a:pPr indent="0" marL="0">
              <a:buNone/>
            </a:pPr>
            <a:r>
              <a:rPr lang="en-US" sz="1600" b="1" dirty="0">
                <a:solidFill>
                  <a:srgbClr val="163B27"/>
                </a:solidFill>
              </a:rPr>
              <a:t>Opaque calculations</a:t>
            </a:r>
            <a:endParaRPr lang="en-US" sz="1600" dirty="0"/>
          </a:p>
        </p:txBody>
      </p:sp>
      <p:sp>
        <p:nvSpPr>
          <p:cNvPr id="19" name="Text 16"/>
          <p:cNvSpPr/>
          <p:nvPr/>
        </p:nvSpPr>
        <p:spPr>
          <a:xfrm>
            <a:off x="8494776" y="2999232"/>
            <a:ext cx="2926080" cy="530352"/>
          </a:xfrm>
          <a:prstGeom prst="rect">
            <a:avLst/>
          </a:prstGeom>
          <a:noFill/>
          <a:ln/>
        </p:spPr>
        <p:txBody>
          <a:bodyPr wrap="square" lIns="0" tIns="0" rIns="0" bIns="0" rtlCol="0" anchor="ctr">
            <a:normAutofit/>
          </a:bodyPr>
          <a:lstStyle/>
          <a:p>
            <a:pPr indent="0" marL="0">
              <a:buNone/>
            </a:pPr>
            <a:r>
              <a:rPr lang="en-US" sz="1120" dirty="0">
                <a:solidFill>
                  <a:srgbClr val="5F6D63"/>
                </a:solidFill>
              </a:rPr>
              <a:t>Disconnected spreadsheets hide assumptions, intermediate values, and methodology constraints.</a:t>
            </a:r>
            <a:endParaRPr lang="en-US" sz="1120" dirty="0"/>
          </a:p>
        </p:txBody>
      </p:sp>
      <p:sp>
        <p:nvSpPr>
          <p:cNvPr id="20" name="Shape 17"/>
          <p:cNvSpPr/>
          <p:nvPr/>
        </p:nvSpPr>
        <p:spPr>
          <a:xfrm>
            <a:off x="603504" y="4224528"/>
            <a:ext cx="10972800" cy="1115568"/>
          </a:xfrm>
          <a:prstGeom prst="roundRect">
            <a:avLst>
              <a:gd name="adj" fmla="val 3689"/>
            </a:avLst>
          </a:prstGeom>
          <a:solidFill>
            <a:srgbClr val="102F20">
              <a:alpha val="87000"/>
            </a:srgbClr>
          </a:solidFill>
          <a:ln w="8890">
            <a:solidFill>
              <a:srgbClr val="D9E5D5">
                <a:alpha val="40000"/>
              </a:srgbClr>
            </a:solidFill>
            <a:prstDash val="solid"/>
          </a:ln>
        </p:spPr>
      </p:sp>
      <p:sp>
        <p:nvSpPr>
          <p:cNvPr id="21" name="Text 18"/>
          <p:cNvSpPr/>
          <p:nvPr/>
        </p:nvSpPr>
        <p:spPr>
          <a:xfrm>
            <a:off x="896112" y="4480560"/>
            <a:ext cx="1965960" cy="182880"/>
          </a:xfrm>
          <a:prstGeom prst="rect">
            <a:avLst/>
          </a:prstGeom>
          <a:noFill/>
          <a:ln/>
        </p:spPr>
        <p:txBody>
          <a:bodyPr wrap="square" lIns="0" tIns="0" rIns="0" bIns="0" rtlCol="0" anchor="ctr"/>
          <a:lstStyle/>
          <a:p>
            <a:pPr indent="0" marL="0">
              <a:buNone/>
            </a:pPr>
            <a:r>
              <a:rPr lang="en-US" sz="950" b="1" spc="100" kern="0" dirty="0">
                <a:solidFill>
                  <a:srgbClr val="D8C27B"/>
                </a:solidFill>
              </a:rPr>
              <a:t>TERRA-AUDIT RESPONSE</a:t>
            </a:r>
            <a:endParaRPr lang="en-US" sz="950" dirty="0"/>
          </a:p>
        </p:txBody>
      </p:sp>
      <p:sp>
        <p:nvSpPr>
          <p:cNvPr id="22" name="Text 19"/>
          <p:cNvSpPr/>
          <p:nvPr/>
        </p:nvSpPr>
        <p:spPr>
          <a:xfrm>
            <a:off x="896112" y="4754880"/>
            <a:ext cx="9966960" cy="310896"/>
          </a:xfrm>
          <a:prstGeom prst="rect">
            <a:avLst/>
          </a:prstGeom>
          <a:noFill/>
          <a:ln/>
        </p:spPr>
        <p:txBody>
          <a:bodyPr wrap="square" lIns="0" tIns="0" rIns="0" bIns="0" rtlCol="0" anchor="ctr">
            <a:normAutofit/>
          </a:bodyPr>
          <a:lstStyle/>
          <a:p>
            <a:pPr indent="0" marL="0">
              <a:buNone/>
            </a:pPr>
            <a:r>
              <a:rPr lang="en-US" sz="1850" b="1" dirty="0">
                <a:solidFill>
                  <a:srgbClr val="FFFFFF"/>
                </a:solidFill>
              </a:rPr>
              <a:t>Connect field evidence → methodology logic → auditor-ready outputs in one traceable workflow.</a:t>
            </a:r>
            <a:endParaRPr lang="en-US" sz="1850" dirty="0"/>
          </a:p>
        </p:txBody>
      </p:sp>
      <p:sp>
        <p:nvSpPr>
          <p:cNvPr id="23" name="Text 20"/>
          <p:cNvSpPr/>
          <p:nvPr/>
        </p:nvSpPr>
        <p:spPr>
          <a:xfrm>
            <a:off x="621792" y="5806440"/>
            <a:ext cx="10927080" cy="274320"/>
          </a:xfrm>
          <a:prstGeom prst="rect">
            <a:avLst/>
          </a:prstGeom>
          <a:noFill/>
          <a:ln/>
        </p:spPr>
        <p:txBody>
          <a:bodyPr wrap="square" lIns="0" tIns="0" rIns="0" bIns="0" rtlCol="0" anchor="ctr"/>
          <a:lstStyle/>
          <a:p>
            <a:pPr algn="ctr" indent="0" marL="0">
              <a:buNone/>
            </a:pPr>
            <a:r>
              <a:rPr lang="en-US" sz="1200" b="1" dirty="0">
                <a:solidFill>
                  <a:srgbClr val="F0F4EC"/>
                </a:solidFill>
              </a:rPr>
              <a:t>Output is an auditable estimate — not an issued Verra credit.</a:t>
            </a:r>
            <a:endParaRPr lang="en-US" sz="1200" dirty="0"/>
          </a:p>
        </p:txBody>
      </p:sp>
      <p:sp>
        <p:nvSpPr>
          <p:cNvPr id="24" name="Text 21"/>
          <p:cNvSpPr/>
          <p:nvPr/>
        </p:nvSpPr>
        <p:spPr>
          <a:xfrm>
            <a:off x="603504" y="6528816"/>
            <a:ext cx="4114800" cy="146304"/>
          </a:xfrm>
          <a:prstGeom prst="rect">
            <a:avLst/>
          </a:prstGeom>
          <a:noFill/>
          <a:ln/>
        </p:spPr>
        <p:txBody>
          <a:bodyPr wrap="square" lIns="0" tIns="0" rIns="0" bIns="0" rtlCol="0" anchor="ctr"/>
          <a:lstStyle/>
          <a:p>
            <a:pPr indent="0" marL="0">
              <a:buNone/>
            </a:pPr>
            <a:r>
              <a:rPr lang="en-US" sz="850" spc="70" kern="0" dirty="0">
                <a:solidFill>
                  <a:srgbClr val="D5E0D1"/>
                </a:solidFill>
              </a:rPr>
              <a:t>TERRA-AUDIT  •  SE801 MIDTERM</a:t>
            </a:r>
            <a:endParaRPr lang="en-US" sz="850" dirty="0"/>
          </a:p>
        </p:txBody>
      </p:sp>
      <p:sp>
        <p:nvSpPr>
          <p:cNvPr id="25" name="Text 22"/>
          <p:cNvSpPr/>
          <p:nvPr/>
        </p:nvSpPr>
        <p:spPr>
          <a:xfrm>
            <a:off x="11631168" y="6528816"/>
            <a:ext cx="228600" cy="146304"/>
          </a:xfrm>
          <a:prstGeom prst="rect">
            <a:avLst/>
          </a:prstGeom>
          <a:noFill/>
          <a:ln/>
        </p:spPr>
        <p:txBody>
          <a:bodyPr wrap="square" lIns="0" tIns="0" rIns="0" bIns="0" rtlCol="0" anchor="ctr"/>
          <a:lstStyle/>
          <a:p>
            <a:pPr algn="r" indent="0" marL="0">
              <a:buNone/>
            </a:pPr>
            <a:r>
              <a:rPr lang="en-US" sz="900" dirty="0">
                <a:solidFill>
                  <a:srgbClr val="D8C27B"/>
                </a:solidFill>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PROJECT OVERVIEW</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One platform, two agricultural methodology paths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Shared field registry, persistence, evidence exports and portfolio; methodology-specific inputs remain separate.</a:t>
            </a:r>
            <a:endParaRPr lang="en-US" sz="1250" dirty="0"/>
          </a:p>
        </p:txBody>
      </p:sp>
      <p:sp>
        <p:nvSpPr>
          <p:cNvPr id="5" name="Shape 3"/>
          <p:cNvSpPr/>
          <p:nvPr/>
        </p:nvSpPr>
        <p:spPr>
          <a:xfrm>
            <a:off x="621792" y="1517904"/>
            <a:ext cx="5276088" cy="4480560"/>
          </a:xfrm>
          <a:prstGeom prst="roundRect">
            <a:avLst>
              <a:gd name="adj" fmla="val 1224"/>
            </a:avLst>
          </a:prstGeom>
          <a:solidFill>
            <a:srgbClr val="F1F7EE"/>
          </a:solidFill>
          <a:ln w="12700">
            <a:solidFill>
              <a:srgbClr val="2F6B3B">
                <a:alpha val="55000"/>
              </a:srgbClr>
            </a:solidFill>
            <a:prstDash val="solid"/>
          </a:ln>
        </p:spPr>
      </p:sp>
      <p:sp>
        <p:nvSpPr>
          <p:cNvPr id="6" name="Text 4"/>
          <p:cNvSpPr/>
          <p:nvPr/>
        </p:nvSpPr>
        <p:spPr>
          <a:xfrm>
            <a:off x="914400" y="1828800"/>
            <a:ext cx="4297680" cy="201168"/>
          </a:xfrm>
          <a:prstGeom prst="rect">
            <a:avLst/>
          </a:prstGeom>
          <a:noFill/>
          <a:ln/>
        </p:spPr>
        <p:txBody>
          <a:bodyPr wrap="square" lIns="0" tIns="0" rIns="0" bIns="0" rtlCol="0" anchor="ctr"/>
          <a:lstStyle/>
          <a:p>
            <a:pPr indent="0" marL="0">
              <a:buNone/>
            </a:pPr>
            <a:r>
              <a:rPr lang="en-US" sz="1100" b="1" spc="70" kern="0" dirty="0">
                <a:solidFill>
                  <a:srgbClr val="2F6B3B"/>
                </a:solidFill>
              </a:rPr>
              <a:t>RICE AWD • VM0051</a:t>
            </a:r>
            <a:endParaRPr lang="en-US" sz="1100" dirty="0"/>
          </a:p>
        </p:txBody>
      </p:sp>
      <p:sp>
        <p:nvSpPr>
          <p:cNvPr id="7" name="Text 5"/>
          <p:cNvSpPr/>
          <p:nvPr/>
        </p:nvSpPr>
        <p:spPr>
          <a:xfrm>
            <a:off x="914400" y="2167128"/>
            <a:ext cx="4480560" cy="365760"/>
          </a:xfrm>
          <a:prstGeom prst="rect">
            <a:avLst/>
          </a:prstGeom>
          <a:noFill/>
          <a:ln/>
        </p:spPr>
        <p:txBody>
          <a:bodyPr wrap="square" lIns="0" tIns="0" rIns="0" bIns="0" rtlCol="0" anchor="ctr">
            <a:normAutofit/>
          </a:bodyPr>
          <a:lstStyle/>
          <a:p>
            <a:pPr indent="0" marL="0">
              <a:buNone/>
            </a:pPr>
            <a:r>
              <a:rPr lang="en-US" sz="2200" b="1" dirty="0">
                <a:solidFill>
                  <a:srgbClr val="163B27"/>
                </a:solidFill>
              </a:rPr>
              <a:t>Satellite evidence path</a:t>
            </a:r>
            <a:endParaRPr lang="en-US" sz="2200" dirty="0"/>
          </a:p>
        </p:txBody>
      </p:sp>
      <p:sp>
        <p:nvSpPr>
          <p:cNvPr id="8" name="Shape 6"/>
          <p:cNvSpPr/>
          <p:nvPr/>
        </p:nvSpPr>
        <p:spPr>
          <a:xfrm>
            <a:off x="950976" y="2825496"/>
            <a:ext cx="118872" cy="118872"/>
          </a:xfrm>
          <a:prstGeom prst="ellipse">
            <a:avLst/>
          </a:prstGeom>
          <a:solidFill>
            <a:srgbClr val="2F6B3B"/>
          </a:solidFill>
          <a:ln w="12700">
            <a:solidFill>
              <a:srgbClr val="2F6B3B"/>
            </a:solidFill>
            <a:prstDash val="solid"/>
          </a:ln>
        </p:spPr>
      </p:sp>
      <p:sp>
        <p:nvSpPr>
          <p:cNvPr id="9" name="Text 7"/>
          <p:cNvSpPr/>
          <p:nvPr/>
        </p:nvSpPr>
        <p:spPr>
          <a:xfrm>
            <a:off x="1170432" y="2743200"/>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Boundary and monitoring window</a:t>
            </a:r>
            <a:endParaRPr lang="en-US" sz="1300" dirty="0"/>
          </a:p>
        </p:txBody>
      </p:sp>
      <p:sp>
        <p:nvSpPr>
          <p:cNvPr id="10" name="Shape 8"/>
          <p:cNvSpPr/>
          <p:nvPr/>
        </p:nvSpPr>
        <p:spPr>
          <a:xfrm>
            <a:off x="950976" y="3346704"/>
            <a:ext cx="118872" cy="118872"/>
          </a:xfrm>
          <a:prstGeom prst="ellipse">
            <a:avLst/>
          </a:prstGeom>
          <a:solidFill>
            <a:srgbClr val="2F6B3B"/>
          </a:solidFill>
          <a:ln w="12700">
            <a:solidFill>
              <a:srgbClr val="2F6B3B"/>
            </a:solidFill>
            <a:prstDash val="solid"/>
          </a:ln>
        </p:spPr>
      </p:sp>
      <p:sp>
        <p:nvSpPr>
          <p:cNvPr id="11" name="Text 9"/>
          <p:cNvSpPr/>
          <p:nvPr/>
        </p:nvSpPr>
        <p:spPr>
          <a:xfrm>
            <a:off x="1170432" y="3264408"/>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Sentinel-1 VV/VH observations</a:t>
            </a:r>
            <a:endParaRPr lang="en-US" sz="1300" dirty="0"/>
          </a:p>
        </p:txBody>
      </p:sp>
      <p:sp>
        <p:nvSpPr>
          <p:cNvPr id="12" name="Shape 10"/>
          <p:cNvSpPr/>
          <p:nvPr/>
        </p:nvSpPr>
        <p:spPr>
          <a:xfrm>
            <a:off x="950976" y="3867912"/>
            <a:ext cx="118872" cy="118872"/>
          </a:xfrm>
          <a:prstGeom prst="ellipse">
            <a:avLst/>
          </a:prstGeom>
          <a:solidFill>
            <a:srgbClr val="2F6B3B"/>
          </a:solidFill>
          <a:ln w="12700">
            <a:solidFill>
              <a:srgbClr val="2F6B3B"/>
            </a:solidFill>
            <a:prstDash val="solid"/>
          </a:ln>
        </p:spPr>
      </p:sp>
      <p:sp>
        <p:nvSpPr>
          <p:cNvPr id="13" name="Text 11"/>
          <p:cNvSpPr/>
          <p:nvPr/>
        </p:nvSpPr>
        <p:spPr>
          <a:xfrm>
            <a:off x="1170432" y="3785616"/>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Flooded-state and drydown gate</a:t>
            </a:r>
            <a:endParaRPr lang="en-US" sz="1300" dirty="0"/>
          </a:p>
        </p:txBody>
      </p:sp>
      <p:sp>
        <p:nvSpPr>
          <p:cNvPr id="14" name="Shape 12"/>
          <p:cNvSpPr/>
          <p:nvPr/>
        </p:nvSpPr>
        <p:spPr>
          <a:xfrm>
            <a:off x="950976" y="4389120"/>
            <a:ext cx="118872" cy="118872"/>
          </a:xfrm>
          <a:prstGeom prst="ellipse">
            <a:avLst/>
          </a:prstGeom>
          <a:solidFill>
            <a:srgbClr val="2F6B3B"/>
          </a:solidFill>
          <a:ln w="12700">
            <a:solidFill>
              <a:srgbClr val="2F6B3B"/>
            </a:solidFill>
            <a:prstDash val="solid"/>
          </a:ln>
        </p:spPr>
      </p:sp>
      <p:sp>
        <p:nvSpPr>
          <p:cNvPr id="15" name="Text 13"/>
          <p:cNvSpPr/>
          <p:nvPr/>
        </p:nvSpPr>
        <p:spPr>
          <a:xfrm>
            <a:off x="1170432" y="4306824"/>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VM0051 QA3 / Tier 1 defaults</a:t>
            </a:r>
            <a:endParaRPr lang="en-US" sz="1300" dirty="0"/>
          </a:p>
        </p:txBody>
      </p:sp>
      <p:sp>
        <p:nvSpPr>
          <p:cNvPr id="16" name="Shape 14"/>
          <p:cNvSpPr/>
          <p:nvPr/>
        </p:nvSpPr>
        <p:spPr>
          <a:xfrm>
            <a:off x="950976" y="4910328"/>
            <a:ext cx="118872" cy="118872"/>
          </a:xfrm>
          <a:prstGeom prst="ellipse">
            <a:avLst/>
          </a:prstGeom>
          <a:solidFill>
            <a:srgbClr val="2F6B3B"/>
          </a:solidFill>
          <a:ln w="12700">
            <a:solidFill>
              <a:srgbClr val="2F6B3B"/>
            </a:solidFill>
            <a:prstDash val="solid"/>
          </a:ln>
        </p:spPr>
      </p:sp>
      <p:sp>
        <p:nvSpPr>
          <p:cNvPr id="17" name="Text 15"/>
          <p:cNvSpPr/>
          <p:nvPr/>
        </p:nvSpPr>
        <p:spPr>
          <a:xfrm>
            <a:off x="1170432" y="4828032"/>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PDF • JSON • time-series CSV</a:t>
            </a:r>
            <a:endParaRPr lang="en-US" sz="1300" dirty="0"/>
          </a:p>
        </p:txBody>
      </p:sp>
      <p:sp>
        <p:nvSpPr>
          <p:cNvPr id="18" name="Shape 16"/>
          <p:cNvSpPr/>
          <p:nvPr/>
        </p:nvSpPr>
        <p:spPr>
          <a:xfrm>
            <a:off x="6291072" y="1517904"/>
            <a:ext cx="5276088" cy="4480560"/>
          </a:xfrm>
          <a:prstGeom prst="roundRect">
            <a:avLst>
              <a:gd name="adj" fmla="val 1224"/>
            </a:avLst>
          </a:prstGeom>
          <a:solidFill>
            <a:srgbClr val="F7F5EA"/>
          </a:solidFill>
          <a:ln w="12700">
            <a:solidFill>
              <a:srgbClr val="6F7D43">
                <a:alpha val="55000"/>
              </a:srgbClr>
            </a:solidFill>
            <a:prstDash val="solid"/>
          </a:ln>
        </p:spPr>
      </p:sp>
      <p:sp>
        <p:nvSpPr>
          <p:cNvPr id="19" name="Text 17"/>
          <p:cNvSpPr/>
          <p:nvPr/>
        </p:nvSpPr>
        <p:spPr>
          <a:xfrm>
            <a:off x="6583680" y="1828800"/>
            <a:ext cx="4297680" cy="201168"/>
          </a:xfrm>
          <a:prstGeom prst="rect">
            <a:avLst/>
          </a:prstGeom>
          <a:noFill/>
          <a:ln/>
        </p:spPr>
        <p:txBody>
          <a:bodyPr wrap="square" lIns="0" tIns="0" rIns="0" bIns="0" rtlCol="0" anchor="ctr"/>
          <a:lstStyle/>
          <a:p>
            <a:pPr indent="0" marL="0">
              <a:buNone/>
            </a:pPr>
            <a:r>
              <a:rPr lang="en-US" sz="1100" b="1" spc="70" kern="0" dirty="0">
                <a:solidFill>
                  <a:srgbClr val="6F7D43"/>
                </a:solidFill>
              </a:rPr>
              <a:t>CROPLAND ALM • VM0042</a:t>
            </a:r>
            <a:endParaRPr lang="en-US" sz="1100" dirty="0"/>
          </a:p>
        </p:txBody>
      </p:sp>
      <p:sp>
        <p:nvSpPr>
          <p:cNvPr id="20" name="Text 18"/>
          <p:cNvSpPr/>
          <p:nvPr/>
        </p:nvSpPr>
        <p:spPr>
          <a:xfrm>
            <a:off x="6583680" y="2167128"/>
            <a:ext cx="4480560" cy="365760"/>
          </a:xfrm>
          <a:prstGeom prst="rect">
            <a:avLst/>
          </a:prstGeom>
          <a:noFill/>
          <a:ln/>
        </p:spPr>
        <p:txBody>
          <a:bodyPr wrap="square" lIns="0" tIns="0" rIns="0" bIns="0" rtlCol="0" anchor="ctr">
            <a:normAutofit/>
          </a:bodyPr>
          <a:lstStyle/>
          <a:p>
            <a:pPr indent="0" marL="0">
              <a:buNone/>
            </a:pPr>
            <a:r>
              <a:rPr lang="en-US" sz="2200" b="1" dirty="0">
                <a:solidFill>
                  <a:srgbClr val="163B27"/>
                </a:solidFill>
              </a:rPr>
              <a:t>Practice and soil path</a:t>
            </a:r>
            <a:endParaRPr lang="en-US" sz="2200" dirty="0"/>
          </a:p>
        </p:txBody>
      </p:sp>
      <p:sp>
        <p:nvSpPr>
          <p:cNvPr id="21" name="Shape 19"/>
          <p:cNvSpPr/>
          <p:nvPr/>
        </p:nvSpPr>
        <p:spPr>
          <a:xfrm>
            <a:off x="6620256" y="2825496"/>
            <a:ext cx="118872" cy="118872"/>
          </a:xfrm>
          <a:prstGeom prst="ellipse">
            <a:avLst/>
          </a:prstGeom>
          <a:solidFill>
            <a:srgbClr val="6F7D43"/>
          </a:solidFill>
          <a:ln w="12700">
            <a:solidFill>
              <a:srgbClr val="6F7D43"/>
            </a:solidFill>
            <a:prstDash val="solid"/>
          </a:ln>
        </p:spPr>
      </p:sp>
      <p:sp>
        <p:nvSpPr>
          <p:cNvPr id="22" name="Text 20"/>
          <p:cNvSpPr/>
          <p:nvPr/>
        </p:nvSpPr>
        <p:spPr>
          <a:xfrm>
            <a:off x="6839712" y="2743200"/>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Baseline and project schedules</a:t>
            </a:r>
            <a:endParaRPr lang="en-US" sz="1300" dirty="0"/>
          </a:p>
        </p:txBody>
      </p:sp>
      <p:sp>
        <p:nvSpPr>
          <p:cNvPr id="23" name="Shape 21"/>
          <p:cNvSpPr/>
          <p:nvPr/>
        </p:nvSpPr>
        <p:spPr>
          <a:xfrm>
            <a:off x="6620256" y="3346704"/>
            <a:ext cx="118872" cy="118872"/>
          </a:xfrm>
          <a:prstGeom prst="ellipse">
            <a:avLst/>
          </a:prstGeom>
          <a:solidFill>
            <a:srgbClr val="6F7D43"/>
          </a:solidFill>
          <a:ln w="12700">
            <a:solidFill>
              <a:srgbClr val="6F7D43"/>
            </a:solidFill>
            <a:prstDash val="solid"/>
          </a:ln>
        </p:spPr>
      </p:sp>
      <p:sp>
        <p:nvSpPr>
          <p:cNvPr id="24" name="Text 22"/>
          <p:cNvSpPr/>
          <p:nvPr/>
        </p:nvSpPr>
        <p:spPr>
          <a:xfrm>
            <a:off x="6839712" y="3264408"/>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Lab-measured SOC samples</a:t>
            </a:r>
            <a:endParaRPr lang="en-US" sz="1300" dirty="0"/>
          </a:p>
        </p:txBody>
      </p:sp>
      <p:sp>
        <p:nvSpPr>
          <p:cNvPr id="25" name="Shape 23"/>
          <p:cNvSpPr/>
          <p:nvPr/>
        </p:nvSpPr>
        <p:spPr>
          <a:xfrm>
            <a:off x="6620256" y="3867912"/>
            <a:ext cx="118872" cy="118872"/>
          </a:xfrm>
          <a:prstGeom prst="ellipse">
            <a:avLst/>
          </a:prstGeom>
          <a:solidFill>
            <a:srgbClr val="6F7D43"/>
          </a:solidFill>
          <a:ln w="12700">
            <a:solidFill>
              <a:srgbClr val="6F7D43"/>
            </a:solidFill>
            <a:prstDash val="solid"/>
          </a:ln>
        </p:spPr>
      </p:sp>
      <p:sp>
        <p:nvSpPr>
          <p:cNvPr id="26" name="Text 24"/>
          <p:cNvSpPr/>
          <p:nvPr/>
        </p:nvSpPr>
        <p:spPr>
          <a:xfrm>
            <a:off x="6839712" y="3785616"/>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Yield, fuel and livestock inputs</a:t>
            </a:r>
            <a:endParaRPr lang="en-US" sz="1300" dirty="0"/>
          </a:p>
        </p:txBody>
      </p:sp>
      <p:sp>
        <p:nvSpPr>
          <p:cNvPr id="27" name="Shape 25"/>
          <p:cNvSpPr/>
          <p:nvPr/>
        </p:nvSpPr>
        <p:spPr>
          <a:xfrm>
            <a:off x="6620256" y="4389120"/>
            <a:ext cx="118872" cy="118872"/>
          </a:xfrm>
          <a:prstGeom prst="ellipse">
            <a:avLst/>
          </a:prstGeom>
          <a:solidFill>
            <a:srgbClr val="6F7D43"/>
          </a:solidFill>
          <a:ln w="12700">
            <a:solidFill>
              <a:srgbClr val="6F7D43"/>
            </a:solidFill>
            <a:prstDash val="solid"/>
          </a:ln>
        </p:spPr>
      </p:sp>
      <p:sp>
        <p:nvSpPr>
          <p:cNvPr id="28" name="Text 26"/>
          <p:cNvSpPr/>
          <p:nvPr/>
        </p:nvSpPr>
        <p:spPr>
          <a:xfrm>
            <a:off x="6839712" y="4306824"/>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Scoped VM0042 quantification</a:t>
            </a:r>
            <a:endParaRPr lang="en-US" sz="1300" dirty="0"/>
          </a:p>
        </p:txBody>
      </p:sp>
      <p:sp>
        <p:nvSpPr>
          <p:cNvPr id="29" name="Shape 27"/>
          <p:cNvSpPr/>
          <p:nvPr/>
        </p:nvSpPr>
        <p:spPr>
          <a:xfrm>
            <a:off x="6620256" y="4910328"/>
            <a:ext cx="118872" cy="118872"/>
          </a:xfrm>
          <a:prstGeom prst="ellipse">
            <a:avLst/>
          </a:prstGeom>
          <a:solidFill>
            <a:srgbClr val="6F7D43"/>
          </a:solidFill>
          <a:ln w="12700">
            <a:solidFill>
              <a:srgbClr val="6F7D43"/>
            </a:solidFill>
            <a:prstDash val="solid"/>
          </a:ln>
        </p:spPr>
      </p:sp>
      <p:sp>
        <p:nvSpPr>
          <p:cNvPr id="30" name="Text 28"/>
          <p:cNvSpPr/>
          <p:nvPr/>
        </p:nvSpPr>
        <p:spPr>
          <a:xfrm>
            <a:off x="6839712" y="4828032"/>
            <a:ext cx="4306824" cy="493776"/>
          </a:xfrm>
          <a:prstGeom prst="rect">
            <a:avLst/>
          </a:prstGeom>
          <a:noFill/>
          <a:ln/>
        </p:spPr>
        <p:txBody>
          <a:bodyPr wrap="square" lIns="0" tIns="0" rIns="0" bIns="0" rtlCol="0" anchor="ctr">
            <a:normAutofit/>
          </a:bodyPr>
          <a:lstStyle/>
          <a:p>
            <a:pPr indent="0" marL="0">
              <a:buNone/>
            </a:pPr>
            <a:r>
              <a:rPr lang="en-US" sz="1300" dirty="0">
                <a:solidFill>
                  <a:srgbClr val="24332A"/>
                </a:solidFill>
              </a:rPr>
              <a:t>PDF • JSON • practice/SOC CSV</a:t>
            </a:r>
            <a:endParaRPr lang="en-US" sz="1300" dirty="0"/>
          </a:p>
        </p:txBody>
      </p:sp>
      <p:sp>
        <p:nvSpPr>
          <p:cNvPr id="31" name="Shape 29"/>
          <p:cNvSpPr/>
          <p:nvPr/>
        </p:nvSpPr>
        <p:spPr>
          <a:xfrm>
            <a:off x="3081528" y="6144768"/>
            <a:ext cx="6035040" cy="320040"/>
          </a:xfrm>
          <a:prstGeom prst="roundRect">
            <a:avLst>
              <a:gd name="adj" fmla="val 17143"/>
            </a:avLst>
          </a:prstGeom>
          <a:solidFill>
            <a:srgbClr val="E2EEDF"/>
          </a:solidFill>
          <a:ln w="12700">
            <a:solidFill>
              <a:srgbClr val="2F6B3B"/>
            </a:solidFill>
            <a:prstDash val="solid"/>
          </a:ln>
        </p:spPr>
      </p:sp>
      <p:sp>
        <p:nvSpPr>
          <p:cNvPr id="32" name="Text 30"/>
          <p:cNvSpPr/>
          <p:nvPr/>
        </p:nvSpPr>
        <p:spPr>
          <a:xfrm>
            <a:off x="3246120" y="6263640"/>
            <a:ext cx="5705856" cy="91440"/>
          </a:xfrm>
          <a:prstGeom prst="rect">
            <a:avLst/>
          </a:prstGeom>
          <a:noFill/>
          <a:ln/>
        </p:spPr>
        <p:txBody>
          <a:bodyPr wrap="square" lIns="0" tIns="0" rIns="0" bIns="0" rtlCol="0" anchor="ctr">
            <a:normAutofit/>
          </a:bodyPr>
          <a:lstStyle/>
          <a:p>
            <a:pPr indent="0" marL="0">
              <a:buNone/>
            </a:pPr>
            <a:r>
              <a:rPr lang="en-US" sz="1150" b="1" dirty="0">
                <a:solidFill>
                  <a:srgbClr val="24332A"/>
                </a:solidFill>
              </a:rPr>
              <a:t>Architecture rule: share infrastructure — never silently share methodology assumptions.</a:t>
            </a:r>
            <a:endParaRPr lang="en-US" sz="11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REQUIREMENTS</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Eighteen functional requirements — grouped for the defense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FR1–FR18 are organized into six capability groups for readability.</a:t>
            </a:r>
            <a:endParaRPr lang="en-US" sz="1250" dirty="0"/>
          </a:p>
        </p:txBody>
      </p:sp>
      <p:sp>
        <p:nvSpPr>
          <p:cNvPr id="5" name="Shape 3"/>
          <p:cNvSpPr/>
          <p:nvPr/>
        </p:nvSpPr>
        <p:spPr>
          <a:xfrm>
            <a:off x="621792" y="1417320"/>
            <a:ext cx="5321808" cy="1234440"/>
          </a:xfrm>
          <a:prstGeom prst="roundRect">
            <a:avLst>
              <a:gd name="adj" fmla="val 3704"/>
            </a:avLst>
          </a:prstGeom>
          <a:solidFill>
            <a:srgbClr val="FFFFFF"/>
          </a:solidFill>
          <a:ln w="12700">
            <a:solidFill>
              <a:srgbClr val="D6DED4"/>
            </a:solidFill>
            <a:prstDash val="solid"/>
          </a:ln>
        </p:spPr>
      </p:sp>
      <p:sp>
        <p:nvSpPr>
          <p:cNvPr id="6" name="Shape 4"/>
          <p:cNvSpPr/>
          <p:nvPr/>
        </p:nvSpPr>
        <p:spPr>
          <a:xfrm>
            <a:off x="621792" y="1417320"/>
            <a:ext cx="82296" cy="1234440"/>
          </a:xfrm>
          <a:prstGeom prst="rect">
            <a:avLst/>
          </a:prstGeom>
          <a:solidFill>
            <a:srgbClr val="2F6B3B"/>
          </a:solidFill>
          <a:ln w="12700">
            <a:solidFill>
              <a:srgbClr val="2F6B3B"/>
            </a:solidFill>
            <a:prstDash val="solid"/>
          </a:ln>
        </p:spPr>
      </p:sp>
      <p:sp>
        <p:nvSpPr>
          <p:cNvPr id="7" name="Text 5"/>
          <p:cNvSpPr/>
          <p:nvPr/>
        </p:nvSpPr>
        <p:spPr>
          <a:xfrm>
            <a:off x="877824" y="1600200"/>
            <a:ext cx="1143000" cy="182880"/>
          </a:xfrm>
          <a:prstGeom prst="rect">
            <a:avLst/>
          </a:prstGeom>
          <a:noFill/>
          <a:ln/>
        </p:spPr>
        <p:txBody>
          <a:bodyPr wrap="square" lIns="0" tIns="0" rIns="0" bIns="0" rtlCol="0" anchor="ctr"/>
          <a:lstStyle/>
          <a:p>
            <a:pPr indent="0" marL="0">
              <a:buNone/>
            </a:pPr>
            <a:r>
              <a:rPr lang="en-US" sz="1000" b="1" dirty="0">
                <a:solidFill>
                  <a:srgbClr val="2F6B3B"/>
                </a:solidFill>
              </a:rPr>
              <a:t>FR1–2, 12, 17</a:t>
            </a:r>
            <a:endParaRPr lang="en-US" sz="1000" dirty="0"/>
          </a:p>
        </p:txBody>
      </p:sp>
      <p:sp>
        <p:nvSpPr>
          <p:cNvPr id="8" name="Text 6"/>
          <p:cNvSpPr/>
          <p:nvPr/>
        </p:nvSpPr>
        <p:spPr>
          <a:xfrm>
            <a:off x="2011680" y="1600200"/>
            <a:ext cx="3383280" cy="182880"/>
          </a:xfrm>
          <a:prstGeom prst="rect">
            <a:avLst/>
          </a:prstGeom>
          <a:noFill/>
          <a:ln/>
        </p:spPr>
        <p:txBody>
          <a:bodyPr wrap="square" lIns="0" tIns="0" rIns="0" bIns="0" rtlCol="0" anchor="ctr"/>
          <a:lstStyle/>
          <a:p>
            <a:pPr indent="0" marL="0">
              <a:buNone/>
            </a:pPr>
            <a:r>
              <a:rPr lang="en-US" sz="1100" b="1" spc="60" kern="0" dirty="0">
                <a:solidFill>
                  <a:srgbClr val="163B27"/>
                </a:solidFill>
              </a:rPr>
              <a:t>FIELD &amp; ROUTING</a:t>
            </a:r>
            <a:endParaRPr lang="en-US" sz="1100" dirty="0"/>
          </a:p>
        </p:txBody>
      </p:sp>
      <p:sp>
        <p:nvSpPr>
          <p:cNvPr id="9" name="Text 7"/>
          <p:cNvSpPr/>
          <p:nvPr/>
        </p:nvSpPr>
        <p:spPr>
          <a:xfrm>
            <a:off x="877824" y="1975104"/>
            <a:ext cx="4736592" cy="429768"/>
          </a:xfrm>
          <a:prstGeom prst="rect">
            <a:avLst/>
          </a:prstGeom>
          <a:noFill/>
          <a:ln/>
        </p:spPr>
        <p:txBody>
          <a:bodyPr wrap="square" lIns="0" tIns="0" rIns="0" bIns="0" rtlCol="0" anchor="ctr">
            <a:normAutofit/>
          </a:bodyPr>
          <a:lstStyle/>
          <a:p>
            <a:pPr indent="0" marL="0">
              <a:buNone/>
            </a:pPr>
            <a:r>
              <a:rPr lang="en-US" sz="1120" dirty="0">
                <a:solidFill>
                  <a:srgbClr val="5F6D63"/>
                </a:solidFill>
              </a:rPr>
              <a:t>Register geometry • choose methodology • select/delete • edit field metadata</a:t>
            </a:r>
            <a:endParaRPr lang="en-US" sz="1120" dirty="0"/>
          </a:p>
        </p:txBody>
      </p:sp>
      <p:sp>
        <p:nvSpPr>
          <p:cNvPr id="10" name="Shape 8"/>
          <p:cNvSpPr/>
          <p:nvPr/>
        </p:nvSpPr>
        <p:spPr>
          <a:xfrm>
            <a:off x="6245352" y="1417320"/>
            <a:ext cx="5321808" cy="1234440"/>
          </a:xfrm>
          <a:prstGeom prst="roundRect">
            <a:avLst>
              <a:gd name="adj" fmla="val 3704"/>
            </a:avLst>
          </a:prstGeom>
          <a:solidFill>
            <a:srgbClr val="FFFFFF"/>
          </a:solidFill>
          <a:ln w="12700">
            <a:solidFill>
              <a:srgbClr val="D6DED4"/>
            </a:solidFill>
            <a:prstDash val="solid"/>
          </a:ln>
        </p:spPr>
      </p:sp>
      <p:sp>
        <p:nvSpPr>
          <p:cNvPr id="11" name="Shape 9"/>
          <p:cNvSpPr/>
          <p:nvPr/>
        </p:nvSpPr>
        <p:spPr>
          <a:xfrm>
            <a:off x="6245352" y="1417320"/>
            <a:ext cx="82296" cy="1234440"/>
          </a:xfrm>
          <a:prstGeom prst="rect">
            <a:avLst/>
          </a:prstGeom>
          <a:solidFill>
            <a:srgbClr val="527A68"/>
          </a:solidFill>
          <a:ln w="12700">
            <a:solidFill>
              <a:srgbClr val="527A68"/>
            </a:solidFill>
            <a:prstDash val="solid"/>
          </a:ln>
        </p:spPr>
      </p:sp>
      <p:sp>
        <p:nvSpPr>
          <p:cNvPr id="12" name="Text 10"/>
          <p:cNvSpPr/>
          <p:nvPr/>
        </p:nvSpPr>
        <p:spPr>
          <a:xfrm>
            <a:off x="6501384" y="1600200"/>
            <a:ext cx="1143000" cy="182880"/>
          </a:xfrm>
          <a:prstGeom prst="rect">
            <a:avLst/>
          </a:prstGeom>
          <a:noFill/>
          <a:ln/>
        </p:spPr>
        <p:txBody>
          <a:bodyPr wrap="square" lIns="0" tIns="0" rIns="0" bIns="0" rtlCol="0" anchor="ctr"/>
          <a:lstStyle/>
          <a:p>
            <a:pPr indent="0" marL="0">
              <a:buNone/>
            </a:pPr>
            <a:r>
              <a:rPr lang="en-US" sz="1000" b="1" dirty="0">
                <a:solidFill>
                  <a:srgbClr val="527A68"/>
                </a:solidFill>
              </a:rPr>
              <a:t>FR3–5</a:t>
            </a:r>
            <a:endParaRPr lang="en-US" sz="1000" dirty="0"/>
          </a:p>
        </p:txBody>
      </p:sp>
      <p:sp>
        <p:nvSpPr>
          <p:cNvPr id="13" name="Text 11"/>
          <p:cNvSpPr/>
          <p:nvPr/>
        </p:nvSpPr>
        <p:spPr>
          <a:xfrm>
            <a:off x="7635240" y="1600200"/>
            <a:ext cx="3383280" cy="182880"/>
          </a:xfrm>
          <a:prstGeom prst="rect">
            <a:avLst/>
          </a:prstGeom>
          <a:noFill/>
          <a:ln/>
        </p:spPr>
        <p:txBody>
          <a:bodyPr wrap="square" lIns="0" tIns="0" rIns="0" bIns="0" rtlCol="0" anchor="ctr"/>
          <a:lstStyle/>
          <a:p>
            <a:pPr indent="0" marL="0">
              <a:buNone/>
            </a:pPr>
            <a:r>
              <a:rPr lang="en-US" sz="1100" b="1" spc="60" kern="0" dirty="0">
                <a:solidFill>
                  <a:srgbClr val="163B27"/>
                </a:solidFill>
              </a:rPr>
              <a:t>RICE EVIDENCE</a:t>
            </a:r>
            <a:endParaRPr lang="en-US" sz="1100" dirty="0"/>
          </a:p>
        </p:txBody>
      </p:sp>
      <p:sp>
        <p:nvSpPr>
          <p:cNvPr id="14" name="Text 12"/>
          <p:cNvSpPr/>
          <p:nvPr/>
        </p:nvSpPr>
        <p:spPr>
          <a:xfrm>
            <a:off x="6501384" y="1975104"/>
            <a:ext cx="4736592" cy="429768"/>
          </a:xfrm>
          <a:prstGeom prst="rect">
            <a:avLst/>
          </a:prstGeom>
          <a:noFill/>
          <a:ln/>
        </p:spPr>
        <p:txBody>
          <a:bodyPr wrap="square" lIns="0" tIns="0" rIns="0" bIns="0" rtlCol="0" anchor="ctr">
            <a:normAutofit/>
          </a:bodyPr>
          <a:lstStyle/>
          <a:p>
            <a:pPr indent="0" marL="0">
              <a:buNone/>
            </a:pPr>
            <a:r>
              <a:rPr lang="en-US" sz="1120" dirty="0">
                <a:solidFill>
                  <a:srgbClr val="5F6D63"/>
                </a:solidFill>
              </a:rPr>
              <a:t>Retrieve/cache Sentinel-1 • smooth and detect AWD • infer season dates</a:t>
            </a:r>
            <a:endParaRPr lang="en-US" sz="1120" dirty="0"/>
          </a:p>
        </p:txBody>
      </p:sp>
      <p:sp>
        <p:nvSpPr>
          <p:cNvPr id="15" name="Shape 13"/>
          <p:cNvSpPr/>
          <p:nvPr/>
        </p:nvSpPr>
        <p:spPr>
          <a:xfrm>
            <a:off x="621792" y="2916936"/>
            <a:ext cx="5321808" cy="1234440"/>
          </a:xfrm>
          <a:prstGeom prst="roundRect">
            <a:avLst>
              <a:gd name="adj" fmla="val 3704"/>
            </a:avLst>
          </a:prstGeom>
          <a:solidFill>
            <a:srgbClr val="FFFFFF"/>
          </a:solidFill>
          <a:ln w="12700">
            <a:solidFill>
              <a:srgbClr val="D6DED4"/>
            </a:solidFill>
            <a:prstDash val="solid"/>
          </a:ln>
        </p:spPr>
      </p:sp>
      <p:sp>
        <p:nvSpPr>
          <p:cNvPr id="16" name="Shape 14"/>
          <p:cNvSpPr/>
          <p:nvPr/>
        </p:nvSpPr>
        <p:spPr>
          <a:xfrm>
            <a:off x="621792" y="2916936"/>
            <a:ext cx="82296" cy="1234440"/>
          </a:xfrm>
          <a:prstGeom prst="rect">
            <a:avLst/>
          </a:prstGeom>
          <a:solidFill>
            <a:srgbClr val="6F7D43"/>
          </a:solidFill>
          <a:ln w="12700">
            <a:solidFill>
              <a:srgbClr val="6F7D43"/>
            </a:solidFill>
            <a:prstDash val="solid"/>
          </a:ln>
        </p:spPr>
      </p:sp>
      <p:sp>
        <p:nvSpPr>
          <p:cNvPr id="17" name="Text 15"/>
          <p:cNvSpPr/>
          <p:nvPr/>
        </p:nvSpPr>
        <p:spPr>
          <a:xfrm>
            <a:off x="877824" y="3099816"/>
            <a:ext cx="1143000" cy="182880"/>
          </a:xfrm>
          <a:prstGeom prst="rect">
            <a:avLst/>
          </a:prstGeom>
          <a:noFill/>
          <a:ln/>
        </p:spPr>
        <p:txBody>
          <a:bodyPr wrap="square" lIns="0" tIns="0" rIns="0" bIns="0" rtlCol="0" anchor="ctr"/>
          <a:lstStyle/>
          <a:p>
            <a:pPr indent="0" marL="0">
              <a:buNone/>
            </a:pPr>
            <a:r>
              <a:rPr lang="en-US" sz="1000" b="1" dirty="0">
                <a:solidFill>
                  <a:srgbClr val="6F7D43"/>
                </a:solidFill>
              </a:rPr>
              <a:t>FR6, 13–14</a:t>
            </a:r>
            <a:endParaRPr lang="en-US" sz="1000" dirty="0"/>
          </a:p>
        </p:txBody>
      </p:sp>
      <p:sp>
        <p:nvSpPr>
          <p:cNvPr id="18" name="Text 16"/>
          <p:cNvSpPr/>
          <p:nvPr/>
        </p:nvSpPr>
        <p:spPr>
          <a:xfrm>
            <a:off x="2011680" y="3099816"/>
            <a:ext cx="3383280" cy="182880"/>
          </a:xfrm>
          <a:prstGeom prst="rect">
            <a:avLst/>
          </a:prstGeom>
          <a:noFill/>
          <a:ln/>
        </p:spPr>
        <p:txBody>
          <a:bodyPr wrap="square" lIns="0" tIns="0" rIns="0" bIns="0" rtlCol="0" anchor="ctr"/>
          <a:lstStyle/>
          <a:p>
            <a:pPr indent="0" marL="0">
              <a:buNone/>
            </a:pPr>
            <a:r>
              <a:rPr lang="en-US" sz="1100" b="1" spc="60" kern="0" dirty="0">
                <a:solidFill>
                  <a:srgbClr val="163B27"/>
                </a:solidFill>
              </a:rPr>
              <a:t>ALM EVIDENCE</a:t>
            </a:r>
            <a:endParaRPr lang="en-US" sz="1100" dirty="0"/>
          </a:p>
        </p:txBody>
      </p:sp>
      <p:sp>
        <p:nvSpPr>
          <p:cNvPr id="19" name="Text 17"/>
          <p:cNvSpPr/>
          <p:nvPr/>
        </p:nvSpPr>
        <p:spPr>
          <a:xfrm>
            <a:off x="877824" y="3474720"/>
            <a:ext cx="4736592" cy="429768"/>
          </a:xfrm>
          <a:prstGeom prst="rect">
            <a:avLst/>
          </a:prstGeom>
          <a:noFill/>
          <a:ln/>
        </p:spPr>
        <p:txBody>
          <a:bodyPr wrap="square" lIns="0" tIns="0" rIns="0" bIns="0" rtlCol="0" anchor="ctr">
            <a:normAutofit/>
          </a:bodyPr>
          <a:lstStyle/>
          <a:p>
            <a:pPr indent="0" marL="0">
              <a:buNone/>
            </a:pPr>
            <a:r>
              <a:rPr lang="en-US" sz="1120" dirty="0">
                <a:solidFill>
                  <a:srgbClr val="5F6D63"/>
                </a:solidFill>
              </a:rPr>
              <a:t>Practice/SOC schedules • livestock inputs • production-decline leakage screen</a:t>
            </a:r>
            <a:endParaRPr lang="en-US" sz="1120" dirty="0"/>
          </a:p>
        </p:txBody>
      </p:sp>
      <p:sp>
        <p:nvSpPr>
          <p:cNvPr id="20" name="Shape 18"/>
          <p:cNvSpPr/>
          <p:nvPr/>
        </p:nvSpPr>
        <p:spPr>
          <a:xfrm>
            <a:off x="6245352" y="2916936"/>
            <a:ext cx="5321808" cy="1234440"/>
          </a:xfrm>
          <a:prstGeom prst="roundRect">
            <a:avLst>
              <a:gd name="adj" fmla="val 3704"/>
            </a:avLst>
          </a:prstGeom>
          <a:solidFill>
            <a:srgbClr val="FFFFFF"/>
          </a:solidFill>
          <a:ln w="12700">
            <a:solidFill>
              <a:srgbClr val="D6DED4"/>
            </a:solidFill>
            <a:prstDash val="solid"/>
          </a:ln>
        </p:spPr>
      </p:sp>
      <p:sp>
        <p:nvSpPr>
          <p:cNvPr id="21" name="Shape 19"/>
          <p:cNvSpPr/>
          <p:nvPr/>
        </p:nvSpPr>
        <p:spPr>
          <a:xfrm>
            <a:off x="6245352" y="2916936"/>
            <a:ext cx="82296" cy="1234440"/>
          </a:xfrm>
          <a:prstGeom prst="rect">
            <a:avLst/>
          </a:prstGeom>
          <a:solidFill>
            <a:srgbClr val="B08A4F"/>
          </a:solidFill>
          <a:ln w="12700">
            <a:solidFill>
              <a:srgbClr val="B08A4F"/>
            </a:solidFill>
            <a:prstDash val="solid"/>
          </a:ln>
        </p:spPr>
      </p:sp>
      <p:sp>
        <p:nvSpPr>
          <p:cNvPr id="22" name="Text 20"/>
          <p:cNvSpPr/>
          <p:nvPr/>
        </p:nvSpPr>
        <p:spPr>
          <a:xfrm>
            <a:off x="6501384" y="3099816"/>
            <a:ext cx="1143000" cy="182880"/>
          </a:xfrm>
          <a:prstGeom prst="rect">
            <a:avLst/>
          </a:prstGeom>
          <a:noFill/>
          <a:ln/>
        </p:spPr>
        <p:txBody>
          <a:bodyPr wrap="square" lIns="0" tIns="0" rIns="0" bIns="0" rtlCol="0" anchor="ctr"/>
          <a:lstStyle/>
          <a:p>
            <a:pPr indent="0" marL="0">
              <a:buNone/>
            </a:pPr>
            <a:r>
              <a:rPr lang="en-US" sz="1000" b="1" dirty="0">
                <a:solidFill>
                  <a:srgbClr val="B08A4F"/>
                </a:solidFill>
              </a:rPr>
              <a:t>FR7–8</a:t>
            </a:r>
            <a:endParaRPr lang="en-US" sz="1000" dirty="0"/>
          </a:p>
        </p:txBody>
      </p:sp>
      <p:sp>
        <p:nvSpPr>
          <p:cNvPr id="23" name="Text 21"/>
          <p:cNvSpPr/>
          <p:nvPr/>
        </p:nvSpPr>
        <p:spPr>
          <a:xfrm>
            <a:off x="7635240" y="3099816"/>
            <a:ext cx="3383280" cy="182880"/>
          </a:xfrm>
          <a:prstGeom prst="rect">
            <a:avLst/>
          </a:prstGeom>
          <a:noFill/>
          <a:ln/>
        </p:spPr>
        <p:txBody>
          <a:bodyPr wrap="square" lIns="0" tIns="0" rIns="0" bIns="0" rtlCol="0" anchor="ctr"/>
          <a:lstStyle/>
          <a:p>
            <a:pPr indent="0" marL="0">
              <a:buNone/>
            </a:pPr>
            <a:r>
              <a:rPr lang="en-US" sz="1100" b="1" spc="60" kern="0" dirty="0">
                <a:solidFill>
                  <a:srgbClr val="163B27"/>
                </a:solidFill>
              </a:rPr>
              <a:t>ACCOUNTING</a:t>
            </a:r>
            <a:endParaRPr lang="en-US" sz="1100" dirty="0"/>
          </a:p>
        </p:txBody>
      </p:sp>
      <p:sp>
        <p:nvSpPr>
          <p:cNvPr id="24" name="Text 22"/>
          <p:cNvSpPr/>
          <p:nvPr/>
        </p:nvSpPr>
        <p:spPr>
          <a:xfrm>
            <a:off x="6501384" y="3474720"/>
            <a:ext cx="4736592" cy="429768"/>
          </a:xfrm>
          <a:prstGeom prst="rect">
            <a:avLst/>
          </a:prstGeom>
          <a:noFill/>
          <a:ln/>
        </p:spPr>
        <p:txBody>
          <a:bodyPr wrap="square" lIns="0" tIns="0" rIns="0" bIns="0" rtlCol="0" anchor="ctr">
            <a:normAutofit/>
          </a:bodyPr>
          <a:lstStyle/>
          <a:p>
            <a:pPr indent="0" marL="0">
              <a:buNone/>
            </a:pPr>
            <a:r>
              <a:rPr lang="en-US" sz="1120" dirty="0">
                <a:solidFill>
                  <a:srgbClr val="5F6D63"/>
                </a:solidFill>
              </a:rPr>
              <a:t>VM0051 QA3 calculation • scoped VM0042 calculation and deductions</a:t>
            </a:r>
            <a:endParaRPr lang="en-US" sz="1120" dirty="0"/>
          </a:p>
        </p:txBody>
      </p:sp>
      <p:sp>
        <p:nvSpPr>
          <p:cNvPr id="25" name="Shape 23"/>
          <p:cNvSpPr/>
          <p:nvPr/>
        </p:nvSpPr>
        <p:spPr>
          <a:xfrm>
            <a:off x="621792" y="4416552"/>
            <a:ext cx="5321808" cy="1234440"/>
          </a:xfrm>
          <a:prstGeom prst="roundRect">
            <a:avLst>
              <a:gd name="adj" fmla="val 3704"/>
            </a:avLst>
          </a:prstGeom>
          <a:solidFill>
            <a:srgbClr val="FFFFFF"/>
          </a:solidFill>
          <a:ln w="12700">
            <a:solidFill>
              <a:srgbClr val="D6DED4"/>
            </a:solidFill>
            <a:prstDash val="solid"/>
          </a:ln>
        </p:spPr>
      </p:sp>
      <p:sp>
        <p:nvSpPr>
          <p:cNvPr id="26" name="Shape 24"/>
          <p:cNvSpPr/>
          <p:nvPr/>
        </p:nvSpPr>
        <p:spPr>
          <a:xfrm>
            <a:off x="621792" y="4416552"/>
            <a:ext cx="82296" cy="1234440"/>
          </a:xfrm>
          <a:prstGeom prst="rect">
            <a:avLst/>
          </a:prstGeom>
          <a:solidFill>
            <a:srgbClr val="527A68"/>
          </a:solidFill>
          <a:ln w="12700">
            <a:solidFill>
              <a:srgbClr val="527A68"/>
            </a:solidFill>
            <a:prstDash val="solid"/>
          </a:ln>
        </p:spPr>
      </p:sp>
      <p:sp>
        <p:nvSpPr>
          <p:cNvPr id="27" name="Text 25"/>
          <p:cNvSpPr/>
          <p:nvPr/>
        </p:nvSpPr>
        <p:spPr>
          <a:xfrm>
            <a:off x="877824" y="4599432"/>
            <a:ext cx="1143000" cy="182880"/>
          </a:xfrm>
          <a:prstGeom prst="rect">
            <a:avLst/>
          </a:prstGeom>
          <a:noFill/>
          <a:ln/>
        </p:spPr>
        <p:txBody>
          <a:bodyPr wrap="square" lIns="0" tIns="0" rIns="0" bIns="0" rtlCol="0" anchor="ctr"/>
          <a:lstStyle/>
          <a:p>
            <a:pPr indent="0" marL="0">
              <a:buNone/>
            </a:pPr>
            <a:r>
              <a:rPr lang="en-US" sz="1000" b="1" dirty="0">
                <a:solidFill>
                  <a:srgbClr val="527A68"/>
                </a:solidFill>
              </a:rPr>
              <a:t>FR9–10</a:t>
            </a:r>
            <a:endParaRPr lang="en-US" sz="1000" dirty="0"/>
          </a:p>
        </p:txBody>
      </p:sp>
      <p:sp>
        <p:nvSpPr>
          <p:cNvPr id="28" name="Text 26"/>
          <p:cNvSpPr/>
          <p:nvPr/>
        </p:nvSpPr>
        <p:spPr>
          <a:xfrm>
            <a:off x="2011680" y="4599432"/>
            <a:ext cx="3383280" cy="182880"/>
          </a:xfrm>
          <a:prstGeom prst="rect">
            <a:avLst/>
          </a:prstGeom>
          <a:noFill/>
          <a:ln/>
        </p:spPr>
        <p:txBody>
          <a:bodyPr wrap="square" lIns="0" tIns="0" rIns="0" bIns="0" rtlCol="0" anchor="ctr"/>
          <a:lstStyle/>
          <a:p>
            <a:pPr indent="0" marL="0">
              <a:buNone/>
            </a:pPr>
            <a:r>
              <a:rPr lang="en-US" sz="1100" b="1" spc="60" kern="0" dirty="0">
                <a:solidFill>
                  <a:srgbClr val="163B27"/>
                </a:solidFill>
              </a:rPr>
              <a:t>AI ASSISTANCE</a:t>
            </a:r>
            <a:endParaRPr lang="en-US" sz="1100" dirty="0"/>
          </a:p>
        </p:txBody>
      </p:sp>
      <p:sp>
        <p:nvSpPr>
          <p:cNvPr id="29" name="Text 27"/>
          <p:cNvSpPr/>
          <p:nvPr/>
        </p:nvSpPr>
        <p:spPr>
          <a:xfrm>
            <a:off x="877824" y="4974336"/>
            <a:ext cx="4736592" cy="429768"/>
          </a:xfrm>
          <a:prstGeom prst="rect">
            <a:avLst/>
          </a:prstGeom>
          <a:noFill/>
          <a:ln/>
        </p:spPr>
        <p:txBody>
          <a:bodyPr wrap="square" lIns="0" tIns="0" rIns="0" bIns="0" rtlCol="0" anchor="ctr">
            <a:normAutofit/>
          </a:bodyPr>
          <a:lstStyle/>
          <a:p>
            <a:pPr indent="0" marL="0">
              <a:buNone/>
            </a:pPr>
            <a:r>
              <a:rPr lang="en-US" sz="1120" dirty="0">
                <a:solidFill>
                  <a:srgbClr val="5F6D63"/>
                </a:solidFill>
              </a:rPr>
              <a:t>Optional RF/XGBoost detector • validation dashboard and fallback</a:t>
            </a:r>
            <a:endParaRPr lang="en-US" sz="1120" dirty="0"/>
          </a:p>
        </p:txBody>
      </p:sp>
      <p:sp>
        <p:nvSpPr>
          <p:cNvPr id="30" name="Shape 28"/>
          <p:cNvSpPr/>
          <p:nvPr/>
        </p:nvSpPr>
        <p:spPr>
          <a:xfrm>
            <a:off x="6245352" y="4416552"/>
            <a:ext cx="5321808" cy="1234440"/>
          </a:xfrm>
          <a:prstGeom prst="roundRect">
            <a:avLst>
              <a:gd name="adj" fmla="val 3704"/>
            </a:avLst>
          </a:prstGeom>
          <a:solidFill>
            <a:srgbClr val="FFFFFF"/>
          </a:solidFill>
          <a:ln w="12700">
            <a:solidFill>
              <a:srgbClr val="D6DED4"/>
            </a:solidFill>
            <a:prstDash val="solid"/>
          </a:ln>
        </p:spPr>
      </p:sp>
      <p:sp>
        <p:nvSpPr>
          <p:cNvPr id="31" name="Shape 29"/>
          <p:cNvSpPr/>
          <p:nvPr/>
        </p:nvSpPr>
        <p:spPr>
          <a:xfrm>
            <a:off x="6245352" y="4416552"/>
            <a:ext cx="82296" cy="1234440"/>
          </a:xfrm>
          <a:prstGeom prst="rect">
            <a:avLst/>
          </a:prstGeom>
          <a:solidFill>
            <a:srgbClr val="956156"/>
          </a:solidFill>
          <a:ln w="12700">
            <a:solidFill>
              <a:srgbClr val="956156"/>
            </a:solidFill>
            <a:prstDash val="solid"/>
          </a:ln>
        </p:spPr>
      </p:sp>
      <p:sp>
        <p:nvSpPr>
          <p:cNvPr id="32" name="Text 30"/>
          <p:cNvSpPr/>
          <p:nvPr/>
        </p:nvSpPr>
        <p:spPr>
          <a:xfrm>
            <a:off x="6501384" y="4599432"/>
            <a:ext cx="1143000" cy="182880"/>
          </a:xfrm>
          <a:prstGeom prst="rect">
            <a:avLst/>
          </a:prstGeom>
          <a:noFill/>
          <a:ln/>
        </p:spPr>
        <p:txBody>
          <a:bodyPr wrap="square" lIns="0" tIns="0" rIns="0" bIns="0" rtlCol="0" anchor="ctr"/>
          <a:lstStyle/>
          <a:p>
            <a:pPr indent="0" marL="0">
              <a:buNone/>
            </a:pPr>
            <a:r>
              <a:rPr lang="en-US" sz="1000" b="1" dirty="0">
                <a:solidFill>
                  <a:srgbClr val="956156"/>
                </a:solidFill>
              </a:rPr>
              <a:t>FR11, 15–16, 18</a:t>
            </a:r>
            <a:endParaRPr lang="en-US" sz="1000" dirty="0"/>
          </a:p>
        </p:txBody>
      </p:sp>
      <p:sp>
        <p:nvSpPr>
          <p:cNvPr id="33" name="Text 31"/>
          <p:cNvSpPr/>
          <p:nvPr/>
        </p:nvSpPr>
        <p:spPr>
          <a:xfrm>
            <a:off x="7635240" y="4599432"/>
            <a:ext cx="3383280" cy="182880"/>
          </a:xfrm>
          <a:prstGeom prst="rect">
            <a:avLst/>
          </a:prstGeom>
          <a:noFill/>
          <a:ln/>
        </p:spPr>
        <p:txBody>
          <a:bodyPr wrap="square" lIns="0" tIns="0" rIns="0" bIns="0" rtlCol="0" anchor="ctr"/>
          <a:lstStyle/>
          <a:p>
            <a:pPr indent="0" marL="0">
              <a:buNone/>
            </a:pPr>
            <a:r>
              <a:rPr lang="en-US" sz="1100" b="1" spc="60" kern="0" dirty="0">
                <a:solidFill>
                  <a:srgbClr val="163B27"/>
                </a:solidFill>
              </a:rPr>
              <a:t>AUDITABILITY</a:t>
            </a:r>
            <a:endParaRPr lang="en-US" sz="1100" dirty="0"/>
          </a:p>
        </p:txBody>
      </p:sp>
      <p:sp>
        <p:nvSpPr>
          <p:cNvPr id="34" name="Text 32"/>
          <p:cNvSpPr/>
          <p:nvPr/>
        </p:nvSpPr>
        <p:spPr>
          <a:xfrm>
            <a:off x="6501384" y="4974336"/>
            <a:ext cx="4736592" cy="429768"/>
          </a:xfrm>
          <a:prstGeom prst="rect">
            <a:avLst/>
          </a:prstGeom>
          <a:noFill/>
          <a:ln/>
        </p:spPr>
        <p:txBody>
          <a:bodyPr wrap="square" lIns="0" tIns="0" rIns="0" bIns="0" rtlCol="0" anchor="ctr">
            <a:normAutofit/>
          </a:bodyPr>
          <a:lstStyle/>
          <a:p>
            <a:pPr indent="0" marL="0">
              <a:buNone/>
            </a:pPr>
            <a:r>
              <a:rPr lang="en-US" sz="1120" dirty="0">
                <a:solidFill>
                  <a:srgbClr val="5F6D63"/>
                </a:solidFill>
              </a:rPr>
              <a:t>PDF/JSON/CSV evidence • history • portfolio • export completeness disclosure</a:t>
            </a:r>
            <a:endParaRPr lang="en-US" sz="1120" dirty="0"/>
          </a:p>
        </p:txBody>
      </p:sp>
      <p:sp>
        <p:nvSpPr>
          <p:cNvPr id="35" name="Shape 33"/>
          <p:cNvSpPr/>
          <p:nvPr/>
        </p:nvSpPr>
        <p:spPr>
          <a:xfrm>
            <a:off x="621792" y="6035040"/>
            <a:ext cx="10945368" cy="393192"/>
          </a:xfrm>
          <a:prstGeom prst="roundRect">
            <a:avLst>
              <a:gd name="adj" fmla="val 13953"/>
            </a:avLst>
          </a:prstGeom>
          <a:solidFill>
            <a:srgbClr val="E2EEDF"/>
          </a:solidFill>
          <a:ln w="12700">
            <a:solidFill>
              <a:srgbClr val="2F6B3B"/>
            </a:solidFill>
            <a:prstDash val="solid"/>
          </a:ln>
        </p:spPr>
      </p:sp>
      <p:sp>
        <p:nvSpPr>
          <p:cNvPr id="36" name="Text 34"/>
          <p:cNvSpPr/>
          <p:nvPr/>
        </p:nvSpPr>
        <p:spPr>
          <a:xfrm>
            <a:off x="786384" y="6153912"/>
            <a:ext cx="10616184" cy="164592"/>
          </a:xfrm>
          <a:prstGeom prst="rect">
            <a:avLst/>
          </a:prstGeom>
          <a:noFill/>
          <a:ln/>
        </p:spPr>
        <p:txBody>
          <a:bodyPr wrap="square" lIns="0" tIns="0" rIns="0" bIns="0" rtlCol="0" anchor="ctr">
            <a:normAutofit/>
          </a:bodyPr>
          <a:lstStyle/>
          <a:p>
            <a:pPr indent="0" marL="0">
              <a:buNone/>
            </a:pPr>
            <a:r>
              <a:rPr lang="en-US" sz="1150" b="1" dirty="0">
                <a:solidFill>
                  <a:srgbClr val="24332A"/>
                </a:solidFill>
              </a:rPr>
              <a:t>NFR focus: traceability • cache-first reliability • local prototype security disclosure • maintainable field-type registry.</a:t>
            </a:r>
            <a:endParaRPr lang="en-US" sz="11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SYSTEM MODELING</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Use case diagram — complete system scope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Level-1 view of actors, system capabilities and supporting services.</a:t>
            </a:r>
            <a:endParaRPr lang="en-US" sz="1250" dirty="0"/>
          </a:p>
        </p:txBody>
      </p:sp>
      <p:sp>
        <p:nvSpPr>
          <p:cNvPr id="5" name="Shape 3"/>
          <p:cNvSpPr/>
          <p:nvPr/>
        </p:nvSpPr>
        <p:spPr>
          <a:xfrm>
            <a:off x="502920" y="1353312"/>
            <a:ext cx="8485632" cy="4956048"/>
          </a:xfrm>
          <a:prstGeom prst="roundRect">
            <a:avLst>
              <a:gd name="adj" fmla="val 646"/>
            </a:avLst>
          </a:prstGeom>
          <a:solidFill>
            <a:srgbClr val="FFFFFF"/>
          </a:solidFill>
          <a:ln w="8255">
            <a:solidFill>
              <a:srgbClr val="D6DED4"/>
            </a:solidFill>
            <a:prstDash val="solid"/>
          </a:ln>
        </p:spPr>
      </p:sp>
      <p:pic>
        <p:nvPicPr>
          <p:cNvPr id="6" name="Image 0" descr="/home/nahid/Desktop/my_project/terra-audit/docs/presentation/assets/report_v3/fig02.png">    </p:cNvPr>
          <p:cNvPicPr>
            <a:picLocks noChangeAspect="1"/>
          </p:cNvPicPr>
          <p:nvPr/>
        </p:nvPicPr>
        <p:blipFill>
          <a:blip r:embed="rId1"/>
          <a:stretch>
            <a:fillRect/>
          </a:stretch>
        </p:blipFill>
        <p:spPr>
          <a:xfrm>
            <a:off x="1956943" y="1463040"/>
            <a:ext cx="5577586" cy="4517136"/>
          </a:xfrm>
          <a:prstGeom prst="rect">
            <a:avLst/>
          </a:prstGeom>
        </p:spPr>
      </p:pic>
      <p:sp>
        <p:nvSpPr>
          <p:cNvPr id="7" name="Text 4"/>
          <p:cNvSpPr/>
          <p:nvPr/>
        </p:nvSpPr>
        <p:spPr>
          <a:xfrm>
            <a:off x="649224" y="6035040"/>
            <a:ext cx="81930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Level-1 use case diagram</a:t>
            </a:r>
            <a:endParaRPr lang="en-US" sz="950" dirty="0"/>
          </a:p>
        </p:txBody>
      </p:sp>
      <p:sp>
        <p:nvSpPr>
          <p:cNvPr id="8" name="Shape 5"/>
          <p:cNvSpPr/>
          <p:nvPr/>
        </p:nvSpPr>
        <p:spPr>
          <a:xfrm>
            <a:off x="9189720" y="1399032"/>
            <a:ext cx="2395728" cy="1298448"/>
          </a:xfrm>
          <a:prstGeom prst="roundRect">
            <a:avLst>
              <a:gd name="adj" fmla="val 3169"/>
            </a:avLst>
          </a:prstGeom>
          <a:solidFill>
            <a:srgbClr val="FAFBF7"/>
          </a:solidFill>
          <a:ln w="8890">
            <a:solidFill>
              <a:srgbClr val="D6DED4"/>
            </a:solidFill>
            <a:prstDash val="solid"/>
          </a:ln>
        </p:spPr>
      </p:sp>
      <p:sp>
        <p:nvSpPr>
          <p:cNvPr id="9" name="Shape 6"/>
          <p:cNvSpPr/>
          <p:nvPr/>
        </p:nvSpPr>
        <p:spPr>
          <a:xfrm>
            <a:off x="9189720" y="1399032"/>
            <a:ext cx="50292" cy="1298448"/>
          </a:xfrm>
          <a:prstGeom prst="rect">
            <a:avLst/>
          </a:prstGeom>
          <a:solidFill>
            <a:srgbClr val="2F6B3B"/>
          </a:solidFill>
          <a:ln w="12700">
            <a:solidFill>
              <a:srgbClr val="2F6B3B"/>
            </a:solidFill>
            <a:prstDash val="solid"/>
          </a:ln>
        </p:spPr>
      </p:sp>
      <p:sp>
        <p:nvSpPr>
          <p:cNvPr id="10" name="Text 7"/>
          <p:cNvSpPr/>
          <p:nvPr/>
        </p:nvSpPr>
        <p:spPr>
          <a:xfrm>
            <a:off x="9445752" y="1581912"/>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Actors</a:t>
            </a:r>
            <a:endParaRPr lang="en-US" sz="1500" dirty="0"/>
          </a:p>
        </p:txBody>
      </p:sp>
      <p:sp>
        <p:nvSpPr>
          <p:cNvPr id="11" name="Text 8"/>
          <p:cNvSpPr/>
          <p:nvPr/>
        </p:nvSpPr>
        <p:spPr>
          <a:xfrm>
            <a:off x="9445752" y="2011680"/>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Project developer, researcher and auditor use different parts of the workflow.</a:t>
            </a:r>
            <a:endParaRPr lang="en-US" sz="1150" dirty="0"/>
          </a:p>
        </p:txBody>
      </p:sp>
      <p:sp>
        <p:nvSpPr>
          <p:cNvPr id="12" name="Shape 9"/>
          <p:cNvSpPr/>
          <p:nvPr/>
        </p:nvSpPr>
        <p:spPr>
          <a:xfrm>
            <a:off x="9189720" y="2916936"/>
            <a:ext cx="2395728" cy="1298448"/>
          </a:xfrm>
          <a:prstGeom prst="roundRect">
            <a:avLst>
              <a:gd name="adj" fmla="val 3169"/>
            </a:avLst>
          </a:prstGeom>
          <a:solidFill>
            <a:srgbClr val="FAFBF7"/>
          </a:solidFill>
          <a:ln w="8890">
            <a:solidFill>
              <a:srgbClr val="D6DED4"/>
            </a:solidFill>
            <a:prstDash val="solid"/>
          </a:ln>
        </p:spPr>
      </p:sp>
      <p:sp>
        <p:nvSpPr>
          <p:cNvPr id="13" name="Shape 10"/>
          <p:cNvSpPr/>
          <p:nvPr/>
        </p:nvSpPr>
        <p:spPr>
          <a:xfrm>
            <a:off x="9189720" y="2916936"/>
            <a:ext cx="50292" cy="1298448"/>
          </a:xfrm>
          <a:prstGeom prst="rect">
            <a:avLst/>
          </a:prstGeom>
          <a:solidFill>
            <a:srgbClr val="527A68"/>
          </a:solidFill>
          <a:ln w="12700">
            <a:solidFill>
              <a:srgbClr val="527A68"/>
            </a:solidFill>
            <a:prstDash val="solid"/>
          </a:ln>
        </p:spPr>
      </p:sp>
      <p:sp>
        <p:nvSpPr>
          <p:cNvPr id="14" name="Text 11"/>
          <p:cNvSpPr/>
          <p:nvPr/>
        </p:nvSpPr>
        <p:spPr>
          <a:xfrm>
            <a:off x="9445752" y="3099816"/>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External service</a:t>
            </a:r>
            <a:endParaRPr lang="en-US" sz="1500" dirty="0"/>
          </a:p>
        </p:txBody>
      </p:sp>
      <p:sp>
        <p:nvSpPr>
          <p:cNvPr id="15" name="Text 12"/>
          <p:cNvSpPr/>
          <p:nvPr/>
        </p:nvSpPr>
        <p:spPr>
          <a:xfrm>
            <a:off x="9445752" y="3529584"/>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Earth Engine supplies observations; it does not perform Terra-Audit accounting.</a:t>
            </a:r>
            <a:endParaRPr lang="en-US" sz="1150" dirty="0"/>
          </a:p>
        </p:txBody>
      </p:sp>
      <p:sp>
        <p:nvSpPr>
          <p:cNvPr id="16" name="Shape 13"/>
          <p:cNvSpPr/>
          <p:nvPr/>
        </p:nvSpPr>
        <p:spPr>
          <a:xfrm>
            <a:off x="9189720" y="4434840"/>
            <a:ext cx="2395728" cy="1298448"/>
          </a:xfrm>
          <a:prstGeom prst="roundRect">
            <a:avLst>
              <a:gd name="adj" fmla="val 3169"/>
            </a:avLst>
          </a:prstGeom>
          <a:solidFill>
            <a:srgbClr val="FAFBF7"/>
          </a:solidFill>
          <a:ln w="8890">
            <a:solidFill>
              <a:srgbClr val="D6DED4"/>
            </a:solidFill>
            <a:prstDash val="solid"/>
          </a:ln>
        </p:spPr>
      </p:sp>
      <p:sp>
        <p:nvSpPr>
          <p:cNvPr id="17" name="Shape 14"/>
          <p:cNvSpPr/>
          <p:nvPr/>
        </p:nvSpPr>
        <p:spPr>
          <a:xfrm>
            <a:off x="9189720" y="4434840"/>
            <a:ext cx="50292" cy="1298448"/>
          </a:xfrm>
          <a:prstGeom prst="rect">
            <a:avLst/>
          </a:prstGeom>
          <a:solidFill>
            <a:srgbClr val="B08A4F"/>
          </a:solidFill>
          <a:ln w="12700">
            <a:solidFill>
              <a:srgbClr val="B08A4F"/>
            </a:solidFill>
            <a:prstDash val="solid"/>
          </a:ln>
        </p:spPr>
      </p:sp>
      <p:sp>
        <p:nvSpPr>
          <p:cNvPr id="18" name="Text 15"/>
          <p:cNvSpPr/>
          <p:nvPr/>
        </p:nvSpPr>
        <p:spPr>
          <a:xfrm>
            <a:off x="9445752" y="4617720"/>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Method split</a:t>
            </a:r>
            <a:endParaRPr lang="en-US" sz="1500" dirty="0"/>
          </a:p>
        </p:txBody>
      </p:sp>
      <p:sp>
        <p:nvSpPr>
          <p:cNvPr id="19" name="Text 16"/>
          <p:cNvSpPr/>
          <p:nvPr/>
        </p:nvSpPr>
        <p:spPr>
          <a:xfrm>
            <a:off x="9445752" y="5047488"/>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Rice and cropland evidence paths converge at calculation and reporting.</a:t>
            </a:r>
            <a:endParaRPr lang="en-US" sz="1150" dirty="0"/>
          </a:p>
        </p:txBody>
      </p:sp>
      <p:sp>
        <p:nvSpPr>
          <p:cNvPr id="20" name="Text 17">
            <a:hlinkClick r:id="rId2" tooltip=""/>
          </p:cNvPr>
          <p:cNvSpPr/>
          <p:nvPr/>
        </p:nvSpPr>
        <p:spPr>
          <a:xfrm>
            <a:off x="6675120" y="6236208"/>
            <a:ext cx="4892040" cy="164592"/>
          </a:xfrm>
          <a:prstGeom prst="rect">
            <a:avLst/>
          </a:prstGeom>
          <a:noFill/>
          <a:ln/>
        </p:spPr>
        <p:txBody>
          <a:bodyPr wrap="square" lIns="0" tIns="0" rIns="0" bIns="0" rtlCol="0" anchor="ctr">
            <a:normAutofit/>
          </a:bodyPr>
          <a:lstStyle/>
          <a:p>
            <a:pPr algn="r" indent="0" marL="0">
              <a:buNone/>
            </a:pPr>
            <a:r>
              <a:rPr lang="en-US" sz="850" i="1" u="sng" dirty="0">
                <a:solidFill>
                  <a:srgbClr val="527A68"/>
                </a:solidFill>
                <a:hlinkClick r:id="rId2" invalidUrl="" action="" tgtFrame="" tooltip="" history="1" highlightClick="0" endSnd="0">
                  <a:extLst>
                    <a:ext uri="{A12FA001-AC4F-418D-AE19-62706E023703}">
                      <ahyp:hlinkClr xmlns:ahyp="http://schemas.microsoft.com/office/drawing/2018/hyperlinkcolor" val="tx"/>
                    </a:ext>
                  </a:extLst>
                </a:hlinkClick>
              </a:rPr>
              <a:t>Open complete diagram</a:t>
            </a:r>
            <a:endParaRPr lang="en-US" sz="8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SYSTEM MODELING</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Activity diagram — end-to-end control flow</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Top-level flow from field selection to evidence export.</a:t>
            </a:r>
            <a:endParaRPr lang="en-US" sz="1250" dirty="0"/>
          </a:p>
        </p:txBody>
      </p:sp>
      <p:sp>
        <p:nvSpPr>
          <p:cNvPr id="5" name="Shape 3"/>
          <p:cNvSpPr/>
          <p:nvPr/>
        </p:nvSpPr>
        <p:spPr>
          <a:xfrm>
            <a:off x="502920" y="1353312"/>
            <a:ext cx="8485632" cy="4956048"/>
          </a:xfrm>
          <a:prstGeom prst="roundRect">
            <a:avLst>
              <a:gd name="adj" fmla="val 646"/>
            </a:avLst>
          </a:prstGeom>
          <a:solidFill>
            <a:srgbClr val="FFFFFF"/>
          </a:solidFill>
          <a:ln w="8255">
            <a:solidFill>
              <a:srgbClr val="D6DED4"/>
            </a:solidFill>
            <a:prstDash val="solid"/>
          </a:ln>
        </p:spPr>
      </p:sp>
      <p:pic>
        <p:nvPicPr>
          <p:cNvPr id="6" name="Image 0" descr="/home/nahid/Desktop/my_project/terra-audit/docs/presentation/assets/report_v3/fig12.png">    </p:cNvPr>
          <p:cNvPicPr>
            <a:picLocks noChangeAspect="1"/>
          </p:cNvPicPr>
          <p:nvPr/>
        </p:nvPicPr>
        <p:blipFill>
          <a:blip r:embed="rId1"/>
          <a:stretch>
            <a:fillRect/>
          </a:stretch>
        </p:blipFill>
        <p:spPr>
          <a:xfrm>
            <a:off x="3430998" y="1463040"/>
            <a:ext cx="2629477" cy="4517136"/>
          </a:xfrm>
          <a:prstGeom prst="rect">
            <a:avLst/>
          </a:prstGeom>
        </p:spPr>
      </p:pic>
      <p:sp>
        <p:nvSpPr>
          <p:cNvPr id="7" name="Text 4"/>
          <p:cNvSpPr/>
          <p:nvPr/>
        </p:nvSpPr>
        <p:spPr>
          <a:xfrm>
            <a:off x="649224" y="6035040"/>
            <a:ext cx="81930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Top-level activity flow</a:t>
            </a:r>
            <a:endParaRPr lang="en-US" sz="950" dirty="0"/>
          </a:p>
        </p:txBody>
      </p:sp>
      <p:sp>
        <p:nvSpPr>
          <p:cNvPr id="8" name="Shape 5"/>
          <p:cNvSpPr/>
          <p:nvPr/>
        </p:nvSpPr>
        <p:spPr>
          <a:xfrm>
            <a:off x="9189720" y="1399032"/>
            <a:ext cx="2395728" cy="1298448"/>
          </a:xfrm>
          <a:prstGeom prst="roundRect">
            <a:avLst>
              <a:gd name="adj" fmla="val 3169"/>
            </a:avLst>
          </a:prstGeom>
          <a:solidFill>
            <a:srgbClr val="FAFBF7"/>
          </a:solidFill>
          <a:ln w="8890">
            <a:solidFill>
              <a:srgbClr val="D6DED4"/>
            </a:solidFill>
            <a:prstDash val="solid"/>
          </a:ln>
        </p:spPr>
      </p:sp>
      <p:sp>
        <p:nvSpPr>
          <p:cNvPr id="9" name="Shape 6"/>
          <p:cNvSpPr/>
          <p:nvPr/>
        </p:nvSpPr>
        <p:spPr>
          <a:xfrm>
            <a:off x="9189720" y="1399032"/>
            <a:ext cx="50292" cy="1298448"/>
          </a:xfrm>
          <a:prstGeom prst="rect">
            <a:avLst/>
          </a:prstGeom>
          <a:solidFill>
            <a:srgbClr val="2F6B3B"/>
          </a:solidFill>
          <a:ln w="12700">
            <a:solidFill>
              <a:srgbClr val="2F6B3B"/>
            </a:solidFill>
            <a:prstDash val="solid"/>
          </a:ln>
        </p:spPr>
      </p:sp>
      <p:sp>
        <p:nvSpPr>
          <p:cNvPr id="10" name="Text 7"/>
          <p:cNvSpPr/>
          <p:nvPr/>
        </p:nvSpPr>
        <p:spPr>
          <a:xfrm>
            <a:off x="9445752" y="1581912"/>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Start</a:t>
            </a:r>
            <a:endParaRPr lang="en-US" sz="1500" dirty="0"/>
          </a:p>
        </p:txBody>
      </p:sp>
      <p:sp>
        <p:nvSpPr>
          <p:cNvPr id="11" name="Text 8"/>
          <p:cNvSpPr/>
          <p:nvPr/>
        </p:nvSpPr>
        <p:spPr>
          <a:xfrm>
            <a:off x="9445752" y="2011680"/>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Register or select a field and validate its geometry.</a:t>
            </a:r>
            <a:endParaRPr lang="en-US" sz="1150" dirty="0"/>
          </a:p>
        </p:txBody>
      </p:sp>
      <p:sp>
        <p:nvSpPr>
          <p:cNvPr id="12" name="Shape 9"/>
          <p:cNvSpPr/>
          <p:nvPr/>
        </p:nvSpPr>
        <p:spPr>
          <a:xfrm>
            <a:off x="9189720" y="2916936"/>
            <a:ext cx="2395728" cy="1298448"/>
          </a:xfrm>
          <a:prstGeom prst="roundRect">
            <a:avLst>
              <a:gd name="adj" fmla="val 3169"/>
            </a:avLst>
          </a:prstGeom>
          <a:solidFill>
            <a:srgbClr val="FAFBF7"/>
          </a:solidFill>
          <a:ln w="8890">
            <a:solidFill>
              <a:srgbClr val="D6DED4"/>
            </a:solidFill>
            <a:prstDash val="solid"/>
          </a:ln>
        </p:spPr>
      </p:sp>
      <p:sp>
        <p:nvSpPr>
          <p:cNvPr id="13" name="Shape 10"/>
          <p:cNvSpPr/>
          <p:nvPr/>
        </p:nvSpPr>
        <p:spPr>
          <a:xfrm>
            <a:off x="9189720" y="2916936"/>
            <a:ext cx="50292" cy="1298448"/>
          </a:xfrm>
          <a:prstGeom prst="rect">
            <a:avLst/>
          </a:prstGeom>
          <a:solidFill>
            <a:srgbClr val="527A68"/>
          </a:solidFill>
          <a:ln w="12700">
            <a:solidFill>
              <a:srgbClr val="527A68"/>
            </a:solidFill>
            <a:prstDash val="solid"/>
          </a:ln>
        </p:spPr>
      </p:sp>
      <p:sp>
        <p:nvSpPr>
          <p:cNvPr id="14" name="Text 11"/>
          <p:cNvSpPr/>
          <p:nvPr/>
        </p:nvSpPr>
        <p:spPr>
          <a:xfrm>
            <a:off x="9445752" y="3099816"/>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Branch</a:t>
            </a:r>
            <a:endParaRPr lang="en-US" sz="1500" dirty="0"/>
          </a:p>
        </p:txBody>
      </p:sp>
      <p:sp>
        <p:nvSpPr>
          <p:cNvPr id="15" name="Text 12"/>
          <p:cNvSpPr/>
          <p:nvPr/>
        </p:nvSpPr>
        <p:spPr>
          <a:xfrm>
            <a:off x="9445752" y="3529584"/>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Route by field type to SAR analytics or practice/SOC validation.</a:t>
            </a:r>
            <a:endParaRPr lang="en-US" sz="1150" dirty="0"/>
          </a:p>
        </p:txBody>
      </p:sp>
      <p:sp>
        <p:nvSpPr>
          <p:cNvPr id="16" name="Shape 13"/>
          <p:cNvSpPr/>
          <p:nvPr/>
        </p:nvSpPr>
        <p:spPr>
          <a:xfrm>
            <a:off x="9189720" y="4434840"/>
            <a:ext cx="2395728" cy="1298448"/>
          </a:xfrm>
          <a:prstGeom prst="roundRect">
            <a:avLst>
              <a:gd name="adj" fmla="val 3169"/>
            </a:avLst>
          </a:prstGeom>
          <a:solidFill>
            <a:srgbClr val="FAFBF7"/>
          </a:solidFill>
          <a:ln w="8890">
            <a:solidFill>
              <a:srgbClr val="D6DED4"/>
            </a:solidFill>
            <a:prstDash val="solid"/>
          </a:ln>
        </p:spPr>
      </p:sp>
      <p:sp>
        <p:nvSpPr>
          <p:cNvPr id="17" name="Shape 14"/>
          <p:cNvSpPr/>
          <p:nvPr/>
        </p:nvSpPr>
        <p:spPr>
          <a:xfrm>
            <a:off x="9189720" y="4434840"/>
            <a:ext cx="50292" cy="1298448"/>
          </a:xfrm>
          <a:prstGeom prst="rect">
            <a:avLst/>
          </a:prstGeom>
          <a:solidFill>
            <a:srgbClr val="B08A4F"/>
          </a:solidFill>
          <a:ln w="12700">
            <a:solidFill>
              <a:srgbClr val="B08A4F"/>
            </a:solidFill>
            <a:prstDash val="solid"/>
          </a:ln>
        </p:spPr>
      </p:sp>
      <p:sp>
        <p:nvSpPr>
          <p:cNvPr id="18" name="Text 15"/>
          <p:cNvSpPr/>
          <p:nvPr/>
        </p:nvSpPr>
        <p:spPr>
          <a:xfrm>
            <a:off x="9445752" y="4617720"/>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Finish</a:t>
            </a:r>
            <a:endParaRPr lang="en-US" sz="1500" dirty="0"/>
          </a:p>
        </p:txBody>
      </p:sp>
      <p:sp>
        <p:nvSpPr>
          <p:cNvPr id="19" name="Text 16"/>
          <p:cNvSpPr/>
          <p:nvPr/>
        </p:nvSpPr>
        <p:spPr>
          <a:xfrm>
            <a:off x="9445752" y="5047488"/>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Calculate, disclose limitations and export evidence.</a:t>
            </a:r>
            <a:endParaRPr lang="en-US" sz="1150" dirty="0"/>
          </a:p>
        </p:txBody>
      </p:sp>
      <p:sp>
        <p:nvSpPr>
          <p:cNvPr id="20" name="Text 17">
            <a:hlinkClick r:id="rId2" tooltip=""/>
          </p:cNvPr>
          <p:cNvSpPr/>
          <p:nvPr/>
        </p:nvSpPr>
        <p:spPr>
          <a:xfrm>
            <a:off x="6675120" y="6236208"/>
            <a:ext cx="4892040" cy="164592"/>
          </a:xfrm>
          <a:prstGeom prst="rect">
            <a:avLst/>
          </a:prstGeom>
          <a:noFill/>
          <a:ln/>
        </p:spPr>
        <p:txBody>
          <a:bodyPr wrap="square" lIns="0" tIns="0" rIns="0" bIns="0" rtlCol="0" anchor="ctr">
            <a:normAutofit/>
          </a:bodyPr>
          <a:lstStyle/>
          <a:p>
            <a:pPr algn="r" indent="0" marL="0">
              <a:buNone/>
            </a:pPr>
            <a:r>
              <a:rPr lang="en-US" sz="850" i="1" u="sng" dirty="0">
                <a:solidFill>
                  <a:srgbClr val="527A68"/>
                </a:solidFill>
                <a:hlinkClick r:id="rId2" invalidUrl="" action="" tgtFrame="" tooltip="" history="1" highlightClick="0" endSnd="0">
                  <a:extLst>
                    <a:ext uri="{A12FA001-AC4F-418D-AE19-62706E023703}">
                      <ahyp:hlinkClr xmlns:ahyp="http://schemas.microsoft.com/office/drawing/2018/hyperlinkcolor" val="tx"/>
                    </a:ext>
                  </a:extLst>
                </a:hlinkClick>
              </a:rPr>
              <a:t>Open complete diagram</a:t>
            </a:r>
            <a:endParaRPr lang="en-US" sz="8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SOFTWARE DESIGN</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Component architecture — extensible by field type</a:t>
            </a:r>
            <a:endParaRPr lang="en-US" sz="2700" dirty="0"/>
          </a:p>
        </p:txBody>
      </p:sp>
      <p:sp>
        <p:nvSpPr>
          <p:cNvPr id="4" name="Shape 2"/>
          <p:cNvSpPr/>
          <p:nvPr/>
        </p:nvSpPr>
        <p:spPr>
          <a:xfrm>
            <a:off x="502920" y="1170432"/>
            <a:ext cx="11155680" cy="5212080"/>
          </a:xfrm>
          <a:prstGeom prst="roundRect">
            <a:avLst>
              <a:gd name="adj" fmla="val 614"/>
            </a:avLst>
          </a:prstGeom>
          <a:solidFill>
            <a:srgbClr val="FFFFFF"/>
          </a:solidFill>
          <a:ln w="8255">
            <a:solidFill>
              <a:srgbClr val="D6DED4"/>
            </a:solidFill>
            <a:prstDash val="solid"/>
          </a:ln>
        </p:spPr>
      </p:sp>
      <p:pic>
        <p:nvPicPr>
          <p:cNvPr id="5" name="Image 0" descr="/home/nahid/Desktop/my_project/terra-audit/docs/presentation/assets/component_architectur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44752" y="1234440"/>
            <a:ext cx="9272016" cy="5212080"/>
          </a:xfrm>
          <a:prstGeom prst="rect">
            <a:avLst/>
          </a:prstGeom>
        </p:spPr>
      </p:pic>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DATA MODELING</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ER diagram — evidence remains linked to each field</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Core entities preserve field identity, evidence provenance and calculation history.</a:t>
            </a:r>
            <a:endParaRPr lang="en-US" sz="1250" dirty="0"/>
          </a:p>
        </p:txBody>
      </p:sp>
      <p:sp>
        <p:nvSpPr>
          <p:cNvPr id="5" name="Shape 3"/>
          <p:cNvSpPr/>
          <p:nvPr/>
        </p:nvSpPr>
        <p:spPr>
          <a:xfrm>
            <a:off x="502920" y="1353312"/>
            <a:ext cx="8485632" cy="4956048"/>
          </a:xfrm>
          <a:prstGeom prst="roundRect">
            <a:avLst>
              <a:gd name="adj" fmla="val 646"/>
            </a:avLst>
          </a:prstGeom>
          <a:solidFill>
            <a:srgbClr val="FFFFFF"/>
          </a:solidFill>
          <a:ln w="8255">
            <a:solidFill>
              <a:srgbClr val="D6DED4"/>
            </a:solidFill>
            <a:prstDash val="solid"/>
          </a:ln>
        </p:spPr>
      </p:sp>
      <p:pic>
        <p:nvPicPr>
          <p:cNvPr id="6" name="Image 0" descr="/home/nahid/Desktop/my_project/terra-audit/docs/presentation/assets/report_v3/fig20.png">    </p:cNvPr>
          <p:cNvPicPr>
            <a:picLocks noChangeAspect="1"/>
          </p:cNvPicPr>
          <p:nvPr/>
        </p:nvPicPr>
        <p:blipFill>
          <a:blip r:embed="rId1"/>
          <a:stretch>
            <a:fillRect/>
          </a:stretch>
        </p:blipFill>
        <p:spPr>
          <a:xfrm>
            <a:off x="806239" y="1463040"/>
            <a:ext cx="7878994" cy="4517136"/>
          </a:xfrm>
          <a:prstGeom prst="rect">
            <a:avLst/>
          </a:prstGeom>
        </p:spPr>
      </p:pic>
      <p:sp>
        <p:nvSpPr>
          <p:cNvPr id="7" name="Text 4"/>
          <p:cNvSpPr/>
          <p:nvPr/>
        </p:nvSpPr>
        <p:spPr>
          <a:xfrm>
            <a:off x="649224" y="6035040"/>
            <a:ext cx="81930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Entity relationship diagram</a:t>
            </a:r>
            <a:endParaRPr lang="en-US" sz="950" dirty="0"/>
          </a:p>
        </p:txBody>
      </p:sp>
      <p:sp>
        <p:nvSpPr>
          <p:cNvPr id="8" name="Shape 5"/>
          <p:cNvSpPr/>
          <p:nvPr/>
        </p:nvSpPr>
        <p:spPr>
          <a:xfrm>
            <a:off x="9189720" y="1399032"/>
            <a:ext cx="2395728" cy="1298448"/>
          </a:xfrm>
          <a:prstGeom prst="roundRect">
            <a:avLst>
              <a:gd name="adj" fmla="val 3169"/>
            </a:avLst>
          </a:prstGeom>
          <a:solidFill>
            <a:srgbClr val="FAFBF7"/>
          </a:solidFill>
          <a:ln w="8890">
            <a:solidFill>
              <a:srgbClr val="D6DED4"/>
            </a:solidFill>
            <a:prstDash val="solid"/>
          </a:ln>
        </p:spPr>
      </p:sp>
      <p:sp>
        <p:nvSpPr>
          <p:cNvPr id="9" name="Shape 6"/>
          <p:cNvSpPr/>
          <p:nvPr/>
        </p:nvSpPr>
        <p:spPr>
          <a:xfrm>
            <a:off x="9189720" y="1399032"/>
            <a:ext cx="50292" cy="1298448"/>
          </a:xfrm>
          <a:prstGeom prst="rect">
            <a:avLst/>
          </a:prstGeom>
          <a:solidFill>
            <a:srgbClr val="2F6B3B"/>
          </a:solidFill>
          <a:ln w="12700">
            <a:solidFill>
              <a:srgbClr val="2F6B3B"/>
            </a:solidFill>
            <a:prstDash val="solid"/>
          </a:ln>
        </p:spPr>
      </p:sp>
      <p:sp>
        <p:nvSpPr>
          <p:cNvPr id="10" name="Text 7"/>
          <p:cNvSpPr/>
          <p:nvPr/>
        </p:nvSpPr>
        <p:spPr>
          <a:xfrm>
            <a:off x="9445752" y="1581912"/>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Stable identity</a:t>
            </a:r>
            <a:endParaRPr lang="en-US" sz="1500" dirty="0"/>
          </a:p>
        </p:txBody>
      </p:sp>
      <p:sp>
        <p:nvSpPr>
          <p:cNvPr id="11" name="Text 8"/>
          <p:cNvSpPr/>
          <p:nvPr/>
        </p:nvSpPr>
        <p:spPr>
          <a:xfrm>
            <a:off x="9445752" y="2011680"/>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field_id connects methodology evidence and calculation history.</a:t>
            </a:r>
            <a:endParaRPr lang="en-US" sz="1150" dirty="0"/>
          </a:p>
        </p:txBody>
      </p:sp>
      <p:sp>
        <p:nvSpPr>
          <p:cNvPr id="12" name="Shape 9"/>
          <p:cNvSpPr/>
          <p:nvPr/>
        </p:nvSpPr>
        <p:spPr>
          <a:xfrm>
            <a:off x="9189720" y="2916936"/>
            <a:ext cx="2395728" cy="1298448"/>
          </a:xfrm>
          <a:prstGeom prst="roundRect">
            <a:avLst>
              <a:gd name="adj" fmla="val 3169"/>
            </a:avLst>
          </a:prstGeom>
          <a:solidFill>
            <a:srgbClr val="FAFBF7"/>
          </a:solidFill>
          <a:ln w="8890">
            <a:solidFill>
              <a:srgbClr val="D6DED4"/>
            </a:solidFill>
            <a:prstDash val="solid"/>
          </a:ln>
        </p:spPr>
      </p:sp>
      <p:sp>
        <p:nvSpPr>
          <p:cNvPr id="13" name="Shape 10"/>
          <p:cNvSpPr/>
          <p:nvPr/>
        </p:nvSpPr>
        <p:spPr>
          <a:xfrm>
            <a:off x="9189720" y="2916936"/>
            <a:ext cx="50292" cy="1298448"/>
          </a:xfrm>
          <a:prstGeom prst="rect">
            <a:avLst/>
          </a:prstGeom>
          <a:solidFill>
            <a:srgbClr val="527A68"/>
          </a:solidFill>
          <a:ln w="12700">
            <a:solidFill>
              <a:srgbClr val="527A68"/>
            </a:solidFill>
            <a:prstDash val="solid"/>
          </a:ln>
        </p:spPr>
      </p:sp>
      <p:sp>
        <p:nvSpPr>
          <p:cNvPr id="14" name="Text 11"/>
          <p:cNvSpPr/>
          <p:nvPr/>
        </p:nvSpPr>
        <p:spPr>
          <a:xfrm>
            <a:off x="9445752" y="3099816"/>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Window-safe cache</a:t>
            </a:r>
            <a:endParaRPr lang="en-US" sz="1500" dirty="0"/>
          </a:p>
        </p:txBody>
      </p:sp>
      <p:sp>
        <p:nvSpPr>
          <p:cNvPr id="15" name="Text 12"/>
          <p:cNvSpPr/>
          <p:nvPr/>
        </p:nvSpPr>
        <p:spPr>
          <a:xfrm>
            <a:off x="9445752" y="3529584"/>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Rice observations are keyed by field and monitoring window.</a:t>
            </a:r>
            <a:endParaRPr lang="en-US" sz="1150" dirty="0"/>
          </a:p>
        </p:txBody>
      </p:sp>
      <p:sp>
        <p:nvSpPr>
          <p:cNvPr id="16" name="Shape 13"/>
          <p:cNvSpPr/>
          <p:nvPr/>
        </p:nvSpPr>
        <p:spPr>
          <a:xfrm>
            <a:off x="9189720" y="4434840"/>
            <a:ext cx="2395728" cy="1298448"/>
          </a:xfrm>
          <a:prstGeom prst="roundRect">
            <a:avLst>
              <a:gd name="adj" fmla="val 3169"/>
            </a:avLst>
          </a:prstGeom>
          <a:solidFill>
            <a:srgbClr val="FAFBF7"/>
          </a:solidFill>
          <a:ln w="8890">
            <a:solidFill>
              <a:srgbClr val="D6DED4"/>
            </a:solidFill>
            <a:prstDash val="solid"/>
          </a:ln>
        </p:spPr>
      </p:sp>
      <p:sp>
        <p:nvSpPr>
          <p:cNvPr id="17" name="Shape 14"/>
          <p:cNvSpPr/>
          <p:nvPr/>
        </p:nvSpPr>
        <p:spPr>
          <a:xfrm>
            <a:off x="9189720" y="4434840"/>
            <a:ext cx="50292" cy="1298448"/>
          </a:xfrm>
          <a:prstGeom prst="rect">
            <a:avLst/>
          </a:prstGeom>
          <a:solidFill>
            <a:srgbClr val="B08A4F"/>
          </a:solidFill>
          <a:ln w="12700">
            <a:solidFill>
              <a:srgbClr val="B08A4F"/>
            </a:solidFill>
            <a:prstDash val="solid"/>
          </a:ln>
        </p:spPr>
      </p:sp>
      <p:sp>
        <p:nvSpPr>
          <p:cNvPr id="18" name="Text 15"/>
          <p:cNvSpPr/>
          <p:nvPr/>
        </p:nvSpPr>
        <p:spPr>
          <a:xfrm>
            <a:off x="9445752" y="4617720"/>
            <a:ext cx="1956816" cy="274320"/>
          </a:xfrm>
          <a:prstGeom prst="rect">
            <a:avLst/>
          </a:prstGeom>
          <a:noFill/>
          <a:ln/>
        </p:spPr>
        <p:txBody>
          <a:bodyPr wrap="square" lIns="0" tIns="0" rIns="0" bIns="0" rtlCol="0" anchor="ctr">
            <a:normAutofit/>
          </a:bodyPr>
          <a:lstStyle/>
          <a:p>
            <a:pPr indent="0" marL="0">
              <a:buNone/>
            </a:pPr>
            <a:r>
              <a:rPr lang="en-US" sz="1500" b="1" dirty="0">
                <a:solidFill>
                  <a:srgbClr val="163B27"/>
                </a:solidFill>
              </a:rPr>
              <a:t>Audit history</a:t>
            </a:r>
            <a:endParaRPr lang="en-US" sz="1500" dirty="0"/>
          </a:p>
        </p:txBody>
      </p:sp>
      <p:sp>
        <p:nvSpPr>
          <p:cNvPr id="19" name="Text 16"/>
          <p:cNvSpPr/>
          <p:nvPr/>
        </p:nvSpPr>
        <p:spPr>
          <a:xfrm>
            <a:off x="9445752" y="5047488"/>
            <a:ext cx="1920240" cy="539496"/>
          </a:xfrm>
          <a:prstGeom prst="rect">
            <a:avLst/>
          </a:prstGeom>
          <a:noFill/>
          <a:ln/>
        </p:spPr>
        <p:txBody>
          <a:bodyPr wrap="square" lIns="254" tIns="254" rIns="254" bIns="254" rtlCol="0" anchor="t">
            <a:normAutofit/>
          </a:bodyPr>
          <a:lstStyle/>
          <a:p>
            <a:pPr indent="0" marL="0">
              <a:buNone/>
            </a:pPr>
            <a:r>
              <a:rPr lang="en-US" sz="1150" dirty="0">
                <a:solidFill>
                  <a:srgbClr val="5F6D63"/>
                </a:solidFill>
              </a:rPr>
              <a:t>Prior calculation runs remain available for inspection.</a:t>
            </a:r>
            <a:endParaRPr lang="en-US" sz="1150" dirty="0"/>
          </a:p>
        </p:txBody>
      </p:sp>
      <p:sp>
        <p:nvSpPr>
          <p:cNvPr id="20" name="Text 17">
            <a:hlinkClick r:id="rId2" tooltip=""/>
          </p:cNvPr>
          <p:cNvSpPr/>
          <p:nvPr/>
        </p:nvSpPr>
        <p:spPr>
          <a:xfrm>
            <a:off x="6675120" y="6236208"/>
            <a:ext cx="4892040" cy="164592"/>
          </a:xfrm>
          <a:prstGeom prst="rect">
            <a:avLst/>
          </a:prstGeom>
          <a:noFill/>
          <a:ln/>
        </p:spPr>
        <p:txBody>
          <a:bodyPr wrap="square" lIns="0" tIns="0" rIns="0" bIns="0" rtlCol="0" anchor="ctr">
            <a:normAutofit/>
          </a:bodyPr>
          <a:lstStyle/>
          <a:p>
            <a:pPr algn="r" indent="0" marL="0">
              <a:buNone/>
            </a:pPr>
            <a:r>
              <a:rPr lang="en-US" sz="850" i="1" u="sng" dirty="0">
                <a:solidFill>
                  <a:srgbClr val="527A68"/>
                </a:solidFill>
                <a:hlinkClick r:id="rId2" invalidUrl="" action="" tgtFrame="" tooltip="" history="1" highlightClick="0" endSnd="0">
                  <a:extLst>
                    <a:ext uri="{A12FA001-AC4F-418D-AE19-62706E023703}">
                      <ahyp:hlinkClr xmlns:ahyp="http://schemas.microsoft.com/office/drawing/2018/hyperlinkcolor" val="tx"/>
                    </a:ext>
                  </a:extLst>
                </a:hlinkClick>
              </a:rPr>
              <a:t>Open complete diagram</a:t>
            </a:r>
            <a:endParaRPr lang="en-US" sz="8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Defense roadmap — show the project as one evidence chain</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next slides use real screenshots from the running local application.</a:t>
            </a:r>
            <a:endParaRPr lang="en-US" sz="1250" dirty="0"/>
          </a:p>
        </p:txBody>
      </p:sp>
      <p:sp>
        <p:nvSpPr>
          <p:cNvPr id="5" name="Shape 3"/>
          <p:cNvSpPr/>
          <p:nvPr/>
        </p:nvSpPr>
        <p:spPr>
          <a:xfrm>
            <a:off x="438912" y="1956816"/>
            <a:ext cx="1344168" cy="2103120"/>
          </a:xfrm>
          <a:prstGeom prst="roundRect">
            <a:avLst>
              <a:gd name="adj" fmla="val 4082"/>
            </a:avLst>
          </a:prstGeom>
          <a:solidFill>
            <a:srgbClr val="FFFFFF"/>
          </a:solidFill>
          <a:ln w="13970">
            <a:solidFill>
              <a:srgbClr val="2F6B3B"/>
            </a:solidFill>
            <a:prstDash val="solid"/>
          </a:ln>
        </p:spPr>
      </p:sp>
      <p:sp>
        <p:nvSpPr>
          <p:cNvPr id="6" name="Shape 4"/>
          <p:cNvSpPr/>
          <p:nvPr/>
        </p:nvSpPr>
        <p:spPr>
          <a:xfrm>
            <a:off x="859536" y="2258568"/>
            <a:ext cx="502920" cy="502920"/>
          </a:xfrm>
          <a:prstGeom prst="ellipse">
            <a:avLst/>
          </a:prstGeom>
          <a:solidFill>
            <a:srgbClr val="2F6B3B"/>
          </a:solidFill>
          <a:ln w="12700">
            <a:solidFill>
              <a:srgbClr val="2F6B3B"/>
            </a:solidFill>
            <a:prstDash val="solid"/>
          </a:ln>
        </p:spPr>
      </p:sp>
      <p:sp>
        <p:nvSpPr>
          <p:cNvPr id="7" name="Text 5"/>
          <p:cNvSpPr/>
          <p:nvPr/>
        </p:nvSpPr>
        <p:spPr>
          <a:xfrm>
            <a:off x="859536" y="2395728"/>
            <a:ext cx="502920" cy="146304"/>
          </a:xfrm>
          <a:prstGeom prst="rect">
            <a:avLst/>
          </a:prstGeom>
          <a:noFill/>
          <a:ln/>
        </p:spPr>
        <p:txBody>
          <a:bodyPr wrap="square" lIns="0" tIns="0" rIns="0" bIns="0" rtlCol="0" anchor="ctr"/>
          <a:lstStyle/>
          <a:p>
            <a:pPr algn="ctr" indent="0" marL="0">
              <a:buNone/>
            </a:pPr>
            <a:r>
              <a:rPr lang="en-US" sz="1000" b="1" dirty="0">
                <a:solidFill>
                  <a:srgbClr val="FFFFFF"/>
                </a:solidFill>
              </a:rPr>
              <a:t>01</a:t>
            </a:r>
            <a:endParaRPr lang="en-US" sz="1000" dirty="0"/>
          </a:p>
        </p:txBody>
      </p:sp>
      <p:sp>
        <p:nvSpPr>
          <p:cNvPr id="8" name="Text 6"/>
          <p:cNvSpPr/>
          <p:nvPr/>
        </p:nvSpPr>
        <p:spPr>
          <a:xfrm>
            <a:off x="576072" y="2999232"/>
            <a:ext cx="1069848" cy="182880"/>
          </a:xfrm>
          <a:prstGeom prst="rect">
            <a:avLst/>
          </a:prstGeom>
          <a:noFill/>
          <a:ln/>
        </p:spPr>
        <p:txBody>
          <a:bodyPr wrap="square" lIns="0" tIns="0" rIns="0" bIns="0" rtlCol="0" anchor="ctr">
            <a:normAutofit/>
          </a:bodyPr>
          <a:lstStyle/>
          <a:p>
            <a:pPr algn="ctr" indent="0" marL="0">
              <a:buNone/>
            </a:pPr>
            <a:r>
              <a:rPr lang="en-US" sz="1050" b="1" dirty="0">
                <a:solidFill>
                  <a:srgbClr val="163B27"/>
                </a:solidFill>
              </a:rPr>
              <a:t>REGISTER</a:t>
            </a:r>
            <a:endParaRPr lang="en-US" sz="1050" dirty="0"/>
          </a:p>
        </p:txBody>
      </p:sp>
      <p:sp>
        <p:nvSpPr>
          <p:cNvPr id="9" name="Text 7"/>
          <p:cNvSpPr/>
          <p:nvPr/>
        </p:nvSpPr>
        <p:spPr>
          <a:xfrm>
            <a:off x="585216" y="3401568"/>
            <a:ext cx="1051560" cy="384048"/>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Boundary + field type</a:t>
            </a:r>
            <a:endParaRPr lang="en-US" sz="950" dirty="0"/>
          </a:p>
        </p:txBody>
      </p:sp>
      <p:sp>
        <p:nvSpPr>
          <p:cNvPr id="10" name="Shape 8"/>
          <p:cNvSpPr/>
          <p:nvPr/>
        </p:nvSpPr>
        <p:spPr>
          <a:xfrm>
            <a:off x="1837944" y="2752344"/>
            <a:ext cx="201168" cy="384048"/>
          </a:xfrm>
          <a:prstGeom prst="chevron">
            <a:avLst/>
          </a:prstGeom>
          <a:solidFill>
            <a:srgbClr val="D6DED4"/>
          </a:solidFill>
          <a:ln w="12700">
            <a:solidFill>
              <a:srgbClr val="D6DED4"/>
            </a:solidFill>
            <a:prstDash val="solid"/>
          </a:ln>
        </p:spPr>
      </p:sp>
      <p:sp>
        <p:nvSpPr>
          <p:cNvPr id="11" name="Shape 9"/>
          <p:cNvSpPr/>
          <p:nvPr/>
        </p:nvSpPr>
        <p:spPr>
          <a:xfrm>
            <a:off x="2103120" y="1956816"/>
            <a:ext cx="1344168" cy="2103120"/>
          </a:xfrm>
          <a:prstGeom prst="roundRect">
            <a:avLst>
              <a:gd name="adj" fmla="val 4082"/>
            </a:avLst>
          </a:prstGeom>
          <a:solidFill>
            <a:srgbClr val="FFFFFF"/>
          </a:solidFill>
          <a:ln w="13970">
            <a:solidFill>
              <a:srgbClr val="527A68"/>
            </a:solidFill>
            <a:prstDash val="solid"/>
          </a:ln>
        </p:spPr>
      </p:sp>
      <p:sp>
        <p:nvSpPr>
          <p:cNvPr id="12" name="Shape 10"/>
          <p:cNvSpPr/>
          <p:nvPr/>
        </p:nvSpPr>
        <p:spPr>
          <a:xfrm>
            <a:off x="2523744" y="2258568"/>
            <a:ext cx="502920" cy="502920"/>
          </a:xfrm>
          <a:prstGeom prst="ellipse">
            <a:avLst/>
          </a:prstGeom>
          <a:solidFill>
            <a:srgbClr val="527A68"/>
          </a:solidFill>
          <a:ln w="12700">
            <a:solidFill>
              <a:srgbClr val="527A68"/>
            </a:solidFill>
            <a:prstDash val="solid"/>
          </a:ln>
        </p:spPr>
      </p:sp>
      <p:sp>
        <p:nvSpPr>
          <p:cNvPr id="13" name="Text 11"/>
          <p:cNvSpPr/>
          <p:nvPr/>
        </p:nvSpPr>
        <p:spPr>
          <a:xfrm>
            <a:off x="2523744" y="2395728"/>
            <a:ext cx="502920" cy="146304"/>
          </a:xfrm>
          <a:prstGeom prst="rect">
            <a:avLst/>
          </a:prstGeom>
          <a:noFill/>
          <a:ln/>
        </p:spPr>
        <p:txBody>
          <a:bodyPr wrap="square" lIns="0" tIns="0" rIns="0" bIns="0" rtlCol="0" anchor="ctr"/>
          <a:lstStyle/>
          <a:p>
            <a:pPr algn="ctr" indent="0" marL="0">
              <a:buNone/>
            </a:pPr>
            <a:r>
              <a:rPr lang="en-US" sz="1000" b="1" dirty="0">
                <a:solidFill>
                  <a:srgbClr val="FFFFFF"/>
                </a:solidFill>
              </a:rPr>
              <a:t>02</a:t>
            </a:r>
            <a:endParaRPr lang="en-US" sz="1000" dirty="0"/>
          </a:p>
        </p:txBody>
      </p:sp>
      <p:sp>
        <p:nvSpPr>
          <p:cNvPr id="14" name="Text 12"/>
          <p:cNvSpPr/>
          <p:nvPr/>
        </p:nvSpPr>
        <p:spPr>
          <a:xfrm>
            <a:off x="2240280" y="2999232"/>
            <a:ext cx="1069848" cy="182880"/>
          </a:xfrm>
          <a:prstGeom prst="rect">
            <a:avLst/>
          </a:prstGeom>
          <a:noFill/>
          <a:ln/>
        </p:spPr>
        <p:txBody>
          <a:bodyPr wrap="square" lIns="0" tIns="0" rIns="0" bIns="0" rtlCol="0" anchor="ctr">
            <a:normAutofit/>
          </a:bodyPr>
          <a:lstStyle/>
          <a:p>
            <a:pPr algn="ctr" indent="0" marL="0">
              <a:buNone/>
            </a:pPr>
            <a:r>
              <a:rPr lang="en-US" sz="1050" b="1" dirty="0">
                <a:solidFill>
                  <a:srgbClr val="163B27"/>
                </a:solidFill>
              </a:rPr>
              <a:t>COLLECT</a:t>
            </a:r>
            <a:endParaRPr lang="en-US" sz="1050" dirty="0"/>
          </a:p>
        </p:txBody>
      </p:sp>
      <p:sp>
        <p:nvSpPr>
          <p:cNvPr id="15" name="Text 13"/>
          <p:cNvSpPr/>
          <p:nvPr/>
        </p:nvSpPr>
        <p:spPr>
          <a:xfrm>
            <a:off x="2249424" y="3401568"/>
            <a:ext cx="1051560" cy="384048"/>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SAR or ALM evidence</a:t>
            </a:r>
            <a:endParaRPr lang="en-US" sz="950" dirty="0"/>
          </a:p>
        </p:txBody>
      </p:sp>
      <p:sp>
        <p:nvSpPr>
          <p:cNvPr id="16" name="Shape 14"/>
          <p:cNvSpPr/>
          <p:nvPr/>
        </p:nvSpPr>
        <p:spPr>
          <a:xfrm>
            <a:off x="3502152" y="2752344"/>
            <a:ext cx="201168" cy="384048"/>
          </a:xfrm>
          <a:prstGeom prst="chevron">
            <a:avLst/>
          </a:prstGeom>
          <a:solidFill>
            <a:srgbClr val="D6DED4"/>
          </a:solidFill>
          <a:ln w="12700">
            <a:solidFill>
              <a:srgbClr val="D6DED4"/>
            </a:solidFill>
            <a:prstDash val="solid"/>
          </a:ln>
        </p:spPr>
      </p:sp>
      <p:sp>
        <p:nvSpPr>
          <p:cNvPr id="17" name="Shape 15"/>
          <p:cNvSpPr/>
          <p:nvPr/>
        </p:nvSpPr>
        <p:spPr>
          <a:xfrm>
            <a:off x="3767328" y="1956816"/>
            <a:ext cx="1344168" cy="2103120"/>
          </a:xfrm>
          <a:prstGeom prst="roundRect">
            <a:avLst>
              <a:gd name="adj" fmla="val 4082"/>
            </a:avLst>
          </a:prstGeom>
          <a:solidFill>
            <a:srgbClr val="FFFFFF"/>
          </a:solidFill>
          <a:ln w="13970">
            <a:solidFill>
              <a:srgbClr val="6F7D43"/>
            </a:solidFill>
            <a:prstDash val="solid"/>
          </a:ln>
        </p:spPr>
      </p:sp>
      <p:sp>
        <p:nvSpPr>
          <p:cNvPr id="18" name="Shape 16"/>
          <p:cNvSpPr/>
          <p:nvPr/>
        </p:nvSpPr>
        <p:spPr>
          <a:xfrm>
            <a:off x="4187952" y="2258568"/>
            <a:ext cx="502920" cy="502920"/>
          </a:xfrm>
          <a:prstGeom prst="ellipse">
            <a:avLst/>
          </a:prstGeom>
          <a:solidFill>
            <a:srgbClr val="6F7D43"/>
          </a:solidFill>
          <a:ln w="12700">
            <a:solidFill>
              <a:srgbClr val="6F7D43"/>
            </a:solidFill>
            <a:prstDash val="solid"/>
          </a:ln>
        </p:spPr>
      </p:sp>
      <p:sp>
        <p:nvSpPr>
          <p:cNvPr id="19" name="Text 17"/>
          <p:cNvSpPr/>
          <p:nvPr/>
        </p:nvSpPr>
        <p:spPr>
          <a:xfrm>
            <a:off x="4187952" y="2395728"/>
            <a:ext cx="502920" cy="146304"/>
          </a:xfrm>
          <a:prstGeom prst="rect">
            <a:avLst/>
          </a:prstGeom>
          <a:noFill/>
          <a:ln/>
        </p:spPr>
        <p:txBody>
          <a:bodyPr wrap="square" lIns="0" tIns="0" rIns="0" bIns="0" rtlCol="0" anchor="ctr"/>
          <a:lstStyle/>
          <a:p>
            <a:pPr algn="ctr" indent="0" marL="0">
              <a:buNone/>
            </a:pPr>
            <a:r>
              <a:rPr lang="en-US" sz="1000" b="1" dirty="0">
                <a:solidFill>
                  <a:srgbClr val="FFFFFF"/>
                </a:solidFill>
              </a:rPr>
              <a:t>03</a:t>
            </a:r>
            <a:endParaRPr lang="en-US" sz="1000" dirty="0"/>
          </a:p>
        </p:txBody>
      </p:sp>
      <p:sp>
        <p:nvSpPr>
          <p:cNvPr id="20" name="Text 18"/>
          <p:cNvSpPr/>
          <p:nvPr/>
        </p:nvSpPr>
        <p:spPr>
          <a:xfrm>
            <a:off x="3904488" y="2999232"/>
            <a:ext cx="1069848" cy="182880"/>
          </a:xfrm>
          <a:prstGeom prst="rect">
            <a:avLst/>
          </a:prstGeom>
          <a:noFill/>
          <a:ln/>
        </p:spPr>
        <p:txBody>
          <a:bodyPr wrap="square" lIns="0" tIns="0" rIns="0" bIns="0" rtlCol="0" anchor="ctr">
            <a:normAutofit/>
          </a:bodyPr>
          <a:lstStyle/>
          <a:p>
            <a:pPr algn="ctr" indent="0" marL="0">
              <a:buNone/>
            </a:pPr>
            <a:r>
              <a:rPr lang="en-US" sz="1050" b="1" dirty="0">
                <a:solidFill>
                  <a:srgbClr val="163B27"/>
                </a:solidFill>
              </a:rPr>
              <a:t>VALIDATE</a:t>
            </a:r>
            <a:endParaRPr lang="en-US" sz="1050" dirty="0"/>
          </a:p>
        </p:txBody>
      </p:sp>
      <p:sp>
        <p:nvSpPr>
          <p:cNvPr id="21" name="Text 19"/>
          <p:cNvSpPr/>
          <p:nvPr/>
        </p:nvSpPr>
        <p:spPr>
          <a:xfrm>
            <a:off x="3913632" y="3401568"/>
            <a:ext cx="1051560" cy="384048"/>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Rules + optional AI</a:t>
            </a:r>
            <a:endParaRPr lang="en-US" sz="950" dirty="0"/>
          </a:p>
        </p:txBody>
      </p:sp>
      <p:sp>
        <p:nvSpPr>
          <p:cNvPr id="22" name="Shape 20"/>
          <p:cNvSpPr/>
          <p:nvPr/>
        </p:nvSpPr>
        <p:spPr>
          <a:xfrm>
            <a:off x="5166360" y="2752344"/>
            <a:ext cx="201168" cy="384048"/>
          </a:xfrm>
          <a:prstGeom prst="chevron">
            <a:avLst/>
          </a:prstGeom>
          <a:solidFill>
            <a:srgbClr val="D6DED4"/>
          </a:solidFill>
          <a:ln w="12700">
            <a:solidFill>
              <a:srgbClr val="D6DED4"/>
            </a:solidFill>
            <a:prstDash val="solid"/>
          </a:ln>
        </p:spPr>
      </p:sp>
      <p:sp>
        <p:nvSpPr>
          <p:cNvPr id="23" name="Shape 21"/>
          <p:cNvSpPr/>
          <p:nvPr/>
        </p:nvSpPr>
        <p:spPr>
          <a:xfrm>
            <a:off x="5431536" y="1956816"/>
            <a:ext cx="1344168" cy="2103120"/>
          </a:xfrm>
          <a:prstGeom prst="roundRect">
            <a:avLst>
              <a:gd name="adj" fmla="val 4082"/>
            </a:avLst>
          </a:prstGeom>
          <a:solidFill>
            <a:srgbClr val="FFFFFF"/>
          </a:solidFill>
          <a:ln w="13970">
            <a:solidFill>
              <a:srgbClr val="B08A4F"/>
            </a:solidFill>
            <a:prstDash val="solid"/>
          </a:ln>
        </p:spPr>
      </p:sp>
      <p:sp>
        <p:nvSpPr>
          <p:cNvPr id="24" name="Shape 22"/>
          <p:cNvSpPr/>
          <p:nvPr/>
        </p:nvSpPr>
        <p:spPr>
          <a:xfrm>
            <a:off x="5852160" y="2258568"/>
            <a:ext cx="502920" cy="502920"/>
          </a:xfrm>
          <a:prstGeom prst="ellipse">
            <a:avLst/>
          </a:prstGeom>
          <a:solidFill>
            <a:srgbClr val="B08A4F"/>
          </a:solidFill>
          <a:ln w="12700">
            <a:solidFill>
              <a:srgbClr val="B08A4F"/>
            </a:solidFill>
            <a:prstDash val="solid"/>
          </a:ln>
        </p:spPr>
      </p:sp>
      <p:sp>
        <p:nvSpPr>
          <p:cNvPr id="25" name="Text 23"/>
          <p:cNvSpPr/>
          <p:nvPr/>
        </p:nvSpPr>
        <p:spPr>
          <a:xfrm>
            <a:off x="5852160" y="2395728"/>
            <a:ext cx="502920" cy="146304"/>
          </a:xfrm>
          <a:prstGeom prst="rect">
            <a:avLst/>
          </a:prstGeom>
          <a:noFill/>
          <a:ln/>
        </p:spPr>
        <p:txBody>
          <a:bodyPr wrap="square" lIns="0" tIns="0" rIns="0" bIns="0" rtlCol="0" anchor="ctr"/>
          <a:lstStyle/>
          <a:p>
            <a:pPr algn="ctr" indent="0" marL="0">
              <a:buNone/>
            </a:pPr>
            <a:r>
              <a:rPr lang="en-US" sz="1000" b="1" dirty="0">
                <a:solidFill>
                  <a:srgbClr val="FFFFFF"/>
                </a:solidFill>
              </a:rPr>
              <a:t>04</a:t>
            </a:r>
            <a:endParaRPr lang="en-US" sz="1000" dirty="0"/>
          </a:p>
        </p:txBody>
      </p:sp>
      <p:sp>
        <p:nvSpPr>
          <p:cNvPr id="26" name="Text 24"/>
          <p:cNvSpPr/>
          <p:nvPr/>
        </p:nvSpPr>
        <p:spPr>
          <a:xfrm>
            <a:off x="5568696" y="2999232"/>
            <a:ext cx="1069848" cy="182880"/>
          </a:xfrm>
          <a:prstGeom prst="rect">
            <a:avLst/>
          </a:prstGeom>
          <a:noFill/>
          <a:ln/>
        </p:spPr>
        <p:txBody>
          <a:bodyPr wrap="square" lIns="0" tIns="0" rIns="0" bIns="0" rtlCol="0" anchor="ctr">
            <a:normAutofit/>
          </a:bodyPr>
          <a:lstStyle/>
          <a:p>
            <a:pPr algn="ctr" indent="0" marL="0">
              <a:buNone/>
            </a:pPr>
            <a:r>
              <a:rPr lang="en-US" sz="1050" b="1" dirty="0">
                <a:solidFill>
                  <a:srgbClr val="163B27"/>
                </a:solidFill>
              </a:rPr>
              <a:t>CALCULATE</a:t>
            </a:r>
            <a:endParaRPr lang="en-US" sz="1050" dirty="0"/>
          </a:p>
        </p:txBody>
      </p:sp>
      <p:sp>
        <p:nvSpPr>
          <p:cNvPr id="27" name="Text 25"/>
          <p:cNvSpPr/>
          <p:nvPr/>
        </p:nvSpPr>
        <p:spPr>
          <a:xfrm>
            <a:off x="5577840" y="3401568"/>
            <a:ext cx="1051560" cy="384048"/>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VM0051 / VM0042</a:t>
            </a:r>
            <a:endParaRPr lang="en-US" sz="950" dirty="0"/>
          </a:p>
        </p:txBody>
      </p:sp>
      <p:sp>
        <p:nvSpPr>
          <p:cNvPr id="28" name="Shape 26"/>
          <p:cNvSpPr/>
          <p:nvPr/>
        </p:nvSpPr>
        <p:spPr>
          <a:xfrm>
            <a:off x="6830568" y="2752344"/>
            <a:ext cx="201168" cy="384048"/>
          </a:xfrm>
          <a:prstGeom prst="chevron">
            <a:avLst/>
          </a:prstGeom>
          <a:solidFill>
            <a:srgbClr val="D6DED4"/>
          </a:solidFill>
          <a:ln w="12700">
            <a:solidFill>
              <a:srgbClr val="D6DED4"/>
            </a:solidFill>
            <a:prstDash val="solid"/>
          </a:ln>
        </p:spPr>
      </p:sp>
      <p:sp>
        <p:nvSpPr>
          <p:cNvPr id="29" name="Shape 27"/>
          <p:cNvSpPr/>
          <p:nvPr/>
        </p:nvSpPr>
        <p:spPr>
          <a:xfrm>
            <a:off x="7095744" y="1956816"/>
            <a:ext cx="1344168" cy="2103120"/>
          </a:xfrm>
          <a:prstGeom prst="roundRect">
            <a:avLst>
              <a:gd name="adj" fmla="val 4082"/>
            </a:avLst>
          </a:prstGeom>
          <a:solidFill>
            <a:srgbClr val="FFFFFF"/>
          </a:solidFill>
          <a:ln w="13970">
            <a:solidFill>
              <a:srgbClr val="956156"/>
            </a:solidFill>
            <a:prstDash val="solid"/>
          </a:ln>
        </p:spPr>
      </p:sp>
      <p:sp>
        <p:nvSpPr>
          <p:cNvPr id="30" name="Shape 28"/>
          <p:cNvSpPr/>
          <p:nvPr/>
        </p:nvSpPr>
        <p:spPr>
          <a:xfrm>
            <a:off x="7516368" y="2258568"/>
            <a:ext cx="502920" cy="502920"/>
          </a:xfrm>
          <a:prstGeom prst="ellipse">
            <a:avLst/>
          </a:prstGeom>
          <a:solidFill>
            <a:srgbClr val="956156"/>
          </a:solidFill>
          <a:ln w="12700">
            <a:solidFill>
              <a:srgbClr val="956156"/>
            </a:solidFill>
            <a:prstDash val="solid"/>
          </a:ln>
        </p:spPr>
      </p:sp>
      <p:sp>
        <p:nvSpPr>
          <p:cNvPr id="31" name="Text 29"/>
          <p:cNvSpPr/>
          <p:nvPr/>
        </p:nvSpPr>
        <p:spPr>
          <a:xfrm>
            <a:off x="7516368" y="2395728"/>
            <a:ext cx="502920" cy="146304"/>
          </a:xfrm>
          <a:prstGeom prst="rect">
            <a:avLst/>
          </a:prstGeom>
          <a:noFill/>
          <a:ln/>
        </p:spPr>
        <p:txBody>
          <a:bodyPr wrap="square" lIns="0" tIns="0" rIns="0" bIns="0" rtlCol="0" anchor="ctr"/>
          <a:lstStyle/>
          <a:p>
            <a:pPr algn="ctr" indent="0" marL="0">
              <a:buNone/>
            </a:pPr>
            <a:r>
              <a:rPr lang="en-US" sz="1000" b="1" dirty="0">
                <a:solidFill>
                  <a:srgbClr val="FFFFFF"/>
                </a:solidFill>
              </a:rPr>
              <a:t>05</a:t>
            </a:r>
            <a:endParaRPr lang="en-US" sz="1000" dirty="0"/>
          </a:p>
        </p:txBody>
      </p:sp>
      <p:sp>
        <p:nvSpPr>
          <p:cNvPr id="32" name="Text 30"/>
          <p:cNvSpPr/>
          <p:nvPr/>
        </p:nvSpPr>
        <p:spPr>
          <a:xfrm>
            <a:off x="7232904" y="2999232"/>
            <a:ext cx="1069848" cy="182880"/>
          </a:xfrm>
          <a:prstGeom prst="rect">
            <a:avLst/>
          </a:prstGeom>
          <a:noFill/>
          <a:ln/>
        </p:spPr>
        <p:txBody>
          <a:bodyPr wrap="square" lIns="0" tIns="0" rIns="0" bIns="0" rtlCol="0" anchor="ctr">
            <a:normAutofit/>
          </a:bodyPr>
          <a:lstStyle/>
          <a:p>
            <a:pPr algn="ctr" indent="0" marL="0">
              <a:buNone/>
            </a:pPr>
            <a:r>
              <a:rPr lang="en-US" sz="1050" b="1" dirty="0">
                <a:solidFill>
                  <a:srgbClr val="163B27"/>
                </a:solidFill>
              </a:rPr>
              <a:t>EXPLAIN</a:t>
            </a:r>
            <a:endParaRPr lang="en-US" sz="1050" dirty="0"/>
          </a:p>
        </p:txBody>
      </p:sp>
      <p:sp>
        <p:nvSpPr>
          <p:cNvPr id="33" name="Text 31"/>
          <p:cNvSpPr/>
          <p:nvPr/>
        </p:nvSpPr>
        <p:spPr>
          <a:xfrm>
            <a:off x="7242048" y="3401568"/>
            <a:ext cx="1051560" cy="384048"/>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Audit trail + warnings</a:t>
            </a:r>
            <a:endParaRPr lang="en-US" sz="950" dirty="0"/>
          </a:p>
        </p:txBody>
      </p:sp>
      <p:sp>
        <p:nvSpPr>
          <p:cNvPr id="34" name="Shape 32"/>
          <p:cNvSpPr/>
          <p:nvPr/>
        </p:nvSpPr>
        <p:spPr>
          <a:xfrm>
            <a:off x="8494776" y="2752344"/>
            <a:ext cx="201168" cy="384048"/>
          </a:xfrm>
          <a:prstGeom prst="chevron">
            <a:avLst/>
          </a:prstGeom>
          <a:solidFill>
            <a:srgbClr val="D6DED4"/>
          </a:solidFill>
          <a:ln w="12700">
            <a:solidFill>
              <a:srgbClr val="D6DED4"/>
            </a:solidFill>
            <a:prstDash val="solid"/>
          </a:ln>
        </p:spPr>
      </p:sp>
      <p:sp>
        <p:nvSpPr>
          <p:cNvPr id="35" name="Shape 33"/>
          <p:cNvSpPr/>
          <p:nvPr/>
        </p:nvSpPr>
        <p:spPr>
          <a:xfrm>
            <a:off x="8759952" y="1956816"/>
            <a:ext cx="1344168" cy="2103120"/>
          </a:xfrm>
          <a:prstGeom prst="roundRect">
            <a:avLst>
              <a:gd name="adj" fmla="val 4082"/>
            </a:avLst>
          </a:prstGeom>
          <a:solidFill>
            <a:srgbClr val="FFFFFF"/>
          </a:solidFill>
          <a:ln w="13970">
            <a:solidFill>
              <a:srgbClr val="2F6B3B"/>
            </a:solidFill>
            <a:prstDash val="solid"/>
          </a:ln>
        </p:spPr>
      </p:sp>
      <p:sp>
        <p:nvSpPr>
          <p:cNvPr id="36" name="Shape 34"/>
          <p:cNvSpPr/>
          <p:nvPr/>
        </p:nvSpPr>
        <p:spPr>
          <a:xfrm>
            <a:off x="9180576" y="2258568"/>
            <a:ext cx="502920" cy="502920"/>
          </a:xfrm>
          <a:prstGeom prst="ellipse">
            <a:avLst/>
          </a:prstGeom>
          <a:solidFill>
            <a:srgbClr val="2F6B3B"/>
          </a:solidFill>
          <a:ln w="12700">
            <a:solidFill>
              <a:srgbClr val="2F6B3B"/>
            </a:solidFill>
            <a:prstDash val="solid"/>
          </a:ln>
        </p:spPr>
      </p:sp>
      <p:sp>
        <p:nvSpPr>
          <p:cNvPr id="37" name="Text 35"/>
          <p:cNvSpPr/>
          <p:nvPr/>
        </p:nvSpPr>
        <p:spPr>
          <a:xfrm>
            <a:off x="9180576" y="2395728"/>
            <a:ext cx="502920" cy="146304"/>
          </a:xfrm>
          <a:prstGeom prst="rect">
            <a:avLst/>
          </a:prstGeom>
          <a:noFill/>
          <a:ln/>
        </p:spPr>
        <p:txBody>
          <a:bodyPr wrap="square" lIns="0" tIns="0" rIns="0" bIns="0" rtlCol="0" anchor="ctr"/>
          <a:lstStyle/>
          <a:p>
            <a:pPr algn="ctr" indent="0" marL="0">
              <a:buNone/>
            </a:pPr>
            <a:r>
              <a:rPr lang="en-US" sz="1000" b="1" dirty="0">
                <a:solidFill>
                  <a:srgbClr val="FFFFFF"/>
                </a:solidFill>
              </a:rPr>
              <a:t>06</a:t>
            </a:r>
            <a:endParaRPr lang="en-US" sz="1000" dirty="0"/>
          </a:p>
        </p:txBody>
      </p:sp>
      <p:sp>
        <p:nvSpPr>
          <p:cNvPr id="38" name="Text 36"/>
          <p:cNvSpPr/>
          <p:nvPr/>
        </p:nvSpPr>
        <p:spPr>
          <a:xfrm>
            <a:off x="8897112" y="2999232"/>
            <a:ext cx="1069848" cy="182880"/>
          </a:xfrm>
          <a:prstGeom prst="rect">
            <a:avLst/>
          </a:prstGeom>
          <a:noFill/>
          <a:ln/>
        </p:spPr>
        <p:txBody>
          <a:bodyPr wrap="square" lIns="0" tIns="0" rIns="0" bIns="0" rtlCol="0" anchor="ctr">
            <a:normAutofit/>
          </a:bodyPr>
          <a:lstStyle/>
          <a:p>
            <a:pPr algn="ctr" indent="0" marL="0">
              <a:buNone/>
            </a:pPr>
            <a:r>
              <a:rPr lang="en-US" sz="1050" b="1" dirty="0">
                <a:solidFill>
                  <a:srgbClr val="163B27"/>
                </a:solidFill>
              </a:rPr>
              <a:t>EXPORT</a:t>
            </a:r>
            <a:endParaRPr lang="en-US" sz="1050" dirty="0"/>
          </a:p>
        </p:txBody>
      </p:sp>
      <p:sp>
        <p:nvSpPr>
          <p:cNvPr id="39" name="Text 37"/>
          <p:cNvSpPr/>
          <p:nvPr/>
        </p:nvSpPr>
        <p:spPr>
          <a:xfrm>
            <a:off x="8906256" y="3401568"/>
            <a:ext cx="1051560" cy="384048"/>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PDF • JSON • CSV</a:t>
            </a:r>
            <a:endParaRPr lang="en-US" sz="950" dirty="0"/>
          </a:p>
        </p:txBody>
      </p:sp>
      <p:sp>
        <p:nvSpPr>
          <p:cNvPr id="40" name="Shape 38"/>
          <p:cNvSpPr/>
          <p:nvPr/>
        </p:nvSpPr>
        <p:spPr>
          <a:xfrm>
            <a:off x="10158984" y="2752344"/>
            <a:ext cx="201168" cy="384048"/>
          </a:xfrm>
          <a:prstGeom prst="chevron">
            <a:avLst/>
          </a:prstGeom>
          <a:solidFill>
            <a:srgbClr val="D6DED4"/>
          </a:solidFill>
          <a:ln w="12700">
            <a:solidFill>
              <a:srgbClr val="D6DED4"/>
            </a:solidFill>
            <a:prstDash val="solid"/>
          </a:ln>
        </p:spPr>
      </p:sp>
      <p:sp>
        <p:nvSpPr>
          <p:cNvPr id="41" name="Shape 39"/>
          <p:cNvSpPr/>
          <p:nvPr/>
        </p:nvSpPr>
        <p:spPr>
          <a:xfrm>
            <a:off x="10424160" y="1956816"/>
            <a:ext cx="1344168" cy="2103120"/>
          </a:xfrm>
          <a:prstGeom prst="roundRect">
            <a:avLst>
              <a:gd name="adj" fmla="val 4082"/>
            </a:avLst>
          </a:prstGeom>
          <a:solidFill>
            <a:srgbClr val="FFFFFF"/>
          </a:solidFill>
          <a:ln w="13970">
            <a:solidFill>
              <a:srgbClr val="527A68"/>
            </a:solidFill>
            <a:prstDash val="solid"/>
          </a:ln>
        </p:spPr>
      </p:sp>
      <p:sp>
        <p:nvSpPr>
          <p:cNvPr id="42" name="Shape 40"/>
          <p:cNvSpPr/>
          <p:nvPr/>
        </p:nvSpPr>
        <p:spPr>
          <a:xfrm>
            <a:off x="10844784" y="2258568"/>
            <a:ext cx="502920" cy="502920"/>
          </a:xfrm>
          <a:prstGeom prst="ellipse">
            <a:avLst/>
          </a:prstGeom>
          <a:solidFill>
            <a:srgbClr val="527A68"/>
          </a:solidFill>
          <a:ln w="12700">
            <a:solidFill>
              <a:srgbClr val="527A68"/>
            </a:solidFill>
            <a:prstDash val="solid"/>
          </a:ln>
        </p:spPr>
      </p:sp>
      <p:sp>
        <p:nvSpPr>
          <p:cNvPr id="43" name="Text 41"/>
          <p:cNvSpPr/>
          <p:nvPr/>
        </p:nvSpPr>
        <p:spPr>
          <a:xfrm>
            <a:off x="10844784" y="2395728"/>
            <a:ext cx="502920" cy="146304"/>
          </a:xfrm>
          <a:prstGeom prst="rect">
            <a:avLst/>
          </a:prstGeom>
          <a:noFill/>
          <a:ln/>
        </p:spPr>
        <p:txBody>
          <a:bodyPr wrap="square" lIns="0" tIns="0" rIns="0" bIns="0" rtlCol="0" anchor="ctr"/>
          <a:lstStyle/>
          <a:p>
            <a:pPr algn="ctr" indent="0" marL="0">
              <a:buNone/>
            </a:pPr>
            <a:r>
              <a:rPr lang="en-US" sz="1000" b="1" dirty="0">
                <a:solidFill>
                  <a:srgbClr val="FFFFFF"/>
                </a:solidFill>
              </a:rPr>
              <a:t>07</a:t>
            </a:r>
            <a:endParaRPr lang="en-US" sz="1000" dirty="0"/>
          </a:p>
        </p:txBody>
      </p:sp>
      <p:sp>
        <p:nvSpPr>
          <p:cNvPr id="44" name="Text 42"/>
          <p:cNvSpPr/>
          <p:nvPr/>
        </p:nvSpPr>
        <p:spPr>
          <a:xfrm>
            <a:off x="10561320" y="2999232"/>
            <a:ext cx="1069848" cy="182880"/>
          </a:xfrm>
          <a:prstGeom prst="rect">
            <a:avLst/>
          </a:prstGeom>
          <a:noFill/>
          <a:ln/>
        </p:spPr>
        <p:txBody>
          <a:bodyPr wrap="square" lIns="0" tIns="0" rIns="0" bIns="0" rtlCol="0" anchor="ctr">
            <a:normAutofit/>
          </a:bodyPr>
          <a:lstStyle/>
          <a:p>
            <a:pPr algn="ctr" indent="0" marL="0">
              <a:buNone/>
            </a:pPr>
            <a:r>
              <a:rPr lang="en-US" sz="1050" b="1" dirty="0">
                <a:solidFill>
                  <a:srgbClr val="163B27"/>
                </a:solidFill>
              </a:rPr>
              <a:t>REVIEW</a:t>
            </a:r>
            <a:endParaRPr lang="en-US" sz="1050" dirty="0"/>
          </a:p>
        </p:txBody>
      </p:sp>
      <p:sp>
        <p:nvSpPr>
          <p:cNvPr id="45" name="Text 43"/>
          <p:cNvSpPr/>
          <p:nvPr/>
        </p:nvSpPr>
        <p:spPr>
          <a:xfrm>
            <a:off x="10570464" y="3401568"/>
            <a:ext cx="1051560" cy="384048"/>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History + portfolio</a:t>
            </a:r>
            <a:endParaRPr lang="en-US" sz="950" dirty="0"/>
          </a:p>
        </p:txBody>
      </p:sp>
      <p:sp>
        <p:nvSpPr>
          <p:cNvPr id="46" name="Shape 44"/>
          <p:cNvSpPr/>
          <p:nvPr/>
        </p:nvSpPr>
        <p:spPr>
          <a:xfrm>
            <a:off x="1298448" y="4736592"/>
            <a:ext cx="9601200" cy="621792"/>
          </a:xfrm>
          <a:prstGeom prst="roundRect">
            <a:avLst>
              <a:gd name="adj" fmla="val 8824"/>
            </a:avLst>
          </a:prstGeom>
          <a:solidFill>
            <a:srgbClr val="E2EEDF"/>
          </a:solidFill>
          <a:ln w="12700">
            <a:solidFill>
              <a:srgbClr val="2F6B3B"/>
            </a:solidFill>
            <a:prstDash val="solid"/>
          </a:ln>
        </p:spPr>
      </p:sp>
      <p:sp>
        <p:nvSpPr>
          <p:cNvPr id="47" name="Text 45"/>
          <p:cNvSpPr/>
          <p:nvPr/>
        </p:nvSpPr>
        <p:spPr>
          <a:xfrm>
            <a:off x="1463040" y="4855464"/>
            <a:ext cx="9272016" cy="393192"/>
          </a:xfrm>
          <a:prstGeom prst="rect">
            <a:avLst/>
          </a:prstGeom>
          <a:noFill/>
          <a:ln/>
        </p:spPr>
        <p:txBody>
          <a:bodyPr wrap="square" lIns="0" tIns="0" rIns="0" bIns="0" rtlCol="0" anchor="ctr">
            <a:normAutofit/>
          </a:bodyPr>
          <a:lstStyle/>
          <a:p>
            <a:pPr indent="0" marL="0">
              <a:buNone/>
            </a:pPr>
            <a:r>
              <a:rPr lang="en-US" sz="1150" b="1" dirty="0">
                <a:solidFill>
                  <a:srgbClr val="24332A"/>
                </a:solidFill>
              </a:rPr>
              <a:t>Presentation rule: for every screen, explain the user action, the software work, and the evidence or limitation produced.</a:t>
            </a:r>
            <a:endParaRPr lang="en-US" sz="11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Register and select a field</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sidebar is the persistent project registry and the starting point for either methodology.</a:t>
            </a:r>
            <a:endParaRPr lang="en-US" sz="1250" dirty="0"/>
          </a:p>
        </p:txBody>
      </p:sp>
      <p:sp>
        <p:nvSpPr>
          <p:cNvPr id="5" name="Shape 3"/>
          <p:cNvSpPr/>
          <p:nvPr/>
        </p:nvSpPr>
        <p:spPr>
          <a:xfrm>
            <a:off x="9802368" y="347472"/>
            <a:ext cx="1783080" cy="393192"/>
          </a:xfrm>
          <a:prstGeom prst="roundRect">
            <a:avLst>
              <a:gd name="adj" fmla="val 11628"/>
            </a:avLst>
          </a:prstGeom>
          <a:solidFill>
            <a:srgbClr val="2F6B3B"/>
          </a:solidFill>
          <a:ln w="12700">
            <a:solidFill>
              <a:srgbClr val="2F6B3B"/>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1  •  SHARED</a:t>
            </a:r>
            <a:endParaRPr lang="en-US" sz="850" dirty="0"/>
          </a:p>
        </p:txBody>
      </p:sp>
      <p:sp>
        <p:nvSpPr>
          <p:cNvPr id="7" name="Shape 5"/>
          <p:cNvSpPr/>
          <p:nvPr/>
        </p:nvSpPr>
        <p:spPr>
          <a:xfrm>
            <a:off x="658368" y="1389888"/>
            <a:ext cx="10881360"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01_field_registry.png">    </p:cNvPr>
          <p:cNvPicPr>
            <a:picLocks noChangeAspect="1"/>
          </p:cNvPicPr>
          <p:nvPr/>
        </p:nvPicPr>
        <p:blipFill>
          <a:blip r:embed="rId1"/>
          <a:stretch>
            <a:fillRect/>
          </a:stretch>
        </p:blipFill>
        <p:spPr>
          <a:xfrm>
            <a:off x="3180283" y="1499616"/>
            <a:ext cx="5837530" cy="3648456"/>
          </a:xfrm>
          <a:prstGeom prst="rect">
            <a:avLst/>
          </a:prstGeom>
        </p:spPr>
      </p:pic>
      <p:sp>
        <p:nvSpPr>
          <p:cNvPr id="9" name="Text 6"/>
          <p:cNvSpPr/>
          <p:nvPr/>
        </p:nvSpPr>
        <p:spPr>
          <a:xfrm>
            <a:off x="804672" y="5202936"/>
            <a:ext cx="1058875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application screen — field registry and selected field</a:t>
            </a:r>
            <a:endParaRPr lang="en-US" sz="950" dirty="0"/>
          </a:p>
        </p:txBody>
      </p:sp>
      <p:sp>
        <p:nvSpPr>
          <p:cNvPr id="10" name="Shape 7"/>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1" name="Text 8"/>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2" name="Text 9"/>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Choose an existing field or start registration.</a:t>
            </a:r>
            <a:endParaRPr lang="en-US" sz="1080" dirty="0"/>
          </a:p>
        </p:txBody>
      </p:sp>
      <p:sp>
        <p:nvSpPr>
          <p:cNvPr id="13" name="Shape 10"/>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4" name="Text 11"/>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5" name="Text 12"/>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Load geometry, metadata, field type and stored evidence by field_id.</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Create a valid spatial boundary</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Terra-Audit supports file upload and direct coordinate input; geometry is validated before persistence.</a:t>
            </a:r>
            <a:endParaRPr lang="en-US" sz="1250" dirty="0"/>
          </a:p>
        </p:txBody>
      </p:sp>
      <p:sp>
        <p:nvSpPr>
          <p:cNvPr id="5" name="Shape 3"/>
          <p:cNvSpPr/>
          <p:nvPr/>
        </p:nvSpPr>
        <p:spPr>
          <a:xfrm>
            <a:off x="9802368" y="347472"/>
            <a:ext cx="1783080" cy="393192"/>
          </a:xfrm>
          <a:prstGeom prst="roundRect">
            <a:avLst>
              <a:gd name="adj" fmla="val 11628"/>
            </a:avLst>
          </a:prstGeom>
          <a:solidFill>
            <a:srgbClr val="2F6B3B"/>
          </a:solidFill>
          <a:ln w="12700">
            <a:solidFill>
              <a:srgbClr val="2F6B3B"/>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2  •  SHARED</a:t>
            </a:r>
            <a:endParaRPr lang="en-US" sz="850" dirty="0"/>
          </a:p>
        </p:txBody>
      </p:sp>
      <p:sp>
        <p:nvSpPr>
          <p:cNvPr id="7" name="Shape 5"/>
          <p:cNvSpPr/>
          <p:nvPr/>
        </p:nvSpPr>
        <p:spPr>
          <a:xfrm>
            <a:off x="530352" y="1389888"/>
            <a:ext cx="5513832"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02_upload_boundary.png">    </p:cNvPr>
          <p:cNvPicPr>
            <a:picLocks noChangeAspect="1"/>
          </p:cNvPicPr>
          <p:nvPr/>
        </p:nvPicPr>
        <p:blipFill>
          <a:blip r:embed="rId1"/>
          <a:stretch>
            <a:fillRect/>
          </a:stretch>
        </p:blipFill>
        <p:spPr>
          <a:xfrm>
            <a:off x="640080" y="1669352"/>
            <a:ext cx="5294376" cy="3308985"/>
          </a:xfrm>
          <a:prstGeom prst="rect">
            <a:avLst/>
          </a:prstGeom>
        </p:spPr>
      </p:pic>
      <p:sp>
        <p:nvSpPr>
          <p:cNvPr id="9" name="Text 6"/>
          <p:cNvSpPr/>
          <p:nvPr/>
        </p:nvSpPr>
        <p:spPr>
          <a:xfrm>
            <a:off x="67665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Upload GeoJSON / KML</a:t>
            </a:r>
            <a:endParaRPr lang="en-US" sz="950" dirty="0"/>
          </a:p>
        </p:txBody>
      </p:sp>
      <p:sp>
        <p:nvSpPr>
          <p:cNvPr id="10" name="Shape 7"/>
          <p:cNvSpPr/>
          <p:nvPr/>
        </p:nvSpPr>
        <p:spPr>
          <a:xfrm>
            <a:off x="6153912" y="1389888"/>
            <a:ext cx="5513832" cy="4087368"/>
          </a:xfrm>
          <a:prstGeom prst="roundRect">
            <a:avLst>
              <a:gd name="adj" fmla="val 783"/>
            </a:avLst>
          </a:prstGeom>
          <a:solidFill>
            <a:srgbClr val="FFFFFF"/>
          </a:solidFill>
          <a:ln w="8255">
            <a:solidFill>
              <a:srgbClr val="D6DED4"/>
            </a:solidFill>
            <a:prstDash val="solid"/>
          </a:ln>
        </p:spPr>
      </p:sp>
      <p:pic>
        <p:nvPicPr>
          <p:cNvPr id="11" name="Image 1" descr="/home/nahid/Desktop/my_project/terra-audit/docs/presentation/assets/demo_steps/step03_geometry_preview_registration.png">    </p:cNvPr>
          <p:cNvPicPr>
            <a:picLocks noChangeAspect="1"/>
          </p:cNvPicPr>
          <p:nvPr/>
        </p:nvPicPr>
        <p:blipFill>
          <a:blip r:embed="rId2"/>
          <a:stretch>
            <a:fillRect/>
          </a:stretch>
        </p:blipFill>
        <p:spPr>
          <a:xfrm>
            <a:off x="6263640" y="1669352"/>
            <a:ext cx="5294376" cy="3308985"/>
          </a:xfrm>
          <a:prstGeom prst="rect">
            <a:avLst/>
          </a:prstGeom>
        </p:spPr>
      </p:pic>
      <p:sp>
        <p:nvSpPr>
          <p:cNvPr id="12" name="Text 8"/>
          <p:cNvSpPr/>
          <p:nvPr/>
        </p:nvSpPr>
        <p:spPr>
          <a:xfrm>
            <a:off x="630021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Paste coordinates and preview the polygon</a:t>
            </a:r>
            <a:endParaRPr lang="en-US" sz="950" dirty="0"/>
          </a:p>
        </p:txBody>
      </p:sp>
      <p:sp>
        <p:nvSpPr>
          <p:cNvPr id="13" name="Shape 9"/>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4" name="Text 10"/>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5" name="Text 11"/>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Upload a boundary or paste latitude/longitude pairs.</a:t>
            </a:r>
            <a:endParaRPr lang="en-US" sz="1080" dirty="0"/>
          </a:p>
        </p:txBody>
      </p:sp>
      <p:sp>
        <p:nvSpPr>
          <p:cNvPr id="16" name="Shape 12"/>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7" name="Text 13"/>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8" name="Text 14"/>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Parse safely, validate the polygon and compute area before save.</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Route the workflow by agricultural project type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Selecting Cropland ALM changes the available evidence and calculation components.</a:t>
            </a:r>
            <a:endParaRPr lang="en-US" sz="1250" dirty="0"/>
          </a:p>
        </p:txBody>
      </p:sp>
      <p:sp>
        <p:nvSpPr>
          <p:cNvPr id="5" name="Shape 3"/>
          <p:cNvSpPr/>
          <p:nvPr/>
        </p:nvSpPr>
        <p:spPr>
          <a:xfrm>
            <a:off x="9802368" y="347472"/>
            <a:ext cx="1783080" cy="393192"/>
          </a:xfrm>
          <a:prstGeom prst="roundRect">
            <a:avLst>
              <a:gd name="adj" fmla="val 11628"/>
            </a:avLst>
          </a:prstGeom>
          <a:solidFill>
            <a:srgbClr val="6F7D43"/>
          </a:solidFill>
          <a:ln w="12700">
            <a:solidFill>
              <a:srgbClr val="6F7D43"/>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3  •  CROPLAND</a:t>
            </a:r>
            <a:endParaRPr lang="en-US" sz="850" dirty="0"/>
          </a:p>
        </p:txBody>
      </p:sp>
      <p:sp>
        <p:nvSpPr>
          <p:cNvPr id="7" name="Shape 5"/>
          <p:cNvSpPr/>
          <p:nvPr/>
        </p:nvSpPr>
        <p:spPr>
          <a:xfrm>
            <a:off x="530352" y="1389888"/>
            <a:ext cx="5513832"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11_cropland_methodology_routing.png">    </p:cNvPr>
          <p:cNvPicPr>
            <a:picLocks noChangeAspect="1"/>
          </p:cNvPicPr>
          <p:nvPr/>
        </p:nvPicPr>
        <p:blipFill>
          <a:blip r:embed="rId1"/>
          <a:stretch>
            <a:fillRect/>
          </a:stretch>
        </p:blipFill>
        <p:spPr>
          <a:xfrm>
            <a:off x="640080" y="1669352"/>
            <a:ext cx="5294376" cy="3308985"/>
          </a:xfrm>
          <a:prstGeom prst="rect">
            <a:avLst/>
          </a:prstGeom>
        </p:spPr>
      </p:pic>
      <p:sp>
        <p:nvSpPr>
          <p:cNvPr id="9" name="Text 6"/>
          <p:cNvSpPr/>
          <p:nvPr/>
        </p:nvSpPr>
        <p:spPr>
          <a:xfrm>
            <a:off x="67665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UI — Cropland ALM field selected</a:t>
            </a:r>
            <a:endParaRPr lang="en-US" sz="950" dirty="0"/>
          </a:p>
        </p:txBody>
      </p:sp>
      <p:sp>
        <p:nvSpPr>
          <p:cNvPr id="10" name="Shape 7"/>
          <p:cNvSpPr/>
          <p:nvPr/>
        </p:nvSpPr>
        <p:spPr>
          <a:xfrm>
            <a:off x="6153912" y="1389888"/>
            <a:ext cx="5513832" cy="4087368"/>
          </a:xfrm>
          <a:prstGeom prst="roundRect">
            <a:avLst>
              <a:gd name="adj" fmla="val 783"/>
            </a:avLst>
          </a:prstGeom>
          <a:solidFill>
            <a:srgbClr val="FFFFFF"/>
          </a:solidFill>
          <a:ln w="8255">
            <a:solidFill>
              <a:srgbClr val="D6DED4"/>
            </a:solidFill>
            <a:prstDash val="solid"/>
          </a:ln>
        </p:spPr>
      </p:sp>
      <p:pic>
        <p:nvPicPr>
          <p:cNvPr id="11" name="Image 1" descr="/home/nahid/Desktop/my_project/terra-audit/docs/presentation/assets/report_v3/fig11.png">    </p:cNvPr>
          <p:cNvPicPr>
            <a:picLocks noChangeAspect="1"/>
          </p:cNvPicPr>
          <p:nvPr/>
        </p:nvPicPr>
        <p:blipFill>
          <a:blip r:embed="rId2"/>
          <a:stretch>
            <a:fillRect/>
          </a:stretch>
        </p:blipFill>
        <p:spPr>
          <a:xfrm>
            <a:off x="6878060" y="1499616"/>
            <a:ext cx="4065536" cy="3648456"/>
          </a:xfrm>
          <a:prstGeom prst="rect">
            <a:avLst/>
          </a:prstGeom>
        </p:spPr>
      </p:pic>
      <p:sp>
        <p:nvSpPr>
          <p:cNvPr id="12" name="Text 8"/>
          <p:cNvSpPr/>
          <p:nvPr/>
        </p:nvSpPr>
        <p:spPr>
          <a:xfrm>
            <a:off x="630021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Cropland ALM use case</a:t>
            </a:r>
            <a:endParaRPr lang="en-US" sz="950" dirty="0"/>
          </a:p>
        </p:txBody>
      </p:sp>
      <p:sp>
        <p:nvSpPr>
          <p:cNvPr id="13" name="Shape 9"/>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4" name="Text 10"/>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5" name="Text 11"/>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Select rice_awd or cropland_alm_vm0042 during registration.</a:t>
            </a:r>
            <a:endParaRPr lang="en-US" sz="1080" dirty="0"/>
          </a:p>
        </p:txBody>
      </p:sp>
      <p:sp>
        <p:nvSpPr>
          <p:cNvPr id="16" name="Shape 12"/>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7" name="Text 13"/>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8" name="Text 14"/>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Dispatch the correct tabs, validators, engine and report content.</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Define the rice monitoring window</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execution scope is explicit so cached observations remain reproducible.</a:t>
            </a:r>
            <a:endParaRPr lang="en-US" sz="1250" dirty="0"/>
          </a:p>
        </p:txBody>
      </p:sp>
      <p:sp>
        <p:nvSpPr>
          <p:cNvPr id="5" name="Shape 3"/>
          <p:cNvSpPr/>
          <p:nvPr/>
        </p:nvSpPr>
        <p:spPr>
          <a:xfrm>
            <a:off x="9802368" y="347472"/>
            <a:ext cx="1783080" cy="393192"/>
          </a:xfrm>
          <a:prstGeom prst="roundRect">
            <a:avLst>
              <a:gd name="adj" fmla="val 11628"/>
            </a:avLst>
          </a:prstGeom>
          <a:solidFill>
            <a:srgbClr val="2F6B3B"/>
          </a:solidFill>
          <a:ln w="12700">
            <a:solidFill>
              <a:srgbClr val="2F6B3B"/>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4  •  RICE</a:t>
            </a:r>
            <a:endParaRPr lang="en-US" sz="850" dirty="0"/>
          </a:p>
        </p:txBody>
      </p:sp>
      <p:sp>
        <p:nvSpPr>
          <p:cNvPr id="7" name="Shape 5"/>
          <p:cNvSpPr/>
          <p:nvPr/>
        </p:nvSpPr>
        <p:spPr>
          <a:xfrm>
            <a:off x="658368" y="1389888"/>
            <a:ext cx="10881360"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04_rice_execution_scope.png">    </p:cNvPr>
          <p:cNvPicPr>
            <a:picLocks noChangeAspect="1"/>
          </p:cNvPicPr>
          <p:nvPr/>
        </p:nvPicPr>
        <p:blipFill>
          <a:blip r:embed="rId1"/>
          <a:stretch>
            <a:fillRect/>
          </a:stretch>
        </p:blipFill>
        <p:spPr>
          <a:xfrm>
            <a:off x="3180283" y="1499616"/>
            <a:ext cx="5837530" cy="3648456"/>
          </a:xfrm>
          <a:prstGeom prst="rect">
            <a:avLst/>
          </a:prstGeom>
        </p:spPr>
      </p:pic>
      <p:sp>
        <p:nvSpPr>
          <p:cNvPr id="9" name="Text 6"/>
          <p:cNvSpPr/>
          <p:nvPr/>
        </p:nvSpPr>
        <p:spPr>
          <a:xfrm>
            <a:off x="804672" y="5202936"/>
            <a:ext cx="1058875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application screen — selected field and monitoring window</a:t>
            </a:r>
            <a:endParaRPr lang="en-US" sz="950" dirty="0"/>
          </a:p>
        </p:txBody>
      </p:sp>
      <p:sp>
        <p:nvSpPr>
          <p:cNvPr id="10" name="Shape 7"/>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1" name="Text 8"/>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2" name="Text 9"/>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Select dates and run the signal analytics workflow.</a:t>
            </a:r>
            <a:endParaRPr lang="en-US" sz="1080" dirty="0"/>
          </a:p>
        </p:txBody>
      </p:sp>
      <p:sp>
        <p:nvSpPr>
          <p:cNvPr id="13" name="Shape 10"/>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4" name="Text 11"/>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5" name="Text 12"/>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Check SQLite first; call Earth Engine only on a cache miss.</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Interpret Sentinel-1 as auditable AWD evidence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application turns a time series into flooded states, drydown events and an observation ledger.</a:t>
            </a:r>
            <a:endParaRPr lang="en-US" sz="1250" dirty="0"/>
          </a:p>
        </p:txBody>
      </p:sp>
      <p:sp>
        <p:nvSpPr>
          <p:cNvPr id="5" name="Shape 3"/>
          <p:cNvSpPr/>
          <p:nvPr/>
        </p:nvSpPr>
        <p:spPr>
          <a:xfrm>
            <a:off x="9802368" y="347472"/>
            <a:ext cx="1783080" cy="393192"/>
          </a:xfrm>
          <a:prstGeom prst="roundRect">
            <a:avLst>
              <a:gd name="adj" fmla="val 11628"/>
            </a:avLst>
          </a:prstGeom>
          <a:solidFill>
            <a:srgbClr val="2F6B3B"/>
          </a:solidFill>
          <a:ln w="12700">
            <a:solidFill>
              <a:srgbClr val="2F6B3B"/>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5  •  RICE</a:t>
            </a:r>
            <a:endParaRPr lang="en-US" sz="850" dirty="0"/>
          </a:p>
        </p:txBody>
      </p:sp>
      <p:sp>
        <p:nvSpPr>
          <p:cNvPr id="7" name="Shape 5"/>
          <p:cNvSpPr/>
          <p:nvPr/>
        </p:nvSpPr>
        <p:spPr>
          <a:xfrm>
            <a:off x="530352" y="1389888"/>
            <a:ext cx="5513832"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05_rice_analytics_results.png">    </p:cNvPr>
          <p:cNvPicPr>
            <a:picLocks noChangeAspect="1"/>
          </p:cNvPicPr>
          <p:nvPr/>
        </p:nvPicPr>
        <p:blipFill>
          <a:blip r:embed="rId1"/>
          <a:stretch>
            <a:fillRect/>
          </a:stretch>
        </p:blipFill>
        <p:spPr>
          <a:xfrm>
            <a:off x="640080" y="1669352"/>
            <a:ext cx="5294376" cy="3308985"/>
          </a:xfrm>
          <a:prstGeom prst="rect">
            <a:avLst/>
          </a:prstGeom>
        </p:spPr>
      </p:pic>
      <p:sp>
        <p:nvSpPr>
          <p:cNvPr id="9" name="Text 6"/>
          <p:cNvSpPr/>
          <p:nvPr/>
        </p:nvSpPr>
        <p:spPr>
          <a:xfrm>
            <a:off x="67665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Signal analytics and detected events</a:t>
            </a:r>
            <a:endParaRPr lang="en-US" sz="950" dirty="0"/>
          </a:p>
        </p:txBody>
      </p:sp>
      <p:sp>
        <p:nvSpPr>
          <p:cNvPr id="10" name="Shape 7"/>
          <p:cNvSpPr/>
          <p:nvPr/>
        </p:nvSpPr>
        <p:spPr>
          <a:xfrm>
            <a:off x="6153912" y="1389888"/>
            <a:ext cx="5513832" cy="4087368"/>
          </a:xfrm>
          <a:prstGeom prst="roundRect">
            <a:avLst>
              <a:gd name="adj" fmla="val 783"/>
            </a:avLst>
          </a:prstGeom>
          <a:solidFill>
            <a:srgbClr val="FFFFFF"/>
          </a:solidFill>
          <a:ln w="8255">
            <a:solidFill>
              <a:srgbClr val="D6DED4"/>
            </a:solidFill>
            <a:prstDash val="solid"/>
          </a:ln>
        </p:spPr>
      </p:sp>
      <p:pic>
        <p:nvPicPr>
          <p:cNvPr id="11" name="Image 1" descr="/home/nahid/Desktop/my_project/terra-audit/docs/presentation/assets/demo_steps/step06_rice_observation_ledger.png">    </p:cNvPr>
          <p:cNvPicPr>
            <a:picLocks noChangeAspect="1"/>
          </p:cNvPicPr>
          <p:nvPr/>
        </p:nvPicPr>
        <p:blipFill>
          <a:blip r:embed="rId2"/>
          <a:stretch>
            <a:fillRect/>
          </a:stretch>
        </p:blipFill>
        <p:spPr>
          <a:xfrm>
            <a:off x="6263640" y="1669352"/>
            <a:ext cx="5294376" cy="3308985"/>
          </a:xfrm>
          <a:prstGeom prst="rect">
            <a:avLst/>
          </a:prstGeom>
        </p:spPr>
      </p:pic>
      <p:sp>
        <p:nvSpPr>
          <p:cNvPr id="12" name="Text 8"/>
          <p:cNvSpPr/>
          <p:nvPr/>
        </p:nvSpPr>
        <p:spPr>
          <a:xfrm>
            <a:off x="630021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Observation-level evidence ledger</a:t>
            </a:r>
            <a:endParaRPr lang="en-US" sz="950" dirty="0"/>
          </a:p>
        </p:txBody>
      </p:sp>
      <p:sp>
        <p:nvSpPr>
          <p:cNvPr id="13" name="Shape 9"/>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4" name="Text 10"/>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5" name="Text 11"/>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Review the chart, derived season and detected AWD events.</a:t>
            </a:r>
            <a:endParaRPr lang="en-US" sz="1080" dirty="0"/>
          </a:p>
        </p:txBody>
      </p:sp>
      <p:sp>
        <p:nvSpPr>
          <p:cNvPr id="16" name="Shape 12"/>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7" name="Text 13"/>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8" name="Text 14"/>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Smooth VV/VH, apply the transparent gate and retain each observation.</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Calculate the VM0051 rice estimate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Inputs and intermediate values remain visible before the final estimate.</a:t>
            </a:r>
            <a:endParaRPr lang="en-US" sz="1250" dirty="0"/>
          </a:p>
        </p:txBody>
      </p:sp>
      <p:sp>
        <p:nvSpPr>
          <p:cNvPr id="5" name="Shape 3"/>
          <p:cNvSpPr/>
          <p:nvPr/>
        </p:nvSpPr>
        <p:spPr>
          <a:xfrm>
            <a:off x="9802368" y="347472"/>
            <a:ext cx="1783080" cy="393192"/>
          </a:xfrm>
          <a:prstGeom prst="roundRect">
            <a:avLst>
              <a:gd name="adj" fmla="val 11628"/>
            </a:avLst>
          </a:prstGeom>
          <a:solidFill>
            <a:srgbClr val="2F6B3B"/>
          </a:solidFill>
          <a:ln w="12700">
            <a:solidFill>
              <a:srgbClr val="2F6B3B"/>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6  •  RICE</a:t>
            </a:r>
            <a:endParaRPr lang="en-US" sz="850" dirty="0"/>
          </a:p>
        </p:txBody>
      </p:sp>
      <p:sp>
        <p:nvSpPr>
          <p:cNvPr id="7" name="Shape 5"/>
          <p:cNvSpPr/>
          <p:nvPr/>
        </p:nvSpPr>
        <p:spPr>
          <a:xfrm>
            <a:off x="530352" y="1389888"/>
            <a:ext cx="5513832"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07_vm0051_inputs.png">    </p:cNvPr>
          <p:cNvPicPr>
            <a:picLocks noChangeAspect="1"/>
          </p:cNvPicPr>
          <p:nvPr/>
        </p:nvPicPr>
        <p:blipFill>
          <a:blip r:embed="rId1"/>
          <a:stretch>
            <a:fillRect/>
          </a:stretch>
        </p:blipFill>
        <p:spPr>
          <a:xfrm>
            <a:off x="640080" y="1669352"/>
            <a:ext cx="5294376" cy="3308985"/>
          </a:xfrm>
          <a:prstGeom prst="rect">
            <a:avLst/>
          </a:prstGeom>
        </p:spPr>
      </p:pic>
      <p:sp>
        <p:nvSpPr>
          <p:cNvPr id="9" name="Text 6"/>
          <p:cNvSpPr/>
          <p:nvPr/>
        </p:nvSpPr>
        <p:spPr>
          <a:xfrm>
            <a:off x="67665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VM0051 inputs populated from field and analytics</a:t>
            </a:r>
            <a:endParaRPr lang="en-US" sz="950" dirty="0"/>
          </a:p>
        </p:txBody>
      </p:sp>
      <p:sp>
        <p:nvSpPr>
          <p:cNvPr id="10" name="Shape 7"/>
          <p:cNvSpPr/>
          <p:nvPr/>
        </p:nvSpPr>
        <p:spPr>
          <a:xfrm>
            <a:off x="6153912" y="1389888"/>
            <a:ext cx="5513832" cy="4087368"/>
          </a:xfrm>
          <a:prstGeom prst="roundRect">
            <a:avLst>
              <a:gd name="adj" fmla="val 783"/>
            </a:avLst>
          </a:prstGeom>
          <a:solidFill>
            <a:srgbClr val="FFFFFF"/>
          </a:solidFill>
          <a:ln w="8255">
            <a:solidFill>
              <a:srgbClr val="D6DED4"/>
            </a:solidFill>
            <a:prstDash val="solid"/>
          </a:ln>
        </p:spPr>
      </p:sp>
      <p:pic>
        <p:nvPicPr>
          <p:cNvPr id="11" name="Image 1" descr="/home/nahid/Desktop/my_project/terra-audit/docs/presentation/assets/demo_steps/step08_vm0051_results.png">    </p:cNvPr>
          <p:cNvPicPr>
            <a:picLocks noChangeAspect="1"/>
          </p:cNvPicPr>
          <p:nvPr/>
        </p:nvPicPr>
        <p:blipFill>
          <a:blip r:embed="rId2"/>
          <a:stretch>
            <a:fillRect/>
          </a:stretch>
        </p:blipFill>
        <p:spPr>
          <a:xfrm>
            <a:off x="6263640" y="1669352"/>
            <a:ext cx="5294376" cy="3308985"/>
          </a:xfrm>
          <a:prstGeom prst="rect">
            <a:avLst/>
          </a:prstGeom>
        </p:spPr>
      </p:pic>
      <p:sp>
        <p:nvSpPr>
          <p:cNvPr id="12" name="Text 8"/>
          <p:cNvSpPr/>
          <p:nvPr/>
        </p:nvSpPr>
        <p:spPr>
          <a:xfrm>
            <a:off x="630021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Calculated baseline, project and deduction values</a:t>
            </a:r>
            <a:endParaRPr lang="en-US" sz="950" dirty="0"/>
          </a:p>
        </p:txBody>
      </p:sp>
      <p:sp>
        <p:nvSpPr>
          <p:cNvPr id="13" name="Shape 9"/>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4" name="Text 10"/>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5" name="Text 11"/>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Review assumptions, then run the rice accounting engine.</a:t>
            </a:r>
            <a:endParaRPr lang="en-US" sz="1080" dirty="0"/>
          </a:p>
        </p:txBody>
      </p:sp>
      <p:sp>
        <p:nvSpPr>
          <p:cNvPr id="16" name="Shape 12"/>
          <p:cNvSpPr/>
          <p:nvPr/>
        </p:nvSpPr>
        <p:spPr>
          <a:xfrm>
            <a:off x="6199632" y="5687568"/>
            <a:ext cx="5394960" cy="594360"/>
          </a:xfrm>
          <a:prstGeom prst="roundRect">
            <a:avLst>
              <a:gd name="adj" fmla="val 6154"/>
            </a:avLst>
          </a:prstGeom>
          <a:solidFill>
            <a:srgbClr val="F2EAD9"/>
          </a:solidFill>
          <a:ln w="8890">
            <a:solidFill>
              <a:srgbClr val="B08A4F"/>
            </a:solidFill>
            <a:prstDash val="solid"/>
          </a:ln>
        </p:spPr>
      </p:sp>
      <p:sp>
        <p:nvSpPr>
          <p:cNvPr id="17" name="Text 13"/>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B08A4F"/>
                </a:solidFill>
              </a:rPr>
              <a:t>DISCLOSURE</a:t>
            </a:r>
            <a:endParaRPr lang="en-US" sz="850" dirty="0"/>
          </a:p>
        </p:txBody>
      </p:sp>
      <p:sp>
        <p:nvSpPr>
          <p:cNvPr id="18" name="Text 14"/>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Known UI defect: the visible “Tier 2” label should read QA3 / Tier 1 regional defaults.</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Expose the VM0051 audit trail</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A reviewer can reconstruct the estimate from disclosed equations and intermediate values.</a:t>
            </a:r>
            <a:endParaRPr lang="en-US" sz="1250" dirty="0"/>
          </a:p>
        </p:txBody>
      </p:sp>
      <p:sp>
        <p:nvSpPr>
          <p:cNvPr id="5" name="Shape 3"/>
          <p:cNvSpPr/>
          <p:nvPr/>
        </p:nvSpPr>
        <p:spPr>
          <a:xfrm>
            <a:off x="9802368" y="347472"/>
            <a:ext cx="1783080" cy="393192"/>
          </a:xfrm>
          <a:prstGeom prst="roundRect">
            <a:avLst>
              <a:gd name="adj" fmla="val 11628"/>
            </a:avLst>
          </a:prstGeom>
          <a:solidFill>
            <a:srgbClr val="2F6B3B"/>
          </a:solidFill>
          <a:ln w="12700">
            <a:solidFill>
              <a:srgbClr val="2F6B3B"/>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7  •  RICE</a:t>
            </a:r>
            <a:endParaRPr lang="en-US" sz="850" dirty="0"/>
          </a:p>
        </p:txBody>
      </p:sp>
      <p:sp>
        <p:nvSpPr>
          <p:cNvPr id="7" name="Shape 5"/>
          <p:cNvSpPr/>
          <p:nvPr/>
        </p:nvSpPr>
        <p:spPr>
          <a:xfrm>
            <a:off x="658368" y="1389888"/>
            <a:ext cx="10881360"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09_vm0051_audit_trail.png">    </p:cNvPr>
          <p:cNvPicPr>
            <a:picLocks noChangeAspect="1"/>
          </p:cNvPicPr>
          <p:nvPr/>
        </p:nvPicPr>
        <p:blipFill>
          <a:blip r:embed="rId1"/>
          <a:stretch>
            <a:fillRect/>
          </a:stretch>
        </p:blipFill>
        <p:spPr>
          <a:xfrm>
            <a:off x="3180283" y="1499616"/>
            <a:ext cx="5837530" cy="3648456"/>
          </a:xfrm>
          <a:prstGeom prst="rect">
            <a:avLst/>
          </a:prstGeom>
        </p:spPr>
      </p:pic>
      <p:sp>
        <p:nvSpPr>
          <p:cNvPr id="9" name="Text 6"/>
          <p:cNvSpPr/>
          <p:nvPr/>
        </p:nvSpPr>
        <p:spPr>
          <a:xfrm>
            <a:off x="804672" y="5202936"/>
            <a:ext cx="1058875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application screen — VM0051 equations, factors and audit steps</a:t>
            </a:r>
            <a:endParaRPr lang="en-US" sz="950" dirty="0"/>
          </a:p>
        </p:txBody>
      </p:sp>
      <p:sp>
        <p:nvSpPr>
          <p:cNvPr id="10" name="Shape 7"/>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1" name="Text 8"/>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2" name="Text 9"/>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Open the methodology audit section and inspect each step.</a:t>
            </a:r>
            <a:endParaRPr lang="en-US" sz="1080" dirty="0"/>
          </a:p>
        </p:txBody>
      </p:sp>
      <p:sp>
        <p:nvSpPr>
          <p:cNvPr id="13" name="Shape 10"/>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4" name="Text 11"/>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5" name="Text 12"/>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Present equations, factor choices, deductions and final floor-at-zero logic.</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Export the rice evidence package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calculation can leave the dashboard as auditor-readable and machine-readable evidence.</a:t>
            </a:r>
            <a:endParaRPr lang="en-US" sz="1250" dirty="0"/>
          </a:p>
        </p:txBody>
      </p:sp>
      <p:sp>
        <p:nvSpPr>
          <p:cNvPr id="5" name="Shape 3"/>
          <p:cNvSpPr/>
          <p:nvPr/>
        </p:nvSpPr>
        <p:spPr>
          <a:xfrm>
            <a:off x="9802368" y="347472"/>
            <a:ext cx="1783080" cy="393192"/>
          </a:xfrm>
          <a:prstGeom prst="roundRect">
            <a:avLst>
              <a:gd name="adj" fmla="val 11628"/>
            </a:avLst>
          </a:prstGeom>
          <a:solidFill>
            <a:srgbClr val="2F6B3B"/>
          </a:solidFill>
          <a:ln w="12700">
            <a:solidFill>
              <a:srgbClr val="2F6B3B"/>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8  •  RICE</a:t>
            </a:r>
            <a:endParaRPr lang="en-US" sz="850" dirty="0"/>
          </a:p>
        </p:txBody>
      </p:sp>
      <p:sp>
        <p:nvSpPr>
          <p:cNvPr id="7" name="Shape 5"/>
          <p:cNvSpPr/>
          <p:nvPr/>
        </p:nvSpPr>
        <p:spPr>
          <a:xfrm>
            <a:off x="658368" y="1389888"/>
            <a:ext cx="10881360"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10_vm0051_evidence_exports.png">    </p:cNvPr>
          <p:cNvPicPr>
            <a:picLocks noChangeAspect="1"/>
          </p:cNvPicPr>
          <p:nvPr/>
        </p:nvPicPr>
        <p:blipFill>
          <a:blip r:embed="rId1"/>
          <a:stretch>
            <a:fillRect/>
          </a:stretch>
        </p:blipFill>
        <p:spPr>
          <a:xfrm>
            <a:off x="3180283" y="1499616"/>
            <a:ext cx="5837530" cy="3648456"/>
          </a:xfrm>
          <a:prstGeom prst="rect">
            <a:avLst/>
          </a:prstGeom>
        </p:spPr>
      </p:pic>
      <p:sp>
        <p:nvSpPr>
          <p:cNvPr id="9" name="Text 6"/>
          <p:cNvSpPr/>
          <p:nvPr/>
        </p:nvSpPr>
        <p:spPr>
          <a:xfrm>
            <a:off x="804672" y="5202936"/>
            <a:ext cx="1058875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application screen — VM0051 PDF, JSON and time-series downloads</a:t>
            </a:r>
            <a:endParaRPr lang="en-US" sz="950" dirty="0"/>
          </a:p>
        </p:txBody>
      </p:sp>
      <p:sp>
        <p:nvSpPr>
          <p:cNvPr id="10" name="Shape 7"/>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1" name="Text 8"/>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2" name="Text 9"/>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Download the report, audit JSON and observation CSV.</a:t>
            </a:r>
            <a:endParaRPr lang="en-US" sz="1080" dirty="0"/>
          </a:p>
        </p:txBody>
      </p:sp>
      <p:sp>
        <p:nvSpPr>
          <p:cNvPr id="13" name="Shape 10"/>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4" name="Text 11"/>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5" name="Text 12"/>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Bind current inputs, outputs and observation provenance into export files.</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Record baseline and project management practices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Cropland ALM uses explicit practice evidence rather than the rice SAR detector.</a:t>
            </a:r>
            <a:endParaRPr lang="en-US" sz="1250" dirty="0"/>
          </a:p>
        </p:txBody>
      </p:sp>
      <p:sp>
        <p:nvSpPr>
          <p:cNvPr id="5" name="Shape 3"/>
          <p:cNvSpPr/>
          <p:nvPr/>
        </p:nvSpPr>
        <p:spPr>
          <a:xfrm>
            <a:off x="9802368" y="347472"/>
            <a:ext cx="1783080" cy="393192"/>
          </a:xfrm>
          <a:prstGeom prst="roundRect">
            <a:avLst>
              <a:gd name="adj" fmla="val 11628"/>
            </a:avLst>
          </a:prstGeom>
          <a:solidFill>
            <a:srgbClr val="6F7D43"/>
          </a:solidFill>
          <a:ln w="12700">
            <a:solidFill>
              <a:srgbClr val="6F7D43"/>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9  •  CROPLAND</a:t>
            </a:r>
            <a:endParaRPr lang="en-US" sz="850" dirty="0"/>
          </a:p>
        </p:txBody>
      </p:sp>
      <p:sp>
        <p:nvSpPr>
          <p:cNvPr id="7" name="Shape 5"/>
          <p:cNvSpPr/>
          <p:nvPr/>
        </p:nvSpPr>
        <p:spPr>
          <a:xfrm>
            <a:off x="658368" y="1389888"/>
            <a:ext cx="10881360"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12_alm_practice_schedule.png">    </p:cNvPr>
          <p:cNvPicPr>
            <a:picLocks noChangeAspect="1"/>
          </p:cNvPicPr>
          <p:nvPr/>
        </p:nvPicPr>
        <p:blipFill>
          <a:blip r:embed="rId1"/>
          <a:stretch>
            <a:fillRect/>
          </a:stretch>
        </p:blipFill>
        <p:spPr>
          <a:xfrm>
            <a:off x="3180283" y="1499616"/>
            <a:ext cx="5837530" cy="3648456"/>
          </a:xfrm>
          <a:prstGeom prst="rect">
            <a:avLst/>
          </a:prstGeom>
        </p:spPr>
      </p:pic>
      <p:sp>
        <p:nvSpPr>
          <p:cNvPr id="9" name="Text 6"/>
          <p:cNvSpPr/>
          <p:nvPr/>
        </p:nvSpPr>
        <p:spPr>
          <a:xfrm>
            <a:off x="804672" y="5202936"/>
            <a:ext cx="1058875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application screen — baseline/project practice schedule</a:t>
            </a:r>
            <a:endParaRPr lang="en-US" sz="950" dirty="0"/>
          </a:p>
        </p:txBody>
      </p:sp>
      <p:sp>
        <p:nvSpPr>
          <p:cNvPr id="10" name="Shape 7"/>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1" name="Text 8"/>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2" name="Text 9"/>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Enter crop, tillage, residue, fertilizer, fuel and yield data.</a:t>
            </a:r>
            <a:endParaRPr lang="en-US" sz="1080" dirty="0"/>
          </a:p>
        </p:txBody>
      </p:sp>
      <p:sp>
        <p:nvSpPr>
          <p:cNvPr id="13" name="Shape 10"/>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4" name="Text 11"/>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5" name="Text 12"/>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Validate completeness and persist evidence separately by scenario and year.</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Attach laboratory SOC measurements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SOC samples are recorded by scenario, sampling year and soil layer.</a:t>
            </a:r>
            <a:endParaRPr lang="en-US" sz="1250" dirty="0"/>
          </a:p>
        </p:txBody>
      </p:sp>
      <p:sp>
        <p:nvSpPr>
          <p:cNvPr id="5" name="Shape 3"/>
          <p:cNvSpPr/>
          <p:nvPr/>
        </p:nvSpPr>
        <p:spPr>
          <a:xfrm>
            <a:off x="9802368" y="347472"/>
            <a:ext cx="1783080" cy="393192"/>
          </a:xfrm>
          <a:prstGeom prst="roundRect">
            <a:avLst>
              <a:gd name="adj" fmla="val 11628"/>
            </a:avLst>
          </a:prstGeom>
          <a:solidFill>
            <a:srgbClr val="6F7D43"/>
          </a:solidFill>
          <a:ln w="12700">
            <a:solidFill>
              <a:srgbClr val="6F7D43"/>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10  •  CROPLAND</a:t>
            </a:r>
            <a:endParaRPr lang="en-US" sz="850" dirty="0"/>
          </a:p>
        </p:txBody>
      </p:sp>
      <p:sp>
        <p:nvSpPr>
          <p:cNvPr id="7" name="Shape 5"/>
          <p:cNvSpPr/>
          <p:nvPr/>
        </p:nvSpPr>
        <p:spPr>
          <a:xfrm>
            <a:off x="658368" y="1389888"/>
            <a:ext cx="10881360"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13_alm_soc_samples.png">    </p:cNvPr>
          <p:cNvPicPr>
            <a:picLocks noChangeAspect="1"/>
          </p:cNvPicPr>
          <p:nvPr/>
        </p:nvPicPr>
        <p:blipFill>
          <a:blip r:embed="rId1"/>
          <a:stretch>
            <a:fillRect/>
          </a:stretch>
        </p:blipFill>
        <p:spPr>
          <a:xfrm>
            <a:off x="3180283" y="1499616"/>
            <a:ext cx="5837530" cy="3648456"/>
          </a:xfrm>
          <a:prstGeom prst="rect">
            <a:avLst/>
          </a:prstGeom>
        </p:spPr>
      </p:pic>
      <p:sp>
        <p:nvSpPr>
          <p:cNvPr id="9" name="Text 6"/>
          <p:cNvSpPr/>
          <p:nvPr/>
        </p:nvSpPr>
        <p:spPr>
          <a:xfrm>
            <a:off x="804672" y="5202936"/>
            <a:ext cx="1058875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application screen — complete SOC sample cells</a:t>
            </a:r>
            <a:endParaRPr lang="en-US" sz="950" dirty="0"/>
          </a:p>
        </p:txBody>
      </p:sp>
      <p:sp>
        <p:nvSpPr>
          <p:cNvPr id="10" name="Shape 7"/>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1" name="Text 8"/>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2" name="Text 9"/>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Enter replicate SOC values for baseline and project sampling cells.</a:t>
            </a:r>
            <a:endParaRPr lang="en-US" sz="1080" dirty="0"/>
          </a:p>
        </p:txBody>
      </p:sp>
      <p:sp>
        <p:nvSpPr>
          <p:cNvPr id="13" name="Shape 10"/>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4" name="Text 11"/>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5" name="Text 12"/>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Check sample completeness and prepare soil-stock change inputs.</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Calculate the scoped VM0042 estimate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engine combines soil stock change with non-CO₂ sources and risk deductions.</a:t>
            </a:r>
            <a:endParaRPr lang="en-US" sz="1250" dirty="0"/>
          </a:p>
        </p:txBody>
      </p:sp>
      <p:sp>
        <p:nvSpPr>
          <p:cNvPr id="5" name="Shape 3"/>
          <p:cNvSpPr/>
          <p:nvPr/>
        </p:nvSpPr>
        <p:spPr>
          <a:xfrm>
            <a:off x="9802368" y="347472"/>
            <a:ext cx="1783080" cy="393192"/>
          </a:xfrm>
          <a:prstGeom prst="roundRect">
            <a:avLst>
              <a:gd name="adj" fmla="val 11628"/>
            </a:avLst>
          </a:prstGeom>
          <a:solidFill>
            <a:srgbClr val="6F7D43"/>
          </a:solidFill>
          <a:ln w="12700">
            <a:solidFill>
              <a:srgbClr val="6F7D43"/>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11  •  CROPLAND</a:t>
            </a:r>
            <a:endParaRPr lang="en-US" sz="850" dirty="0"/>
          </a:p>
        </p:txBody>
      </p:sp>
      <p:sp>
        <p:nvSpPr>
          <p:cNvPr id="7" name="Shape 5"/>
          <p:cNvSpPr/>
          <p:nvPr/>
        </p:nvSpPr>
        <p:spPr>
          <a:xfrm>
            <a:off x="530352" y="1389888"/>
            <a:ext cx="5513832"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14_vm0042_inputs.png">    </p:cNvPr>
          <p:cNvPicPr>
            <a:picLocks noChangeAspect="1"/>
          </p:cNvPicPr>
          <p:nvPr/>
        </p:nvPicPr>
        <p:blipFill>
          <a:blip r:embed="rId1"/>
          <a:stretch>
            <a:fillRect/>
          </a:stretch>
        </p:blipFill>
        <p:spPr>
          <a:xfrm>
            <a:off x="640080" y="1669352"/>
            <a:ext cx="5294376" cy="3308985"/>
          </a:xfrm>
          <a:prstGeom prst="rect">
            <a:avLst/>
          </a:prstGeom>
        </p:spPr>
      </p:pic>
      <p:sp>
        <p:nvSpPr>
          <p:cNvPr id="9" name="Text 6"/>
          <p:cNvSpPr/>
          <p:nvPr/>
        </p:nvSpPr>
        <p:spPr>
          <a:xfrm>
            <a:off x="67665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VM0042 verification and risk inputs</a:t>
            </a:r>
            <a:endParaRPr lang="en-US" sz="950" dirty="0"/>
          </a:p>
        </p:txBody>
      </p:sp>
      <p:sp>
        <p:nvSpPr>
          <p:cNvPr id="10" name="Shape 7"/>
          <p:cNvSpPr/>
          <p:nvPr/>
        </p:nvSpPr>
        <p:spPr>
          <a:xfrm>
            <a:off x="6153912" y="1389888"/>
            <a:ext cx="5513832" cy="4087368"/>
          </a:xfrm>
          <a:prstGeom prst="roundRect">
            <a:avLst>
              <a:gd name="adj" fmla="val 783"/>
            </a:avLst>
          </a:prstGeom>
          <a:solidFill>
            <a:srgbClr val="FFFFFF"/>
          </a:solidFill>
          <a:ln w="8255">
            <a:solidFill>
              <a:srgbClr val="D6DED4"/>
            </a:solidFill>
            <a:prstDash val="solid"/>
          </a:ln>
        </p:spPr>
      </p:sp>
      <p:pic>
        <p:nvPicPr>
          <p:cNvPr id="11" name="Image 1" descr="/home/nahid/Desktop/my_project/terra-audit/docs/presentation/assets/demo_steps/step15_vm0042_results.png">    </p:cNvPr>
          <p:cNvPicPr>
            <a:picLocks noChangeAspect="1"/>
          </p:cNvPicPr>
          <p:nvPr/>
        </p:nvPicPr>
        <p:blipFill>
          <a:blip r:embed="rId2"/>
          <a:stretch>
            <a:fillRect/>
          </a:stretch>
        </p:blipFill>
        <p:spPr>
          <a:xfrm>
            <a:off x="6263640" y="1669352"/>
            <a:ext cx="5294376" cy="3308985"/>
          </a:xfrm>
          <a:prstGeom prst="rect">
            <a:avLst/>
          </a:prstGeom>
        </p:spPr>
      </p:pic>
      <p:sp>
        <p:nvSpPr>
          <p:cNvPr id="12" name="Text 8"/>
          <p:cNvSpPr/>
          <p:nvPr/>
        </p:nvSpPr>
        <p:spPr>
          <a:xfrm>
            <a:off x="630021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VM0042 component results and final estimate</a:t>
            </a:r>
            <a:endParaRPr lang="en-US" sz="950" dirty="0"/>
          </a:p>
        </p:txBody>
      </p:sp>
      <p:sp>
        <p:nvSpPr>
          <p:cNvPr id="13" name="Shape 9"/>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4" name="Text 10"/>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5" name="Text 11"/>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Review the verification period and risk inputs, then calculate.</a:t>
            </a:r>
            <a:endParaRPr lang="en-US" sz="1080" dirty="0"/>
          </a:p>
        </p:txBody>
      </p:sp>
      <p:sp>
        <p:nvSpPr>
          <p:cNvPr id="16" name="Shape 12"/>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7" name="Text 13"/>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8" name="Text 14"/>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Combine SOC, fertilizer, residue, fuel, burning and supported livestock terms.</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Keep VM0042 uncertainty and gaps visible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audit view discloses screening status and avoids silently treating missing evidence as zero.</a:t>
            </a:r>
            <a:endParaRPr lang="en-US" sz="1250" dirty="0"/>
          </a:p>
        </p:txBody>
      </p:sp>
      <p:sp>
        <p:nvSpPr>
          <p:cNvPr id="5" name="Shape 3"/>
          <p:cNvSpPr/>
          <p:nvPr/>
        </p:nvSpPr>
        <p:spPr>
          <a:xfrm>
            <a:off x="9802368" y="347472"/>
            <a:ext cx="1783080" cy="393192"/>
          </a:xfrm>
          <a:prstGeom prst="roundRect">
            <a:avLst>
              <a:gd name="adj" fmla="val 11628"/>
            </a:avLst>
          </a:prstGeom>
          <a:solidFill>
            <a:srgbClr val="6F7D43"/>
          </a:solidFill>
          <a:ln w="12700">
            <a:solidFill>
              <a:srgbClr val="6F7D43"/>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12  •  CROPLAND</a:t>
            </a:r>
            <a:endParaRPr lang="en-US" sz="850" dirty="0"/>
          </a:p>
        </p:txBody>
      </p:sp>
      <p:sp>
        <p:nvSpPr>
          <p:cNvPr id="7" name="Shape 5"/>
          <p:cNvSpPr/>
          <p:nvPr/>
        </p:nvSpPr>
        <p:spPr>
          <a:xfrm>
            <a:off x="658368" y="1389888"/>
            <a:ext cx="10881360"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16_vm0042_audit_trail.png">    </p:cNvPr>
          <p:cNvPicPr>
            <a:picLocks noChangeAspect="1"/>
          </p:cNvPicPr>
          <p:nvPr/>
        </p:nvPicPr>
        <p:blipFill>
          <a:blip r:embed="rId1"/>
          <a:stretch>
            <a:fillRect/>
          </a:stretch>
        </p:blipFill>
        <p:spPr>
          <a:xfrm>
            <a:off x="3180283" y="1499616"/>
            <a:ext cx="5837530" cy="3648456"/>
          </a:xfrm>
          <a:prstGeom prst="rect">
            <a:avLst/>
          </a:prstGeom>
        </p:spPr>
      </p:pic>
      <p:sp>
        <p:nvSpPr>
          <p:cNvPr id="9" name="Text 6"/>
          <p:cNvSpPr/>
          <p:nvPr/>
        </p:nvSpPr>
        <p:spPr>
          <a:xfrm>
            <a:off x="804672" y="5202936"/>
            <a:ext cx="1058875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application screen — VM0042 audit trail and limitation messages</a:t>
            </a:r>
            <a:endParaRPr lang="en-US" sz="950" dirty="0"/>
          </a:p>
        </p:txBody>
      </p:sp>
      <p:sp>
        <p:nvSpPr>
          <p:cNvPr id="10" name="Shape 7"/>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1" name="Text 8"/>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2" name="Text 9"/>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Inspect component equations, uncertainty and leakage disclosures.</a:t>
            </a:r>
            <a:endParaRPr lang="en-US" sz="1080" dirty="0"/>
          </a:p>
        </p:txBody>
      </p:sp>
      <p:sp>
        <p:nvSpPr>
          <p:cNvPr id="13" name="Shape 10"/>
          <p:cNvSpPr/>
          <p:nvPr/>
        </p:nvSpPr>
        <p:spPr>
          <a:xfrm>
            <a:off x="6199632" y="5687568"/>
            <a:ext cx="5394960" cy="594360"/>
          </a:xfrm>
          <a:prstGeom prst="roundRect">
            <a:avLst>
              <a:gd name="adj" fmla="val 6154"/>
            </a:avLst>
          </a:prstGeom>
          <a:solidFill>
            <a:srgbClr val="F2EAD9"/>
          </a:solidFill>
          <a:ln w="8890">
            <a:solidFill>
              <a:srgbClr val="B08A4F"/>
            </a:solidFill>
            <a:prstDash val="solid"/>
          </a:ln>
        </p:spPr>
      </p:sp>
      <p:sp>
        <p:nvSpPr>
          <p:cNvPr id="14" name="Text 11"/>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B08A4F"/>
                </a:solidFill>
              </a:rPr>
              <a:t>DISCLOSURE</a:t>
            </a:r>
            <a:endParaRPr lang="en-US" sz="850" dirty="0"/>
          </a:p>
        </p:txBody>
      </p:sp>
      <p:sp>
        <p:nvSpPr>
          <p:cNvPr id="15" name="Text 12"/>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A displayed estimate is not formal eligibility; incomplete leakage evidence remains disclosed.</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Export the cropland evidence package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VM0042 outputs use the same audit pattern while preserving methodology-specific evidence.</a:t>
            </a:r>
            <a:endParaRPr lang="en-US" sz="1250" dirty="0"/>
          </a:p>
        </p:txBody>
      </p:sp>
      <p:sp>
        <p:nvSpPr>
          <p:cNvPr id="5" name="Shape 3"/>
          <p:cNvSpPr/>
          <p:nvPr/>
        </p:nvSpPr>
        <p:spPr>
          <a:xfrm>
            <a:off x="9802368" y="347472"/>
            <a:ext cx="1783080" cy="393192"/>
          </a:xfrm>
          <a:prstGeom prst="roundRect">
            <a:avLst>
              <a:gd name="adj" fmla="val 11628"/>
            </a:avLst>
          </a:prstGeom>
          <a:solidFill>
            <a:srgbClr val="6F7D43"/>
          </a:solidFill>
          <a:ln w="12700">
            <a:solidFill>
              <a:srgbClr val="6F7D43"/>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13  •  CROPLAND</a:t>
            </a:r>
            <a:endParaRPr lang="en-US" sz="850" dirty="0"/>
          </a:p>
        </p:txBody>
      </p:sp>
      <p:sp>
        <p:nvSpPr>
          <p:cNvPr id="7" name="Shape 5"/>
          <p:cNvSpPr/>
          <p:nvPr/>
        </p:nvSpPr>
        <p:spPr>
          <a:xfrm>
            <a:off x="658368" y="1389888"/>
            <a:ext cx="10881360"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17_vm0042_evidence_exports.png">    </p:cNvPr>
          <p:cNvPicPr>
            <a:picLocks noChangeAspect="1"/>
          </p:cNvPicPr>
          <p:nvPr/>
        </p:nvPicPr>
        <p:blipFill>
          <a:blip r:embed="rId1"/>
          <a:stretch>
            <a:fillRect/>
          </a:stretch>
        </p:blipFill>
        <p:spPr>
          <a:xfrm>
            <a:off x="3180283" y="1499616"/>
            <a:ext cx="5837530" cy="3648456"/>
          </a:xfrm>
          <a:prstGeom prst="rect">
            <a:avLst/>
          </a:prstGeom>
        </p:spPr>
      </p:pic>
      <p:sp>
        <p:nvSpPr>
          <p:cNvPr id="9" name="Text 6"/>
          <p:cNvSpPr/>
          <p:nvPr/>
        </p:nvSpPr>
        <p:spPr>
          <a:xfrm>
            <a:off x="804672" y="5202936"/>
            <a:ext cx="1058875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Real application screen — VM0042 evidence downloads</a:t>
            </a:r>
            <a:endParaRPr lang="en-US" sz="950" dirty="0"/>
          </a:p>
        </p:txBody>
      </p:sp>
      <p:sp>
        <p:nvSpPr>
          <p:cNvPr id="10" name="Shape 7"/>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1" name="Text 8"/>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2" name="Text 9"/>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Download the PDF report, audit JSON and practice/SOC CSV.</a:t>
            </a:r>
            <a:endParaRPr lang="en-US" sz="1080" dirty="0"/>
          </a:p>
        </p:txBody>
      </p:sp>
      <p:sp>
        <p:nvSpPr>
          <p:cNvPr id="13" name="Shape 10"/>
          <p:cNvSpPr/>
          <p:nvPr/>
        </p:nvSpPr>
        <p:spPr>
          <a:xfrm>
            <a:off x="6199632" y="5687568"/>
            <a:ext cx="5394960" cy="594360"/>
          </a:xfrm>
          <a:prstGeom prst="roundRect">
            <a:avLst>
              <a:gd name="adj" fmla="val 6154"/>
            </a:avLst>
          </a:prstGeom>
          <a:solidFill>
            <a:srgbClr val="F2EAD9"/>
          </a:solidFill>
          <a:ln w="8890">
            <a:solidFill>
              <a:srgbClr val="B08A4F"/>
            </a:solidFill>
            <a:prstDash val="solid"/>
          </a:ln>
        </p:spPr>
      </p:sp>
      <p:sp>
        <p:nvSpPr>
          <p:cNvPr id="14" name="Text 11"/>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B08A4F"/>
                </a:solidFill>
              </a:rPr>
              <a:t>DISCLOSURE</a:t>
            </a:r>
            <a:endParaRPr lang="en-US" sz="850" dirty="0"/>
          </a:p>
        </p:txBody>
      </p:sp>
      <p:sp>
        <p:nvSpPr>
          <p:cNvPr id="15" name="Text 12"/>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Current CSV scope is practice/SOC only; livestock is included in PDF/JSON, not the CSV.</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Train and compare the experimental AWD classifiers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engineering pipeline works; the current metrics measure rule agreement, not independent field accuracy.</a:t>
            </a:r>
            <a:endParaRPr lang="en-US" sz="1250" dirty="0"/>
          </a:p>
        </p:txBody>
      </p:sp>
      <p:sp>
        <p:nvSpPr>
          <p:cNvPr id="5" name="Shape 3"/>
          <p:cNvSpPr/>
          <p:nvPr/>
        </p:nvSpPr>
        <p:spPr>
          <a:xfrm>
            <a:off x="9802368" y="347472"/>
            <a:ext cx="1783080" cy="393192"/>
          </a:xfrm>
          <a:prstGeom prst="roundRect">
            <a:avLst>
              <a:gd name="adj" fmla="val 11628"/>
            </a:avLst>
          </a:prstGeom>
          <a:solidFill>
            <a:srgbClr val="527A68"/>
          </a:solidFill>
          <a:ln w="12700">
            <a:solidFill>
              <a:srgbClr val="527A68"/>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14  •  AI</a:t>
            </a:r>
            <a:endParaRPr lang="en-US" sz="850" dirty="0"/>
          </a:p>
        </p:txBody>
      </p:sp>
      <p:sp>
        <p:nvSpPr>
          <p:cNvPr id="7" name="Shape 5"/>
          <p:cNvSpPr/>
          <p:nvPr/>
        </p:nvSpPr>
        <p:spPr>
          <a:xfrm>
            <a:off x="530352" y="1389888"/>
            <a:ext cx="5513832"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18_ai_training_pipeline.png">    </p:cNvPr>
          <p:cNvPicPr>
            <a:picLocks noChangeAspect="1"/>
          </p:cNvPicPr>
          <p:nvPr/>
        </p:nvPicPr>
        <p:blipFill>
          <a:blip r:embed="rId1"/>
          <a:stretch>
            <a:fillRect/>
          </a:stretch>
        </p:blipFill>
        <p:spPr>
          <a:xfrm>
            <a:off x="640080" y="1669352"/>
            <a:ext cx="5294376" cy="3308985"/>
          </a:xfrm>
          <a:prstGeom prst="rect">
            <a:avLst/>
          </a:prstGeom>
        </p:spPr>
      </p:pic>
      <p:sp>
        <p:nvSpPr>
          <p:cNvPr id="9" name="Text 6"/>
          <p:cNvSpPr/>
          <p:nvPr/>
        </p:nvSpPr>
        <p:spPr>
          <a:xfrm>
            <a:off x="67665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Training controls and saved model artifacts</a:t>
            </a:r>
            <a:endParaRPr lang="en-US" sz="950" dirty="0"/>
          </a:p>
        </p:txBody>
      </p:sp>
      <p:sp>
        <p:nvSpPr>
          <p:cNvPr id="10" name="Shape 7"/>
          <p:cNvSpPr/>
          <p:nvPr/>
        </p:nvSpPr>
        <p:spPr>
          <a:xfrm>
            <a:off x="6153912" y="1389888"/>
            <a:ext cx="5513832" cy="4087368"/>
          </a:xfrm>
          <a:prstGeom prst="roundRect">
            <a:avLst>
              <a:gd name="adj" fmla="val 783"/>
            </a:avLst>
          </a:prstGeom>
          <a:solidFill>
            <a:srgbClr val="FFFFFF"/>
          </a:solidFill>
          <a:ln w="8255">
            <a:solidFill>
              <a:srgbClr val="D6DED4"/>
            </a:solidFill>
            <a:prstDash val="solid"/>
          </a:ln>
        </p:spPr>
      </p:sp>
      <p:pic>
        <p:nvPicPr>
          <p:cNvPr id="11" name="Image 1" descr="/home/nahid/Desktop/my_project/terra-audit/docs/presentation/assets/demo_steps/step19_ai_model_comparison.png">    </p:cNvPr>
          <p:cNvPicPr>
            <a:picLocks noChangeAspect="1"/>
          </p:cNvPicPr>
          <p:nvPr/>
        </p:nvPicPr>
        <p:blipFill>
          <a:blip r:embed="rId2"/>
          <a:stretch>
            <a:fillRect/>
          </a:stretch>
        </p:blipFill>
        <p:spPr>
          <a:xfrm>
            <a:off x="6263640" y="1669352"/>
            <a:ext cx="5294376" cy="3308985"/>
          </a:xfrm>
          <a:prstGeom prst="rect">
            <a:avLst/>
          </a:prstGeom>
        </p:spPr>
      </p:pic>
      <p:sp>
        <p:nvSpPr>
          <p:cNvPr id="12" name="Text 8"/>
          <p:cNvSpPr/>
          <p:nvPr/>
        </p:nvSpPr>
        <p:spPr>
          <a:xfrm>
            <a:off x="630021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RF/XGBoost comparison and explicit label warning</a:t>
            </a:r>
            <a:endParaRPr lang="en-US" sz="950" dirty="0"/>
          </a:p>
        </p:txBody>
      </p:sp>
      <p:sp>
        <p:nvSpPr>
          <p:cNvPr id="13" name="Shape 9"/>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4" name="Text 10"/>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5" name="Text 11"/>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Train RF/XGBoost from cached rice observations and compare metrics.</a:t>
            </a:r>
            <a:endParaRPr lang="en-US" sz="1080" dirty="0"/>
          </a:p>
        </p:txBody>
      </p:sp>
      <p:sp>
        <p:nvSpPr>
          <p:cNvPr id="16" name="Shape 12"/>
          <p:cNvSpPr/>
          <p:nvPr/>
        </p:nvSpPr>
        <p:spPr>
          <a:xfrm>
            <a:off x="6199632" y="5687568"/>
            <a:ext cx="5394960" cy="594360"/>
          </a:xfrm>
          <a:prstGeom prst="roundRect">
            <a:avLst>
              <a:gd name="adj" fmla="val 6154"/>
            </a:avLst>
          </a:prstGeom>
          <a:solidFill>
            <a:srgbClr val="F2EAD9"/>
          </a:solidFill>
          <a:ln w="8890">
            <a:solidFill>
              <a:srgbClr val="B08A4F"/>
            </a:solidFill>
            <a:prstDash val="solid"/>
          </a:ln>
        </p:spPr>
      </p:sp>
      <p:sp>
        <p:nvSpPr>
          <p:cNvPr id="17" name="Text 13"/>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B08A4F"/>
                </a:solidFill>
              </a:rPr>
              <a:t>DISCLOSURE</a:t>
            </a:r>
            <a:endParaRPr lang="en-US" sz="850" dirty="0"/>
          </a:p>
        </p:txBody>
      </p:sp>
      <p:sp>
        <p:nvSpPr>
          <p:cNvPr id="18" name="Text 14"/>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Labels come from the threshold gate; no independent irrigation ground truth is available yet.</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PROTOTYPE WALKTHROUGH</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Review the project portfolio and registered assets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The final view connects methodology results back to persistent fields and calculation history.</a:t>
            </a:r>
            <a:endParaRPr lang="en-US" sz="1250" dirty="0"/>
          </a:p>
        </p:txBody>
      </p:sp>
      <p:sp>
        <p:nvSpPr>
          <p:cNvPr id="5" name="Shape 3"/>
          <p:cNvSpPr/>
          <p:nvPr/>
        </p:nvSpPr>
        <p:spPr>
          <a:xfrm>
            <a:off x="9802368" y="347472"/>
            <a:ext cx="1783080" cy="393192"/>
          </a:xfrm>
          <a:prstGeom prst="roundRect">
            <a:avLst>
              <a:gd name="adj" fmla="val 11628"/>
            </a:avLst>
          </a:prstGeom>
          <a:solidFill>
            <a:srgbClr val="2F6B3B"/>
          </a:solidFill>
          <a:ln w="12700">
            <a:solidFill>
              <a:srgbClr val="2F6B3B"/>
            </a:solidFill>
            <a:prstDash val="solid"/>
          </a:ln>
        </p:spPr>
      </p:sp>
      <p:sp>
        <p:nvSpPr>
          <p:cNvPr id="6" name="Text 4"/>
          <p:cNvSpPr/>
          <p:nvPr/>
        </p:nvSpPr>
        <p:spPr>
          <a:xfrm>
            <a:off x="9912096" y="457200"/>
            <a:ext cx="1572768" cy="12801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rPr>
              <a:t>STEP 15  •  SHARED</a:t>
            </a:r>
            <a:endParaRPr lang="en-US" sz="850" dirty="0"/>
          </a:p>
        </p:txBody>
      </p:sp>
      <p:sp>
        <p:nvSpPr>
          <p:cNvPr id="7" name="Shape 5"/>
          <p:cNvSpPr/>
          <p:nvPr/>
        </p:nvSpPr>
        <p:spPr>
          <a:xfrm>
            <a:off x="530352" y="1389888"/>
            <a:ext cx="5513832" cy="4087368"/>
          </a:xfrm>
          <a:prstGeom prst="roundRect">
            <a:avLst>
              <a:gd name="adj" fmla="val 783"/>
            </a:avLst>
          </a:prstGeom>
          <a:solidFill>
            <a:srgbClr val="FFFFFF"/>
          </a:solidFill>
          <a:ln w="8255">
            <a:solidFill>
              <a:srgbClr val="D6DED4"/>
            </a:solidFill>
            <a:prstDash val="solid"/>
          </a:ln>
        </p:spPr>
      </p:sp>
      <p:pic>
        <p:nvPicPr>
          <p:cNvPr id="8" name="Image 0" descr="/home/nahid/Desktop/my_project/terra-audit/docs/presentation/assets/demo_steps/step20_portfolio_overview.png">    </p:cNvPr>
          <p:cNvPicPr>
            <a:picLocks noChangeAspect="1"/>
          </p:cNvPicPr>
          <p:nvPr/>
        </p:nvPicPr>
        <p:blipFill>
          <a:blip r:embed="rId1"/>
          <a:stretch>
            <a:fillRect/>
          </a:stretch>
        </p:blipFill>
        <p:spPr>
          <a:xfrm>
            <a:off x="640080" y="1669352"/>
            <a:ext cx="5294376" cy="3308985"/>
          </a:xfrm>
          <a:prstGeom prst="rect">
            <a:avLst/>
          </a:prstGeom>
        </p:spPr>
      </p:pic>
      <p:sp>
        <p:nvSpPr>
          <p:cNvPr id="9" name="Text 6"/>
          <p:cNvSpPr/>
          <p:nvPr/>
        </p:nvSpPr>
        <p:spPr>
          <a:xfrm>
            <a:off x="67665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Portfolio summary by methodology</a:t>
            </a:r>
            <a:endParaRPr lang="en-US" sz="950" dirty="0"/>
          </a:p>
        </p:txBody>
      </p:sp>
      <p:sp>
        <p:nvSpPr>
          <p:cNvPr id="10" name="Shape 7"/>
          <p:cNvSpPr/>
          <p:nvPr/>
        </p:nvSpPr>
        <p:spPr>
          <a:xfrm>
            <a:off x="6153912" y="1389888"/>
            <a:ext cx="5513832" cy="4087368"/>
          </a:xfrm>
          <a:prstGeom prst="roundRect">
            <a:avLst>
              <a:gd name="adj" fmla="val 783"/>
            </a:avLst>
          </a:prstGeom>
          <a:solidFill>
            <a:srgbClr val="FFFFFF"/>
          </a:solidFill>
          <a:ln w="8255">
            <a:solidFill>
              <a:srgbClr val="D6DED4"/>
            </a:solidFill>
            <a:prstDash val="solid"/>
          </a:ln>
        </p:spPr>
      </p:sp>
      <p:pic>
        <p:nvPicPr>
          <p:cNvPr id="11" name="Image 1" descr="/home/nahid/Desktop/my_project/terra-audit/docs/presentation/assets/demo_steps/step21_registered_fields.png">    </p:cNvPr>
          <p:cNvPicPr>
            <a:picLocks noChangeAspect="1"/>
          </p:cNvPicPr>
          <p:nvPr/>
        </p:nvPicPr>
        <p:blipFill>
          <a:blip r:embed="rId2"/>
          <a:stretch>
            <a:fillRect/>
          </a:stretch>
        </p:blipFill>
        <p:spPr>
          <a:xfrm>
            <a:off x="6263640" y="1669352"/>
            <a:ext cx="5294376" cy="3308985"/>
          </a:xfrm>
          <a:prstGeom prst="rect">
            <a:avLst/>
          </a:prstGeom>
        </p:spPr>
      </p:pic>
      <p:sp>
        <p:nvSpPr>
          <p:cNvPr id="12" name="Text 8"/>
          <p:cNvSpPr/>
          <p:nvPr/>
        </p:nvSpPr>
        <p:spPr>
          <a:xfrm>
            <a:off x="6300216" y="5202936"/>
            <a:ext cx="5221224"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Registered fields and field metadata</a:t>
            </a:r>
            <a:endParaRPr lang="en-US" sz="950" dirty="0"/>
          </a:p>
        </p:txBody>
      </p:sp>
      <p:sp>
        <p:nvSpPr>
          <p:cNvPr id="13" name="Shape 9"/>
          <p:cNvSpPr/>
          <p:nvPr/>
        </p:nvSpPr>
        <p:spPr>
          <a:xfrm>
            <a:off x="594360" y="5687568"/>
            <a:ext cx="5394960" cy="594360"/>
          </a:xfrm>
          <a:prstGeom prst="roundRect">
            <a:avLst>
              <a:gd name="adj" fmla="val 6154"/>
            </a:avLst>
          </a:prstGeom>
          <a:solidFill>
            <a:srgbClr val="E2EEDF"/>
          </a:solidFill>
          <a:ln w="8890">
            <a:solidFill>
              <a:srgbClr val="B9CEB4"/>
            </a:solidFill>
            <a:prstDash val="solid"/>
          </a:ln>
        </p:spPr>
      </p:sp>
      <p:sp>
        <p:nvSpPr>
          <p:cNvPr id="14" name="Text 10"/>
          <p:cNvSpPr/>
          <p:nvPr/>
        </p:nvSpPr>
        <p:spPr>
          <a:xfrm>
            <a:off x="786384" y="5824728"/>
            <a:ext cx="1078992" cy="137160"/>
          </a:xfrm>
          <a:prstGeom prst="rect">
            <a:avLst/>
          </a:prstGeom>
          <a:noFill/>
          <a:ln/>
        </p:spPr>
        <p:txBody>
          <a:bodyPr wrap="square" lIns="0" tIns="0" rIns="0" bIns="0" rtlCol="0" anchor="ctr"/>
          <a:lstStyle/>
          <a:p>
            <a:pPr indent="0" marL="0">
              <a:buNone/>
            </a:pPr>
            <a:r>
              <a:rPr lang="en-US" sz="850" b="1" spc="80" kern="0" dirty="0">
                <a:solidFill>
                  <a:srgbClr val="1F5630"/>
                </a:solidFill>
              </a:rPr>
              <a:t>USER ACTION</a:t>
            </a:r>
            <a:endParaRPr lang="en-US" sz="850" dirty="0"/>
          </a:p>
        </p:txBody>
      </p:sp>
      <p:sp>
        <p:nvSpPr>
          <p:cNvPr id="15" name="Text 11"/>
          <p:cNvSpPr/>
          <p:nvPr/>
        </p:nvSpPr>
        <p:spPr>
          <a:xfrm>
            <a:off x="1865376" y="5760720"/>
            <a:ext cx="388620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Compare latest field results and inspect the asset registry.</a:t>
            </a:r>
            <a:endParaRPr lang="en-US" sz="1080" dirty="0"/>
          </a:p>
        </p:txBody>
      </p:sp>
      <p:sp>
        <p:nvSpPr>
          <p:cNvPr id="16" name="Shape 12"/>
          <p:cNvSpPr/>
          <p:nvPr/>
        </p:nvSpPr>
        <p:spPr>
          <a:xfrm>
            <a:off x="6199632" y="5687568"/>
            <a:ext cx="5394960" cy="594360"/>
          </a:xfrm>
          <a:prstGeom prst="roundRect">
            <a:avLst>
              <a:gd name="adj" fmla="val 6154"/>
            </a:avLst>
          </a:prstGeom>
          <a:solidFill>
            <a:srgbClr val="E7EFE9"/>
          </a:solidFill>
          <a:ln w="8890">
            <a:solidFill>
              <a:srgbClr val="BFD0C6"/>
            </a:solidFill>
            <a:prstDash val="solid"/>
          </a:ln>
        </p:spPr>
      </p:sp>
      <p:sp>
        <p:nvSpPr>
          <p:cNvPr id="17" name="Text 13"/>
          <p:cNvSpPr/>
          <p:nvPr/>
        </p:nvSpPr>
        <p:spPr>
          <a:xfrm>
            <a:off x="6391656" y="5824728"/>
            <a:ext cx="1188720" cy="137160"/>
          </a:xfrm>
          <a:prstGeom prst="rect">
            <a:avLst/>
          </a:prstGeom>
          <a:noFill/>
          <a:ln/>
        </p:spPr>
        <p:txBody>
          <a:bodyPr wrap="square" lIns="0" tIns="0" rIns="0" bIns="0" rtlCol="0" anchor="ctr"/>
          <a:lstStyle/>
          <a:p>
            <a:pPr indent="0" marL="0">
              <a:buNone/>
            </a:pPr>
            <a:r>
              <a:rPr lang="en-US" sz="850" b="1" spc="80" kern="0" dirty="0">
                <a:solidFill>
                  <a:srgbClr val="527A68"/>
                </a:solidFill>
              </a:rPr>
              <a:t>SYSTEM WORK</a:t>
            </a:r>
            <a:endParaRPr lang="en-US" sz="850" dirty="0"/>
          </a:p>
        </p:txBody>
      </p:sp>
      <p:sp>
        <p:nvSpPr>
          <p:cNvPr id="18" name="Text 14"/>
          <p:cNvSpPr/>
          <p:nvPr/>
        </p:nvSpPr>
        <p:spPr>
          <a:xfrm>
            <a:off x="7598664" y="5760720"/>
            <a:ext cx="3749040" cy="283464"/>
          </a:xfrm>
          <a:prstGeom prst="rect">
            <a:avLst/>
          </a:prstGeom>
          <a:noFill/>
          <a:ln/>
        </p:spPr>
        <p:txBody>
          <a:bodyPr wrap="square" lIns="0" tIns="0" rIns="0" bIns="0" rtlCol="0" anchor="ctr">
            <a:normAutofit/>
          </a:bodyPr>
          <a:lstStyle/>
          <a:p>
            <a:pPr indent="0" marL="0">
              <a:buNone/>
            </a:pPr>
            <a:r>
              <a:rPr lang="en-US" sz="1080" b="1" dirty="0">
                <a:solidFill>
                  <a:srgbClr val="24332A"/>
                </a:solidFill>
              </a:rPr>
              <a:t>Aggregate latest stored runs without replacing the underlying history.</a:t>
            </a:r>
            <a:endParaRPr lang="en-US" sz="108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IMPLEMENTATION PROGRESS</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What is working at the midterm checkpoint</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Conservative status: implemented does not automatically mean independently validated.</a:t>
            </a:r>
            <a:endParaRPr lang="en-US" sz="1250" dirty="0"/>
          </a:p>
        </p:txBody>
      </p:sp>
      <p:sp>
        <p:nvSpPr>
          <p:cNvPr id="5" name="Shape 3"/>
          <p:cNvSpPr/>
          <p:nvPr/>
        </p:nvSpPr>
        <p:spPr>
          <a:xfrm>
            <a:off x="658368" y="1417320"/>
            <a:ext cx="10881360" cy="493776"/>
          </a:xfrm>
          <a:prstGeom prst="roundRect">
            <a:avLst>
              <a:gd name="adj" fmla="val 6481"/>
            </a:avLst>
          </a:prstGeom>
          <a:solidFill>
            <a:srgbClr val="FFFFFF"/>
          </a:solidFill>
          <a:ln w="12700">
            <a:solidFill>
              <a:srgbClr val="D6DED4">
                <a:alpha val="65000"/>
              </a:srgbClr>
            </a:solidFill>
            <a:prstDash val="solid"/>
          </a:ln>
        </p:spPr>
      </p:sp>
      <p:sp>
        <p:nvSpPr>
          <p:cNvPr id="6" name="Text 4"/>
          <p:cNvSpPr/>
          <p:nvPr/>
        </p:nvSpPr>
        <p:spPr>
          <a:xfrm>
            <a:off x="914400" y="1545336"/>
            <a:ext cx="6812280" cy="201168"/>
          </a:xfrm>
          <a:prstGeom prst="rect">
            <a:avLst/>
          </a:prstGeom>
          <a:noFill/>
          <a:ln/>
        </p:spPr>
        <p:txBody>
          <a:bodyPr wrap="square" lIns="0" tIns="0" rIns="0" bIns="0" rtlCol="0" anchor="ctr">
            <a:normAutofit/>
          </a:bodyPr>
          <a:lstStyle/>
          <a:p>
            <a:pPr indent="0" marL="0">
              <a:buNone/>
            </a:pPr>
            <a:r>
              <a:rPr lang="en-US" sz="1280" dirty="0">
                <a:solidFill>
                  <a:srgbClr val="24332A"/>
                </a:solidFill>
              </a:rPr>
              <a:t>Field registry, geometry parsing and routing</a:t>
            </a:r>
            <a:endParaRPr lang="en-US" sz="1280" dirty="0"/>
          </a:p>
        </p:txBody>
      </p:sp>
      <p:sp>
        <p:nvSpPr>
          <p:cNvPr id="7" name="Shape 5"/>
          <p:cNvSpPr/>
          <p:nvPr/>
        </p:nvSpPr>
        <p:spPr>
          <a:xfrm>
            <a:off x="8275320" y="1508760"/>
            <a:ext cx="2880360" cy="310896"/>
          </a:xfrm>
          <a:prstGeom prst="roundRect">
            <a:avLst>
              <a:gd name="adj" fmla="val 11765"/>
            </a:avLst>
          </a:prstGeom>
          <a:solidFill>
            <a:srgbClr val="2F6B3B"/>
          </a:solidFill>
          <a:ln w="12700">
            <a:solidFill>
              <a:srgbClr val="2F6B3B"/>
            </a:solidFill>
            <a:prstDash val="solid"/>
          </a:ln>
        </p:spPr>
      </p:sp>
      <p:sp>
        <p:nvSpPr>
          <p:cNvPr id="8" name="Text 6"/>
          <p:cNvSpPr/>
          <p:nvPr/>
        </p:nvSpPr>
        <p:spPr>
          <a:xfrm>
            <a:off x="8394192" y="1581912"/>
            <a:ext cx="2642616" cy="128016"/>
          </a:xfrm>
          <a:prstGeom prst="rect">
            <a:avLst/>
          </a:prstGeom>
          <a:noFill/>
          <a:ln/>
        </p:spPr>
        <p:txBody>
          <a:bodyPr wrap="square" lIns="0" tIns="0" rIns="0" bIns="0" rtlCol="0" anchor="ctr">
            <a:normAutofit/>
          </a:bodyPr>
          <a:lstStyle/>
          <a:p>
            <a:pPr algn="ctr" indent="0" marL="0">
              <a:buNone/>
            </a:pPr>
            <a:r>
              <a:rPr lang="en-US" sz="920" b="1" dirty="0">
                <a:solidFill>
                  <a:srgbClr val="FFFFFF"/>
                </a:solidFill>
              </a:rPr>
              <a:t>IMPLEMENTED</a:t>
            </a:r>
            <a:endParaRPr lang="en-US" sz="920" dirty="0"/>
          </a:p>
        </p:txBody>
      </p:sp>
      <p:sp>
        <p:nvSpPr>
          <p:cNvPr id="9" name="Shape 7"/>
          <p:cNvSpPr/>
          <p:nvPr/>
        </p:nvSpPr>
        <p:spPr>
          <a:xfrm>
            <a:off x="658368" y="2057400"/>
            <a:ext cx="10881360" cy="493776"/>
          </a:xfrm>
          <a:prstGeom prst="roundRect">
            <a:avLst>
              <a:gd name="adj" fmla="val 6481"/>
            </a:avLst>
          </a:prstGeom>
          <a:solidFill>
            <a:srgbClr val="F9FAF7"/>
          </a:solidFill>
          <a:ln w="12700">
            <a:solidFill>
              <a:srgbClr val="D6DED4">
                <a:alpha val="65000"/>
              </a:srgbClr>
            </a:solidFill>
            <a:prstDash val="solid"/>
          </a:ln>
        </p:spPr>
      </p:sp>
      <p:sp>
        <p:nvSpPr>
          <p:cNvPr id="10" name="Text 8"/>
          <p:cNvSpPr/>
          <p:nvPr/>
        </p:nvSpPr>
        <p:spPr>
          <a:xfrm>
            <a:off x="914400" y="2185416"/>
            <a:ext cx="6812280" cy="201168"/>
          </a:xfrm>
          <a:prstGeom prst="rect">
            <a:avLst/>
          </a:prstGeom>
          <a:noFill/>
          <a:ln/>
        </p:spPr>
        <p:txBody>
          <a:bodyPr wrap="square" lIns="0" tIns="0" rIns="0" bIns="0" rtlCol="0" anchor="ctr">
            <a:normAutofit/>
          </a:bodyPr>
          <a:lstStyle/>
          <a:p>
            <a:pPr indent="0" marL="0">
              <a:buNone/>
            </a:pPr>
            <a:r>
              <a:rPr lang="en-US" sz="1280" dirty="0">
                <a:solidFill>
                  <a:srgbClr val="24332A"/>
                </a:solidFill>
              </a:rPr>
              <a:t>Sentinel-1 cache and transparent AWD gate</a:t>
            </a:r>
            <a:endParaRPr lang="en-US" sz="1280" dirty="0"/>
          </a:p>
        </p:txBody>
      </p:sp>
      <p:sp>
        <p:nvSpPr>
          <p:cNvPr id="11" name="Shape 9"/>
          <p:cNvSpPr/>
          <p:nvPr/>
        </p:nvSpPr>
        <p:spPr>
          <a:xfrm>
            <a:off x="8275320" y="2148840"/>
            <a:ext cx="2880360" cy="310896"/>
          </a:xfrm>
          <a:prstGeom prst="roundRect">
            <a:avLst>
              <a:gd name="adj" fmla="val 11765"/>
            </a:avLst>
          </a:prstGeom>
          <a:solidFill>
            <a:srgbClr val="2F6B3B"/>
          </a:solidFill>
          <a:ln w="12700">
            <a:solidFill>
              <a:srgbClr val="2F6B3B"/>
            </a:solidFill>
            <a:prstDash val="solid"/>
          </a:ln>
        </p:spPr>
      </p:sp>
      <p:sp>
        <p:nvSpPr>
          <p:cNvPr id="12" name="Text 10"/>
          <p:cNvSpPr/>
          <p:nvPr/>
        </p:nvSpPr>
        <p:spPr>
          <a:xfrm>
            <a:off x="8394192" y="2221992"/>
            <a:ext cx="2642616" cy="128016"/>
          </a:xfrm>
          <a:prstGeom prst="rect">
            <a:avLst/>
          </a:prstGeom>
          <a:noFill/>
          <a:ln/>
        </p:spPr>
        <p:txBody>
          <a:bodyPr wrap="square" lIns="0" tIns="0" rIns="0" bIns="0" rtlCol="0" anchor="ctr">
            <a:normAutofit/>
          </a:bodyPr>
          <a:lstStyle/>
          <a:p>
            <a:pPr algn="ctr" indent="0" marL="0">
              <a:buNone/>
            </a:pPr>
            <a:r>
              <a:rPr lang="en-US" sz="920" b="1" dirty="0">
                <a:solidFill>
                  <a:srgbClr val="FFFFFF"/>
                </a:solidFill>
              </a:rPr>
              <a:t>IMPLEMENTED • MANUAL CHECK</a:t>
            </a:r>
            <a:endParaRPr lang="en-US" sz="920" dirty="0"/>
          </a:p>
        </p:txBody>
      </p:sp>
      <p:sp>
        <p:nvSpPr>
          <p:cNvPr id="13" name="Shape 11"/>
          <p:cNvSpPr/>
          <p:nvPr/>
        </p:nvSpPr>
        <p:spPr>
          <a:xfrm>
            <a:off x="658368" y="2697480"/>
            <a:ext cx="10881360" cy="493776"/>
          </a:xfrm>
          <a:prstGeom prst="roundRect">
            <a:avLst>
              <a:gd name="adj" fmla="val 6481"/>
            </a:avLst>
          </a:prstGeom>
          <a:solidFill>
            <a:srgbClr val="FFFFFF"/>
          </a:solidFill>
          <a:ln w="12700">
            <a:solidFill>
              <a:srgbClr val="D6DED4">
                <a:alpha val="65000"/>
              </a:srgbClr>
            </a:solidFill>
            <a:prstDash val="solid"/>
          </a:ln>
        </p:spPr>
      </p:sp>
      <p:sp>
        <p:nvSpPr>
          <p:cNvPr id="14" name="Text 12"/>
          <p:cNvSpPr/>
          <p:nvPr/>
        </p:nvSpPr>
        <p:spPr>
          <a:xfrm>
            <a:off x="914400" y="2825496"/>
            <a:ext cx="6812280" cy="201168"/>
          </a:xfrm>
          <a:prstGeom prst="rect">
            <a:avLst/>
          </a:prstGeom>
          <a:noFill/>
          <a:ln/>
        </p:spPr>
        <p:txBody>
          <a:bodyPr wrap="square" lIns="0" tIns="0" rIns="0" bIns="0" rtlCol="0" anchor="ctr">
            <a:normAutofit/>
          </a:bodyPr>
          <a:lstStyle/>
          <a:p>
            <a:pPr indent="0" marL="0">
              <a:buNone/>
            </a:pPr>
            <a:r>
              <a:rPr lang="en-US" sz="1280" dirty="0">
                <a:solidFill>
                  <a:srgbClr val="24332A"/>
                </a:solidFill>
              </a:rPr>
              <a:t>VM0051 and scoped VM0042 engines</a:t>
            </a:r>
            <a:endParaRPr lang="en-US" sz="1280" dirty="0"/>
          </a:p>
        </p:txBody>
      </p:sp>
      <p:sp>
        <p:nvSpPr>
          <p:cNvPr id="15" name="Shape 13"/>
          <p:cNvSpPr/>
          <p:nvPr/>
        </p:nvSpPr>
        <p:spPr>
          <a:xfrm>
            <a:off x="8275320" y="2788920"/>
            <a:ext cx="2880360" cy="310896"/>
          </a:xfrm>
          <a:prstGeom prst="roundRect">
            <a:avLst>
              <a:gd name="adj" fmla="val 11765"/>
            </a:avLst>
          </a:prstGeom>
          <a:solidFill>
            <a:srgbClr val="527A68"/>
          </a:solidFill>
          <a:ln w="12700">
            <a:solidFill>
              <a:srgbClr val="527A68"/>
            </a:solidFill>
            <a:prstDash val="solid"/>
          </a:ln>
        </p:spPr>
      </p:sp>
      <p:sp>
        <p:nvSpPr>
          <p:cNvPr id="16" name="Text 14"/>
          <p:cNvSpPr/>
          <p:nvPr/>
        </p:nvSpPr>
        <p:spPr>
          <a:xfrm>
            <a:off x="8394192" y="2862072"/>
            <a:ext cx="2642616" cy="128016"/>
          </a:xfrm>
          <a:prstGeom prst="rect">
            <a:avLst/>
          </a:prstGeom>
          <a:noFill/>
          <a:ln/>
        </p:spPr>
        <p:txBody>
          <a:bodyPr wrap="square" lIns="0" tIns="0" rIns="0" bIns="0" rtlCol="0" anchor="ctr">
            <a:normAutofit/>
          </a:bodyPr>
          <a:lstStyle/>
          <a:p>
            <a:pPr algn="ctr" indent="0" marL="0">
              <a:buNone/>
            </a:pPr>
            <a:r>
              <a:rPr lang="en-US" sz="920" b="1" dirty="0">
                <a:solidFill>
                  <a:srgbClr val="FFFFFF"/>
                </a:solidFill>
              </a:rPr>
              <a:t>AUTOMATED TESTS</a:t>
            </a:r>
            <a:endParaRPr lang="en-US" sz="920" dirty="0"/>
          </a:p>
        </p:txBody>
      </p:sp>
      <p:sp>
        <p:nvSpPr>
          <p:cNvPr id="17" name="Shape 15"/>
          <p:cNvSpPr/>
          <p:nvPr/>
        </p:nvSpPr>
        <p:spPr>
          <a:xfrm>
            <a:off x="658368" y="3337560"/>
            <a:ext cx="10881360" cy="493776"/>
          </a:xfrm>
          <a:prstGeom prst="roundRect">
            <a:avLst>
              <a:gd name="adj" fmla="val 6481"/>
            </a:avLst>
          </a:prstGeom>
          <a:solidFill>
            <a:srgbClr val="F9FAF7"/>
          </a:solidFill>
          <a:ln w="12700">
            <a:solidFill>
              <a:srgbClr val="D6DED4">
                <a:alpha val="65000"/>
              </a:srgbClr>
            </a:solidFill>
            <a:prstDash val="solid"/>
          </a:ln>
        </p:spPr>
      </p:sp>
      <p:sp>
        <p:nvSpPr>
          <p:cNvPr id="18" name="Text 16"/>
          <p:cNvSpPr/>
          <p:nvPr/>
        </p:nvSpPr>
        <p:spPr>
          <a:xfrm>
            <a:off x="914400" y="3465576"/>
            <a:ext cx="6812280" cy="201168"/>
          </a:xfrm>
          <a:prstGeom prst="rect">
            <a:avLst/>
          </a:prstGeom>
          <a:noFill/>
          <a:ln/>
        </p:spPr>
        <p:txBody>
          <a:bodyPr wrap="square" lIns="0" tIns="0" rIns="0" bIns="0" rtlCol="0" anchor="ctr">
            <a:normAutofit/>
          </a:bodyPr>
          <a:lstStyle/>
          <a:p>
            <a:pPr indent="0" marL="0">
              <a:buNone/>
            </a:pPr>
            <a:r>
              <a:rPr lang="en-US" sz="1280" dirty="0">
                <a:solidFill>
                  <a:srgbClr val="24332A"/>
                </a:solidFill>
              </a:rPr>
              <a:t>PDF/JSON evidence and methodology CSVs</a:t>
            </a:r>
            <a:endParaRPr lang="en-US" sz="1280" dirty="0"/>
          </a:p>
        </p:txBody>
      </p:sp>
      <p:sp>
        <p:nvSpPr>
          <p:cNvPr id="19" name="Shape 17"/>
          <p:cNvSpPr/>
          <p:nvPr/>
        </p:nvSpPr>
        <p:spPr>
          <a:xfrm>
            <a:off x="8275320" y="3429000"/>
            <a:ext cx="2880360" cy="310896"/>
          </a:xfrm>
          <a:prstGeom prst="roundRect">
            <a:avLst>
              <a:gd name="adj" fmla="val 11765"/>
            </a:avLst>
          </a:prstGeom>
          <a:solidFill>
            <a:srgbClr val="B08A4F"/>
          </a:solidFill>
          <a:ln w="12700">
            <a:solidFill>
              <a:srgbClr val="B08A4F"/>
            </a:solidFill>
            <a:prstDash val="solid"/>
          </a:ln>
        </p:spPr>
      </p:sp>
      <p:sp>
        <p:nvSpPr>
          <p:cNvPr id="20" name="Text 18"/>
          <p:cNvSpPr/>
          <p:nvPr/>
        </p:nvSpPr>
        <p:spPr>
          <a:xfrm>
            <a:off x="8394192" y="3502152"/>
            <a:ext cx="2642616" cy="128016"/>
          </a:xfrm>
          <a:prstGeom prst="rect">
            <a:avLst/>
          </a:prstGeom>
          <a:noFill/>
          <a:ln/>
        </p:spPr>
        <p:txBody>
          <a:bodyPr wrap="square" lIns="0" tIns="0" rIns="0" bIns="0" rtlCol="0" anchor="ctr">
            <a:normAutofit/>
          </a:bodyPr>
          <a:lstStyle/>
          <a:p>
            <a:pPr algn="ctr" indent="0" marL="0">
              <a:buNone/>
            </a:pPr>
            <a:r>
              <a:rPr lang="en-US" sz="920" b="1" dirty="0">
                <a:solidFill>
                  <a:srgbClr val="FFFFFF"/>
                </a:solidFill>
              </a:rPr>
              <a:t>PARTIAL CSV SCOPE</a:t>
            </a:r>
            <a:endParaRPr lang="en-US" sz="920" dirty="0"/>
          </a:p>
        </p:txBody>
      </p:sp>
      <p:sp>
        <p:nvSpPr>
          <p:cNvPr id="21" name="Shape 19"/>
          <p:cNvSpPr/>
          <p:nvPr/>
        </p:nvSpPr>
        <p:spPr>
          <a:xfrm>
            <a:off x="658368" y="3977640"/>
            <a:ext cx="10881360" cy="493776"/>
          </a:xfrm>
          <a:prstGeom prst="roundRect">
            <a:avLst>
              <a:gd name="adj" fmla="val 6481"/>
            </a:avLst>
          </a:prstGeom>
          <a:solidFill>
            <a:srgbClr val="FFFFFF"/>
          </a:solidFill>
          <a:ln w="12700">
            <a:solidFill>
              <a:srgbClr val="D6DED4">
                <a:alpha val="65000"/>
              </a:srgbClr>
            </a:solidFill>
            <a:prstDash val="solid"/>
          </a:ln>
        </p:spPr>
      </p:sp>
      <p:sp>
        <p:nvSpPr>
          <p:cNvPr id="22" name="Text 20"/>
          <p:cNvSpPr/>
          <p:nvPr/>
        </p:nvSpPr>
        <p:spPr>
          <a:xfrm>
            <a:off x="914400" y="4105656"/>
            <a:ext cx="6812280" cy="201168"/>
          </a:xfrm>
          <a:prstGeom prst="rect">
            <a:avLst/>
          </a:prstGeom>
          <a:noFill/>
          <a:ln/>
        </p:spPr>
        <p:txBody>
          <a:bodyPr wrap="square" lIns="0" tIns="0" rIns="0" bIns="0" rtlCol="0" anchor="ctr">
            <a:normAutofit/>
          </a:bodyPr>
          <a:lstStyle/>
          <a:p>
            <a:pPr indent="0" marL="0">
              <a:buNone/>
            </a:pPr>
            <a:r>
              <a:rPr lang="en-US" sz="1280" dirty="0">
                <a:solidFill>
                  <a:srgbClr val="24332A"/>
                </a:solidFill>
              </a:rPr>
              <a:t>Calculation history and portfolio</a:t>
            </a:r>
            <a:endParaRPr lang="en-US" sz="1280" dirty="0"/>
          </a:p>
        </p:txBody>
      </p:sp>
      <p:sp>
        <p:nvSpPr>
          <p:cNvPr id="23" name="Shape 21"/>
          <p:cNvSpPr/>
          <p:nvPr/>
        </p:nvSpPr>
        <p:spPr>
          <a:xfrm>
            <a:off x="8275320" y="4069080"/>
            <a:ext cx="2880360" cy="310896"/>
          </a:xfrm>
          <a:prstGeom prst="roundRect">
            <a:avLst>
              <a:gd name="adj" fmla="val 11765"/>
            </a:avLst>
          </a:prstGeom>
          <a:solidFill>
            <a:srgbClr val="B08A4F"/>
          </a:solidFill>
          <a:ln w="12700">
            <a:solidFill>
              <a:srgbClr val="B08A4F"/>
            </a:solidFill>
            <a:prstDash val="solid"/>
          </a:ln>
        </p:spPr>
      </p:sp>
      <p:sp>
        <p:nvSpPr>
          <p:cNvPr id="24" name="Text 22"/>
          <p:cNvSpPr/>
          <p:nvPr/>
        </p:nvSpPr>
        <p:spPr>
          <a:xfrm>
            <a:off x="8394192" y="4142232"/>
            <a:ext cx="2642616" cy="128016"/>
          </a:xfrm>
          <a:prstGeom prst="rect">
            <a:avLst/>
          </a:prstGeom>
          <a:noFill/>
          <a:ln/>
        </p:spPr>
        <p:txBody>
          <a:bodyPr wrap="square" lIns="0" tIns="0" rIns="0" bIns="0" rtlCol="0" anchor="ctr">
            <a:normAutofit/>
          </a:bodyPr>
          <a:lstStyle/>
          <a:p>
            <a:pPr algn="ctr" indent="0" marL="0">
              <a:buNone/>
            </a:pPr>
            <a:r>
              <a:rPr lang="en-US" sz="920" b="1" dirty="0">
                <a:solidFill>
                  <a:srgbClr val="FFFFFF"/>
                </a:solidFill>
              </a:rPr>
              <a:t>IMPLEMENTED • TESTS PENDING</a:t>
            </a:r>
            <a:endParaRPr lang="en-US" sz="920" dirty="0"/>
          </a:p>
        </p:txBody>
      </p:sp>
      <p:sp>
        <p:nvSpPr>
          <p:cNvPr id="25" name="Shape 23"/>
          <p:cNvSpPr/>
          <p:nvPr/>
        </p:nvSpPr>
        <p:spPr>
          <a:xfrm>
            <a:off x="658368" y="4617720"/>
            <a:ext cx="10881360" cy="493776"/>
          </a:xfrm>
          <a:prstGeom prst="roundRect">
            <a:avLst>
              <a:gd name="adj" fmla="val 6481"/>
            </a:avLst>
          </a:prstGeom>
          <a:solidFill>
            <a:srgbClr val="F9FAF7"/>
          </a:solidFill>
          <a:ln w="12700">
            <a:solidFill>
              <a:srgbClr val="D6DED4">
                <a:alpha val="65000"/>
              </a:srgbClr>
            </a:solidFill>
            <a:prstDash val="solid"/>
          </a:ln>
        </p:spPr>
      </p:sp>
      <p:sp>
        <p:nvSpPr>
          <p:cNvPr id="26" name="Text 24"/>
          <p:cNvSpPr/>
          <p:nvPr/>
        </p:nvSpPr>
        <p:spPr>
          <a:xfrm>
            <a:off x="914400" y="4745736"/>
            <a:ext cx="6812280" cy="201168"/>
          </a:xfrm>
          <a:prstGeom prst="rect">
            <a:avLst/>
          </a:prstGeom>
          <a:noFill/>
          <a:ln/>
        </p:spPr>
        <p:txBody>
          <a:bodyPr wrap="square" lIns="0" tIns="0" rIns="0" bIns="0" rtlCol="0" anchor="ctr">
            <a:normAutofit/>
          </a:bodyPr>
          <a:lstStyle/>
          <a:p>
            <a:pPr indent="0" marL="0">
              <a:buNone/>
            </a:pPr>
            <a:r>
              <a:rPr lang="en-US" sz="1280" dirty="0">
                <a:solidFill>
                  <a:srgbClr val="24332A"/>
                </a:solidFill>
              </a:rPr>
              <a:t>RF/XGBoost pipeline and saved artifacts</a:t>
            </a:r>
            <a:endParaRPr lang="en-US" sz="1280" dirty="0"/>
          </a:p>
        </p:txBody>
      </p:sp>
      <p:sp>
        <p:nvSpPr>
          <p:cNvPr id="27" name="Shape 25"/>
          <p:cNvSpPr/>
          <p:nvPr/>
        </p:nvSpPr>
        <p:spPr>
          <a:xfrm>
            <a:off x="8275320" y="4709160"/>
            <a:ext cx="2880360" cy="310896"/>
          </a:xfrm>
          <a:prstGeom prst="roundRect">
            <a:avLst>
              <a:gd name="adj" fmla="val 11765"/>
            </a:avLst>
          </a:prstGeom>
          <a:solidFill>
            <a:srgbClr val="6F7D43"/>
          </a:solidFill>
          <a:ln w="12700">
            <a:solidFill>
              <a:srgbClr val="6F7D43"/>
            </a:solidFill>
            <a:prstDash val="solid"/>
          </a:ln>
        </p:spPr>
      </p:sp>
      <p:sp>
        <p:nvSpPr>
          <p:cNvPr id="28" name="Text 26"/>
          <p:cNvSpPr/>
          <p:nvPr/>
        </p:nvSpPr>
        <p:spPr>
          <a:xfrm>
            <a:off x="8394192" y="4782312"/>
            <a:ext cx="2642616" cy="128016"/>
          </a:xfrm>
          <a:prstGeom prst="rect">
            <a:avLst/>
          </a:prstGeom>
          <a:noFill/>
          <a:ln/>
        </p:spPr>
        <p:txBody>
          <a:bodyPr wrap="square" lIns="0" tIns="0" rIns="0" bIns="0" rtlCol="0" anchor="ctr">
            <a:normAutofit/>
          </a:bodyPr>
          <a:lstStyle/>
          <a:p>
            <a:pPr algn="ctr" indent="0" marL="0">
              <a:buNone/>
            </a:pPr>
            <a:r>
              <a:rPr lang="en-US" sz="920" b="1" dirty="0">
                <a:solidFill>
                  <a:srgbClr val="FFFFFF"/>
                </a:solidFill>
              </a:rPr>
              <a:t>EXPERIMENTAL</a:t>
            </a:r>
            <a:endParaRPr lang="en-US" sz="920" dirty="0"/>
          </a:p>
        </p:txBody>
      </p:sp>
      <p:sp>
        <p:nvSpPr>
          <p:cNvPr id="29" name="Shape 27"/>
          <p:cNvSpPr/>
          <p:nvPr/>
        </p:nvSpPr>
        <p:spPr>
          <a:xfrm>
            <a:off x="658368" y="5257800"/>
            <a:ext cx="10881360" cy="493776"/>
          </a:xfrm>
          <a:prstGeom prst="roundRect">
            <a:avLst>
              <a:gd name="adj" fmla="val 6481"/>
            </a:avLst>
          </a:prstGeom>
          <a:solidFill>
            <a:srgbClr val="FFFFFF"/>
          </a:solidFill>
          <a:ln w="12700">
            <a:solidFill>
              <a:srgbClr val="D6DED4">
                <a:alpha val="65000"/>
              </a:srgbClr>
            </a:solidFill>
            <a:prstDash val="solid"/>
          </a:ln>
        </p:spPr>
      </p:sp>
      <p:sp>
        <p:nvSpPr>
          <p:cNvPr id="30" name="Text 28"/>
          <p:cNvSpPr/>
          <p:nvPr/>
        </p:nvSpPr>
        <p:spPr>
          <a:xfrm>
            <a:off x="914400" y="5385816"/>
            <a:ext cx="6812280" cy="201168"/>
          </a:xfrm>
          <a:prstGeom prst="rect">
            <a:avLst/>
          </a:prstGeom>
          <a:noFill/>
          <a:ln/>
        </p:spPr>
        <p:txBody>
          <a:bodyPr wrap="square" lIns="0" tIns="0" rIns="0" bIns="0" rtlCol="0" anchor="ctr">
            <a:normAutofit/>
          </a:bodyPr>
          <a:lstStyle/>
          <a:p>
            <a:pPr indent="0" marL="0">
              <a:buNone/>
            </a:pPr>
            <a:r>
              <a:rPr lang="en-US" sz="1280" dirty="0">
                <a:solidFill>
                  <a:srgbClr val="24332A"/>
                </a:solidFill>
              </a:rPr>
              <a:t>Independent AWD ground-truth validation</a:t>
            </a:r>
            <a:endParaRPr lang="en-US" sz="1280" dirty="0"/>
          </a:p>
        </p:txBody>
      </p:sp>
      <p:sp>
        <p:nvSpPr>
          <p:cNvPr id="31" name="Shape 29"/>
          <p:cNvSpPr/>
          <p:nvPr/>
        </p:nvSpPr>
        <p:spPr>
          <a:xfrm>
            <a:off x="8275320" y="5349240"/>
            <a:ext cx="2880360" cy="310896"/>
          </a:xfrm>
          <a:prstGeom prst="roundRect">
            <a:avLst>
              <a:gd name="adj" fmla="val 11765"/>
            </a:avLst>
          </a:prstGeom>
          <a:solidFill>
            <a:srgbClr val="956156"/>
          </a:solidFill>
          <a:ln w="12700">
            <a:solidFill>
              <a:srgbClr val="956156"/>
            </a:solidFill>
            <a:prstDash val="solid"/>
          </a:ln>
        </p:spPr>
      </p:sp>
      <p:sp>
        <p:nvSpPr>
          <p:cNvPr id="32" name="Text 30"/>
          <p:cNvSpPr/>
          <p:nvPr/>
        </p:nvSpPr>
        <p:spPr>
          <a:xfrm>
            <a:off x="8394192" y="5422392"/>
            <a:ext cx="2642616" cy="128016"/>
          </a:xfrm>
          <a:prstGeom prst="rect">
            <a:avLst/>
          </a:prstGeom>
          <a:noFill/>
          <a:ln/>
        </p:spPr>
        <p:txBody>
          <a:bodyPr wrap="square" lIns="0" tIns="0" rIns="0" bIns="0" rtlCol="0" anchor="ctr">
            <a:normAutofit/>
          </a:bodyPr>
          <a:lstStyle/>
          <a:p>
            <a:pPr algn="ctr" indent="0" marL="0">
              <a:buNone/>
            </a:pPr>
            <a:r>
              <a:rPr lang="en-US" sz="920" b="1" dirty="0">
                <a:solidFill>
                  <a:srgbClr val="FFFFFF"/>
                </a:solidFill>
              </a:rPr>
              <a:t>NOT COMPLETED</a:t>
            </a:r>
            <a:endParaRPr lang="en-US" sz="920" dirty="0"/>
          </a:p>
        </p:txBody>
      </p:sp>
      <p:sp>
        <p:nvSpPr>
          <p:cNvPr id="33" name="Shape 31"/>
          <p:cNvSpPr/>
          <p:nvPr/>
        </p:nvSpPr>
        <p:spPr>
          <a:xfrm>
            <a:off x="1143000" y="6099048"/>
            <a:ext cx="9921240" cy="347472"/>
          </a:xfrm>
          <a:prstGeom prst="roundRect">
            <a:avLst>
              <a:gd name="adj" fmla="val 15789"/>
            </a:avLst>
          </a:prstGeom>
          <a:solidFill>
            <a:srgbClr val="E2EEDF"/>
          </a:solidFill>
          <a:ln w="12700">
            <a:solidFill>
              <a:srgbClr val="2F6B3B"/>
            </a:solidFill>
            <a:prstDash val="solid"/>
          </a:ln>
        </p:spPr>
      </p:sp>
      <p:sp>
        <p:nvSpPr>
          <p:cNvPr id="34" name="Text 32"/>
          <p:cNvSpPr/>
          <p:nvPr/>
        </p:nvSpPr>
        <p:spPr>
          <a:xfrm>
            <a:off x="1307592" y="6217920"/>
            <a:ext cx="9592056" cy="118872"/>
          </a:xfrm>
          <a:prstGeom prst="rect">
            <a:avLst/>
          </a:prstGeom>
          <a:noFill/>
          <a:ln/>
        </p:spPr>
        <p:txBody>
          <a:bodyPr wrap="square" lIns="0" tIns="0" rIns="0" bIns="0" rtlCol="0" anchor="ctr">
            <a:normAutofit/>
          </a:bodyPr>
          <a:lstStyle/>
          <a:p>
            <a:pPr indent="0" marL="0">
              <a:buNone/>
            </a:pPr>
            <a:r>
              <a:rPr lang="en-US" sz="1150" b="1" dirty="0">
                <a:solidFill>
                  <a:srgbClr val="24332A"/>
                </a:solidFill>
              </a:rPr>
              <a:t>Strongest verified area: accounting-engine regression tests. Largest evidence gap: independent AWD ground truth.</a:t>
            </a:r>
            <a:endParaRPr lang="en-US" sz="11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CHALLENGES AND NEXT WORK</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Known risks — and the engineering response</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A credible capstone makes uncertainty visible and testable.</a:t>
            </a:r>
            <a:endParaRPr lang="en-US" sz="1250" dirty="0"/>
          </a:p>
        </p:txBody>
      </p:sp>
      <p:sp>
        <p:nvSpPr>
          <p:cNvPr id="5" name="Shape 3"/>
          <p:cNvSpPr/>
          <p:nvPr/>
        </p:nvSpPr>
        <p:spPr>
          <a:xfrm>
            <a:off x="612648" y="1417320"/>
            <a:ext cx="5321808" cy="1261872"/>
          </a:xfrm>
          <a:prstGeom prst="roundRect">
            <a:avLst>
              <a:gd name="adj" fmla="val 4348"/>
            </a:avLst>
          </a:prstGeom>
          <a:solidFill>
            <a:srgbClr val="FFFFFF"/>
          </a:solidFill>
          <a:ln w="12700">
            <a:solidFill>
              <a:srgbClr val="D6DED4"/>
            </a:solidFill>
            <a:prstDash val="solid"/>
          </a:ln>
        </p:spPr>
      </p:sp>
      <p:sp>
        <p:nvSpPr>
          <p:cNvPr id="6" name="Shape 4"/>
          <p:cNvSpPr/>
          <p:nvPr/>
        </p:nvSpPr>
        <p:spPr>
          <a:xfrm>
            <a:off x="612648" y="1417320"/>
            <a:ext cx="82296" cy="1261872"/>
          </a:xfrm>
          <a:prstGeom prst="rect">
            <a:avLst/>
          </a:prstGeom>
          <a:solidFill>
            <a:srgbClr val="956156"/>
          </a:solidFill>
          <a:ln w="12700">
            <a:solidFill>
              <a:srgbClr val="956156"/>
            </a:solidFill>
            <a:prstDash val="solid"/>
          </a:ln>
        </p:spPr>
      </p:sp>
      <p:sp>
        <p:nvSpPr>
          <p:cNvPr id="7" name="Text 5"/>
          <p:cNvSpPr/>
          <p:nvPr/>
        </p:nvSpPr>
        <p:spPr>
          <a:xfrm>
            <a:off x="886968" y="1618488"/>
            <a:ext cx="4736592" cy="246888"/>
          </a:xfrm>
          <a:prstGeom prst="rect">
            <a:avLst/>
          </a:prstGeom>
          <a:noFill/>
          <a:ln/>
        </p:spPr>
        <p:txBody>
          <a:bodyPr wrap="square" lIns="0" tIns="0" rIns="0" bIns="0" rtlCol="0" anchor="ctr">
            <a:normAutofit/>
          </a:bodyPr>
          <a:lstStyle/>
          <a:p>
            <a:pPr indent="0" marL="0">
              <a:buNone/>
            </a:pPr>
            <a:r>
              <a:rPr lang="en-US" sz="1400" b="1" dirty="0">
                <a:solidFill>
                  <a:srgbClr val="163B27"/>
                </a:solidFill>
              </a:rPr>
              <a:t>Independent AWD truth</a:t>
            </a:r>
            <a:endParaRPr lang="en-US" sz="1400" dirty="0"/>
          </a:p>
        </p:txBody>
      </p:sp>
      <p:sp>
        <p:nvSpPr>
          <p:cNvPr id="8" name="Text 6"/>
          <p:cNvSpPr/>
          <p:nvPr/>
        </p:nvSpPr>
        <p:spPr>
          <a:xfrm>
            <a:off x="886968" y="1984248"/>
            <a:ext cx="4736592" cy="457200"/>
          </a:xfrm>
          <a:prstGeom prst="rect">
            <a:avLst/>
          </a:prstGeom>
          <a:noFill/>
          <a:ln/>
        </p:spPr>
        <p:txBody>
          <a:bodyPr wrap="square" lIns="0" tIns="0" rIns="0" bIns="0" rtlCol="0" anchor="ctr">
            <a:normAutofit/>
          </a:bodyPr>
          <a:lstStyle/>
          <a:p>
            <a:pPr indent="0" marL="0">
              <a:buNone/>
            </a:pPr>
            <a:r>
              <a:rPr lang="en-US" sz="1120" dirty="0">
                <a:solidFill>
                  <a:srgbClr val="5F6D63"/>
                </a:solidFill>
              </a:rPr>
              <a:t>Collect irrigation/field observations and validate by field and season.</a:t>
            </a:r>
            <a:endParaRPr lang="en-US" sz="1120" dirty="0"/>
          </a:p>
        </p:txBody>
      </p:sp>
      <p:sp>
        <p:nvSpPr>
          <p:cNvPr id="9" name="Shape 7"/>
          <p:cNvSpPr/>
          <p:nvPr/>
        </p:nvSpPr>
        <p:spPr>
          <a:xfrm>
            <a:off x="6236208" y="1417320"/>
            <a:ext cx="5321808" cy="1261872"/>
          </a:xfrm>
          <a:prstGeom prst="roundRect">
            <a:avLst>
              <a:gd name="adj" fmla="val 4348"/>
            </a:avLst>
          </a:prstGeom>
          <a:solidFill>
            <a:srgbClr val="FFFFFF"/>
          </a:solidFill>
          <a:ln w="12700">
            <a:solidFill>
              <a:srgbClr val="D6DED4"/>
            </a:solidFill>
            <a:prstDash val="solid"/>
          </a:ln>
        </p:spPr>
      </p:sp>
      <p:sp>
        <p:nvSpPr>
          <p:cNvPr id="10" name="Shape 8"/>
          <p:cNvSpPr/>
          <p:nvPr/>
        </p:nvSpPr>
        <p:spPr>
          <a:xfrm>
            <a:off x="6236208" y="1417320"/>
            <a:ext cx="82296" cy="1261872"/>
          </a:xfrm>
          <a:prstGeom prst="rect">
            <a:avLst/>
          </a:prstGeom>
          <a:solidFill>
            <a:srgbClr val="B08A4F"/>
          </a:solidFill>
          <a:ln w="12700">
            <a:solidFill>
              <a:srgbClr val="B08A4F"/>
            </a:solidFill>
            <a:prstDash val="solid"/>
          </a:ln>
        </p:spPr>
      </p:sp>
      <p:sp>
        <p:nvSpPr>
          <p:cNvPr id="11" name="Text 9"/>
          <p:cNvSpPr/>
          <p:nvPr/>
        </p:nvSpPr>
        <p:spPr>
          <a:xfrm>
            <a:off x="6510528" y="1618488"/>
            <a:ext cx="4736592" cy="246888"/>
          </a:xfrm>
          <a:prstGeom prst="rect">
            <a:avLst/>
          </a:prstGeom>
          <a:noFill/>
          <a:ln/>
        </p:spPr>
        <p:txBody>
          <a:bodyPr wrap="square" lIns="0" tIns="0" rIns="0" bIns="0" rtlCol="0" anchor="ctr">
            <a:normAutofit/>
          </a:bodyPr>
          <a:lstStyle/>
          <a:p>
            <a:pPr indent="0" marL="0">
              <a:buNone/>
            </a:pPr>
            <a:r>
              <a:rPr lang="en-US" sz="1400" b="1" dirty="0">
                <a:solidFill>
                  <a:srgbClr val="163B27"/>
                </a:solidFill>
              </a:rPr>
              <a:t>Small drydown class</a:t>
            </a:r>
            <a:endParaRPr lang="en-US" sz="1400" dirty="0"/>
          </a:p>
        </p:txBody>
      </p:sp>
      <p:sp>
        <p:nvSpPr>
          <p:cNvPr id="12" name="Text 10"/>
          <p:cNvSpPr/>
          <p:nvPr/>
        </p:nvSpPr>
        <p:spPr>
          <a:xfrm>
            <a:off x="6510528" y="1984248"/>
            <a:ext cx="4736592" cy="457200"/>
          </a:xfrm>
          <a:prstGeom prst="rect">
            <a:avLst/>
          </a:prstGeom>
          <a:noFill/>
          <a:ln/>
        </p:spPr>
        <p:txBody>
          <a:bodyPr wrap="square" lIns="0" tIns="0" rIns="0" bIns="0" rtlCol="0" anchor="ctr">
            <a:normAutofit/>
          </a:bodyPr>
          <a:lstStyle/>
          <a:p>
            <a:pPr indent="0" marL="0">
              <a:buNone/>
            </a:pPr>
            <a:r>
              <a:rPr lang="en-US" sz="1120" dirty="0">
                <a:solidFill>
                  <a:srgbClr val="5F6D63"/>
                </a:solidFill>
              </a:rPr>
              <a:t>Expand seasons and use grouped validation to prevent leakage.</a:t>
            </a:r>
            <a:endParaRPr lang="en-US" sz="1120" dirty="0"/>
          </a:p>
        </p:txBody>
      </p:sp>
      <p:sp>
        <p:nvSpPr>
          <p:cNvPr id="13" name="Shape 11"/>
          <p:cNvSpPr/>
          <p:nvPr/>
        </p:nvSpPr>
        <p:spPr>
          <a:xfrm>
            <a:off x="612648" y="2935224"/>
            <a:ext cx="5321808" cy="1261872"/>
          </a:xfrm>
          <a:prstGeom prst="roundRect">
            <a:avLst>
              <a:gd name="adj" fmla="val 4348"/>
            </a:avLst>
          </a:prstGeom>
          <a:solidFill>
            <a:srgbClr val="FFFFFF"/>
          </a:solidFill>
          <a:ln w="12700">
            <a:solidFill>
              <a:srgbClr val="D6DED4"/>
            </a:solidFill>
            <a:prstDash val="solid"/>
          </a:ln>
        </p:spPr>
      </p:sp>
      <p:sp>
        <p:nvSpPr>
          <p:cNvPr id="14" name="Shape 12"/>
          <p:cNvSpPr/>
          <p:nvPr/>
        </p:nvSpPr>
        <p:spPr>
          <a:xfrm>
            <a:off x="612648" y="2935224"/>
            <a:ext cx="82296" cy="1261872"/>
          </a:xfrm>
          <a:prstGeom prst="rect">
            <a:avLst/>
          </a:prstGeom>
          <a:solidFill>
            <a:srgbClr val="527A68"/>
          </a:solidFill>
          <a:ln w="12700">
            <a:solidFill>
              <a:srgbClr val="527A68"/>
            </a:solidFill>
            <a:prstDash val="solid"/>
          </a:ln>
        </p:spPr>
      </p:sp>
      <p:sp>
        <p:nvSpPr>
          <p:cNvPr id="15" name="Text 13"/>
          <p:cNvSpPr/>
          <p:nvPr/>
        </p:nvSpPr>
        <p:spPr>
          <a:xfrm>
            <a:off x="886968" y="3136392"/>
            <a:ext cx="4736592" cy="246888"/>
          </a:xfrm>
          <a:prstGeom prst="rect">
            <a:avLst/>
          </a:prstGeom>
          <a:noFill/>
          <a:ln/>
        </p:spPr>
        <p:txBody>
          <a:bodyPr wrap="square" lIns="0" tIns="0" rIns="0" bIns="0" rtlCol="0" anchor="ctr">
            <a:normAutofit/>
          </a:bodyPr>
          <a:lstStyle/>
          <a:p>
            <a:pPr indent="0" marL="0">
              <a:buNone/>
            </a:pPr>
            <a:r>
              <a:rPr lang="en-US" sz="1400" b="1" dirty="0">
                <a:solidFill>
                  <a:srgbClr val="163B27"/>
                </a:solidFill>
              </a:rPr>
              <a:t>Earth Engine dependency</a:t>
            </a:r>
            <a:endParaRPr lang="en-US" sz="1400" dirty="0"/>
          </a:p>
        </p:txBody>
      </p:sp>
      <p:sp>
        <p:nvSpPr>
          <p:cNvPr id="16" name="Text 14"/>
          <p:cNvSpPr/>
          <p:nvPr/>
        </p:nvSpPr>
        <p:spPr>
          <a:xfrm>
            <a:off x="886968" y="3502152"/>
            <a:ext cx="4736592" cy="457200"/>
          </a:xfrm>
          <a:prstGeom prst="rect">
            <a:avLst/>
          </a:prstGeom>
          <a:noFill/>
          <a:ln/>
        </p:spPr>
        <p:txBody>
          <a:bodyPr wrap="square" lIns="0" tIns="0" rIns="0" bIns="0" rtlCol="0" anchor="ctr">
            <a:normAutofit/>
          </a:bodyPr>
          <a:lstStyle/>
          <a:p>
            <a:pPr indent="0" marL="0">
              <a:buNone/>
            </a:pPr>
            <a:r>
              <a:rPr lang="en-US" sz="1120" dirty="0">
                <a:solidFill>
                  <a:srgbClr val="5F6D63"/>
                </a:solidFill>
              </a:rPr>
              <a:t>Cache-first operation, readable errors and documented authentication.</a:t>
            </a:r>
            <a:endParaRPr lang="en-US" sz="1120" dirty="0"/>
          </a:p>
        </p:txBody>
      </p:sp>
      <p:sp>
        <p:nvSpPr>
          <p:cNvPr id="17" name="Shape 15"/>
          <p:cNvSpPr/>
          <p:nvPr/>
        </p:nvSpPr>
        <p:spPr>
          <a:xfrm>
            <a:off x="6236208" y="2935224"/>
            <a:ext cx="5321808" cy="1261872"/>
          </a:xfrm>
          <a:prstGeom prst="roundRect">
            <a:avLst>
              <a:gd name="adj" fmla="val 4348"/>
            </a:avLst>
          </a:prstGeom>
          <a:solidFill>
            <a:srgbClr val="FFFFFF"/>
          </a:solidFill>
          <a:ln w="12700">
            <a:solidFill>
              <a:srgbClr val="D6DED4"/>
            </a:solidFill>
            <a:prstDash val="solid"/>
          </a:ln>
        </p:spPr>
      </p:sp>
      <p:sp>
        <p:nvSpPr>
          <p:cNvPr id="18" name="Shape 16"/>
          <p:cNvSpPr/>
          <p:nvPr/>
        </p:nvSpPr>
        <p:spPr>
          <a:xfrm>
            <a:off x="6236208" y="2935224"/>
            <a:ext cx="82296" cy="1261872"/>
          </a:xfrm>
          <a:prstGeom prst="rect">
            <a:avLst/>
          </a:prstGeom>
          <a:solidFill>
            <a:srgbClr val="6F7D43"/>
          </a:solidFill>
          <a:ln w="12700">
            <a:solidFill>
              <a:srgbClr val="6F7D43"/>
            </a:solidFill>
            <a:prstDash val="solid"/>
          </a:ln>
        </p:spPr>
      </p:sp>
      <p:sp>
        <p:nvSpPr>
          <p:cNvPr id="19" name="Text 17"/>
          <p:cNvSpPr/>
          <p:nvPr/>
        </p:nvSpPr>
        <p:spPr>
          <a:xfrm>
            <a:off x="6510528" y="3136392"/>
            <a:ext cx="4736592" cy="246888"/>
          </a:xfrm>
          <a:prstGeom prst="rect">
            <a:avLst/>
          </a:prstGeom>
          <a:noFill/>
          <a:ln/>
        </p:spPr>
        <p:txBody>
          <a:bodyPr wrap="square" lIns="0" tIns="0" rIns="0" bIns="0" rtlCol="0" anchor="ctr">
            <a:normAutofit/>
          </a:bodyPr>
          <a:lstStyle/>
          <a:p>
            <a:pPr indent="0" marL="0">
              <a:buNone/>
            </a:pPr>
            <a:r>
              <a:rPr lang="en-US" sz="1400" b="1" dirty="0">
                <a:solidFill>
                  <a:srgbClr val="163B27"/>
                </a:solidFill>
              </a:rPr>
              <a:t>VM0042 scope gaps</a:t>
            </a:r>
            <a:endParaRPr lang="en-US" sz="1400" dirty="0"/>
          </a:p>
        </p:txBody>
      </p:sp>
      <p:sp>
        <p:nvSpPr>
          <p:cNvPr id="20" name="Text 18"/>
          <p:cNvSpPr/>
          <p:nvPr/>
        </p:nvSpPr>
        <p:spPr>
          <a:xfrm>
            <a:off x="6510528" y="3502152"/>
            <a:ext cx="4736592" cy="457200"/>
          </a:xfrm>
          <a:prstGeom prst="rect">
            <a:avLst/>
          </a:prstGeom>
          <a:noFill/>
          <a:ln/>
        </p:spPr>
        <p:txBody>
          <a:bodyPr wrap="square" lIns="0" tIns="0" rIns="0" bIns="0" rtlCol="0" anchor="ctr">
            <a:normAutofit/>
          </a:bodyPr>
          <a:lstStyle/>
          <a:p>
            <a:pPr indent="0" marL="0">
              <a:buNone/>
            </a:pPr>
            <a:r>
              <a:rPr lang="en-US" sz="1120" dirty="0">
                <a:solidFill>
                  <a:srgbClr val="5F6D63"/>
                </a:solidFill>
              </a:rPr>
              <a:t>Implement, quantify or explicitly block each applicable leakage category.</a:t>
            </a:r>
            <a:endParaRPr lang="en-US" sz="1120" dirty="0"/>
          </a:p>
        </p:txBody>
      </p:sp>
      <p:sp>
        <p:nvSpPr>
          <p:cNvPr id="21" name="Shape 19"/>
          <p:cNvSpPr/>
          <p:nvPr/>
        </p:nvSpPr>
        <p:spPr>
          <a:xfrm>
            <a:off x="612648" y="4453128"/>
            <a:ext cx="5321808" cy="1261872"/>
          </a:xfrm>
          <a:prstGeom prst="roundRect">
            <a:avLst>
              <a:gd name="adj" fmla="val 4348"/>
            </a:avLst>
          </a:prstGeom>
          <a:solidFill>
            <a:srgbClr val="FFFFFF"/>
          </a:solidFill>
          <a:ln w="12700">
            <a:solidFill>
              <a:srgbClr val="D6DED4"/>
            </a:solidFill>
            <a:prstDash val="solid"/>
          </a:ln>
        </p:spPr>
      </p:sp>
      <p:sp>
        <p:nvSpPr>
          <p:cNvPr id="22" name="Shape 20"/>
          <p:cNvSpPr/>
          <p:nvPr/>
        </p:nvSpPr>
        <p:spPr>
          <a:xfrm>
            <a:off x="612648" y="4453128"/>
            <a:ext cx="82296" cy="1261872"/>
          </a:xfrm>
          <a:prstGeom prst="rect">
            <a:avLst/>
          </a:prstGeom>
          <a:solidFill>
            <a:srgbClr val="2F6B3B"/>
          </a:solidFill>
          <a:ln w="12700">
            <a:solidFill>
              <a:srgbClr val="2F6B3B"/>
            </a:solidFill>
            <a:prstDash val="solid"/>
          </a:ln>
        </p:spPr>
      </p:sp>
      <p:sp>
        <p:nvSpPr>
          <p:cNvPr id="23" name="Text 21"/>
          <p:cNvSpPr/>
          <p:nvPr/>
        </p:nvSpPr>
        <p:spPr>
          <a:xfrm>
            <a:off x="886968" y="4654296"/>
            <a:ext cx="4736592" cy="246888"/>
          </a:xfrm>
          <a:prstGeom prst="rect">
            <a:avLst/>
          </a:prstGeom>
          <a:noFill/>
          <a:ln/>
        </p:spPr>
        <p:txBody>
          <a:bodyPr wrap="square" lIns="0" tIns="0" rIns="0" bIns="0" rtlCol="0" anchor="ctr">
            <a:normAutofit/>
          </a:bodyPr>
          <a:lstStyle/>
          <a:p>
            <a:pPr indent="0" marL="0">
              <a:buNone/>
            </a:pPr>
            <a:r>
              <a:rPr lang="en-US" sz="1400" b="1" dirty="0">
                <a:solidFill>
                  <a:srgbClr val="163B27"/>
                </a:solidFill>
              </a:rPr>
              <a:t>Local-only deployment</a:t>
            </a:r>
            <a:endParaRPr lang="en-US" sz="1400" dirty="0"/>
          </a:p>
        </p:txBody>
      </p:sp>
      <p:sp>
        <p:nvSpPr>
          <p:cNvPr id="24" name="Text 22"/>
          <p:cNvSpPr/>
          <p:nvPr/>
        </p:nvSpPr>
        <p:spPr>
          <a:xfrm>
            <a:off x="886968" y="5020056"/>
            <a:ext cx="4736592" cy="457200"/>
          </a:xfrm>
          <a:prstGeom prst="rect">
            <a:avLst/>
          </a:prstGeom>
          <a:noFill/>
          <a:ln/>
        </p:spPr>
        <p:txBody>
          <a:bodyPr wrap="square" lIns="0" tIns="0" rIns="0" bIns="0" rtlCol="0" anchor="ctr">
            <a:normAutofit/>
          </a:bodyPr>
          <a:lstStyle/>
          <a:p>
            <a:pPr indent="0" marL="0">
              <a:buNone/>
            </a:pPr>
            <a:r>
              <a:rPr lang="en-US" sz="1120" dirty="0">
                <a:solidFill>
                  <a:srgbClr val="5F6D63"/>
                </a:solidFill>
              </a:rPr>
              <a:t>Add authentication, backups and hosted persistence before deployment.</a:t>
            </a:r>
            <a:endParaRPr lang="en-US" sz="1120" dirty="0"/>
          </a:p>
        </p:txBody>
      </p:sp>
      <p:sp>
        <p:nvSpPr>
          <p:cNvPr id="25" name="Shape 23"/>
          <p:cNvSpPr/>
          <p:nvPr/>
        </p:nvSpPr>
        <p:spPr>
          <a:xfrm>
            <a:off x="6236208" y="4453128"/>
            <a:ext cx="5321808" cy="1261872"/>
          </a:xfrm>
          <a:prstGeom prst="roundRect">
            <a:avLst>
              <a:gd name="adj" fmla="val 4348"/>
            </a:avLst>
          </a:prstGeom>
          <a:solidFill>
            <a:srgbClr val="FFFFFF"/>
          </a:solidFill>
          <a:ln w="12700">
            <a:solidFill>
              <a:srgbClr val="D6DED4"/>
            </a:solidFill>
            <a:prstDash val="solid"/>
          </a:ln>
        </p:spPr>
      </p:sp>
      <p:sp>
        <p:nvSpPr>
          <p:cNvPr id="26" name="Shape 24"/>
          <p:cNvSpPr/>
          <p:nvPr/>
        </p:nvSpPr>
        <p:spPr>
          <a:xfrm>
            <a:off x="6236208" y="4453128"/>
            <a:ext cx="82296" cy="1261872"/>
          </a:xfrm>
          <a:prstGeom prst="rect">
            <a:avLst/>
          </a:prstGeom>
          <a:solidFill>
            <a:srgbClr val="956156"/>
          </a:solidFill>
          <a:ln w="12700">
            <a:solidFill>
              <a:srgbClr val="956156"/>
            </a:solidFill>
            <a:prstDash val="solid"/>
          </a:ln>
        </p:spPr>
      </p:sp>
      <p:sp>
        <p:nvSpPr>
          <p:cNvPr id="27" name="Text 25"/>
          <p:cNvSpPr/>
          <p:nvPr/>
        </p:nvSpPr>
        <p:spPr>
          <a:xfrm>
            <a:off x="6510528" y="4654296"/>
            <a:ext cx="4736592" cy="246888"/>
          </a:xfrm>
          <a:prstGeom prst="rect">
            <a:avLst/>
          </a:prstGeom>
          <a:noFill/>
          <a:ln/>
        </p:spPr>
        <p:txBody>
          <a:bodyPr wrap="square" lIns="0" tIns="0" rIns="0" bIns="0" rtlCol="0" anchor="ctr">
            <a:normAutofit/>
          </a:bodyPr>
          <a:lstStyle/>
          <a:p>
            <a:pPr indent="0" marL="0">
              <a:buNone/>
            </a:pPr>
            <a:r>
              <a:rPr lang="en-US" sz="1400" b="1" dirty="0">
                <a:solidFill>
                  <a:srgbClr val="163B27"/>
                </a:solidFill>
              </a:rPr>
              <a:t>Known label/export defects</a:t>
            </a:r>
            <a:endParaRPr lang="en-US" sz="1400" dirty="0"/>
          </a:p>
        </p:txBody>
      </p:sp>
      <p:sp>
        <p:nvSpPr>
          <p:cNvPr id="28" name="Text 26"/>
          <p:cNvSpPr/>
          <p:nvPr/>
        </p:nvSpPr>
        <p:spPr>
          <a:xfrm>
            <a:off x="6510528" y="5020056"/>
            <a:ext cx="4736592" cy="457200"/>
          </a:xfrm>
          <a:prstGeom prst="rect">
            <a:avLst/>
          </a:prstGeom>
          <a:noFill/>
          <a:ln/>
        </p:spPr>
        <p:txBody>
          <a:bodyPr wrap="square" lIns="0" tIns="0" rIns="0" bIns="0" rtlCol="0" anchor="ctr">
            <a:normAutofit/>
          </a:bodyPr>
          <a:lstStyle/>
          <a:p>
            <a:pPr indent="0" marL="0">
              <a:buNone/>
            </a:pPr>
            <a:r>
              <a:rPr lang="en-US" sz="1120" dirty="0">
                <a:solidFill>
                  <a:srgbClr val="5F6D63"/>
                </a:solidFill>
              </a:rPr>
              <a:t>Correct VM0051 wording and complete livestock CSV coverage.</a:t>
            </a:r>
            <a:endParaRPr lang="en-US" sz="112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TIMELINE</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Progress against the project plan</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Corrected Gantt chart with the 2 August 2026 midterm checkpoint.</a:t>
            </a:r>
            <a:endParaRPr lang="en-US" sz="1250" dirty="0"/>
          </a:p>
        </p:txBody>
      </p:sp>
      <p:sp>
        <p:nvSpPr>
          <p:cNvPr id="5" name="Shape 3"/>
          <p:cNvSpPr/>
          <p:nvPr/>
        </p:nvSpPr>
        <p:spPr>
          <a:xfrm>
            <a:off x="512064" y="1325880"/>
            <a:ext cx="11155680" cy="5001768"/>
          </a:xfrm>
          <a:prstGeom prst="roundRect">
            <a:avLst>
              <a:gd name="adj" fmla="val 640"/>
            </a:avLst>
          </a:prstGeom>
          <a:solidFill>
            <a:srgbClr val="FFFFFF"/>
          </a:solidFill>
          <a:ln w="8255">
            <a:solidFill>
              <a:srgbClr val="D6DED4"/>
            </a:solidFill>
            <a:prstDash val="solid"/>
          </a:ln>
        </p:spPr>
      </p:sp>
      <p:pic>
        <p:nvPicPr>
          <p:cNvPr id="6" name="Image 0" descr="/home/nahid/Desktop/my_project/terra-audit/docs/diagrams/fig22_gantt_serial_fixed.png">    </p:cNvPr>
          <p:cNvPicPr>
            <a:picLocks noChangeAspect="1"/>
          </p:cNvPicPr>
          <p:nvPr/>
        </p:nvPicPr>
        <p:blipFill>
          <a:blip r:embed="rId1"/>
          <a:stretch>
            <a:fillRect/>
          </a:stretch>
        </p:blipFill>
        <p:spPr>
          <a:xfrm>
            <a:off x="2425792" y="1435608"/>
            <a:ext cx="7328223" cy="4562856"/>
          </a:xfrm>
          <a:prstGeom prst="rect">
            <a:avLst/>
          </a:prstGeom>
        </p:spPr>
      </p:pic>
      <p:sp>
        <p:nvSpPr>
          <p:cNvPr id="7" name="Text 4"/>
          <p:cNvSpPr/>
          <p:nvPr/>
        </p:nvSpPr>
        <p:spPr>
          <a:xfrm>
            <a:off x="658368" y="6053328"/>
            <a:ext cx="1086307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Corrected project Gantt chart</a:t>
            </a:r>
            <a:endParaRPr lang="en-US" sz="950" dirty="0"/>
          </a:p>
        </p:txBody>
      </p:sp>
      <p:sp>
        <p:nvSpPr>
          <p:cNvPr id="8" name="Text 5">
            <a:hlinkClick r:id="rId2" tooltip=""/>
          </p:cNvPr>
          <p:cNvSpPr/>
          <p:nvPr/>
        </p:nvSpPr>
        <p:spPr>
          <a:xfrm>
            <a:off x="6675120" y="6236208"/>
            <a:ext cx="4892040" cy="164592"/>
          </a:xfrm>
          <a:prstGeom prst="rect">
            <a:avLst/>
          </a:prstGeom>
          <a:noFill/>
          <a:ln/>
        </p:spPr>
        <p:txBody>
          <a:bodyPr wrap="square" lIns="0" tIns="0" rIns="0" bIns="0" rtlCol="0" anchor="ctr">
            <a:normAutofit/>
          </a:bodyPr>
          <a:lstStyle/>
          <a:p>
            <a:pPr algn="r" indent="0" marL="0">
              <a:buNone/>
            </a:pPr>
            <a:r>
              <a:rPr lang="en-US" sz="850" i="1" u="sng" dirty="0">
                <a:solidFill>
                  <a:srgbClr val="527A68"/>
                </a:solidFill>
                <a:hlinkClick r:id="rId2" invalidUrl="" action="" tgtFrame="" tooltip="" history="1" highlightClick="0" endSnd="0">
                  <a:extLst>
                    <a:ext uri="{A12FA001-AC4F-418D-AE19-62706E023703}">
                      <ahyp:hlinkClr xmlns:ahyp="http://schemas.microsoft.com/office/drawing/2018/hyperlinkcolor" val="tx"/>
                    </a:ext>
                  </a:extLst>
                </a:hlinkClick>
              </a:rPr>
              <a:t>Open corrected Gantt chart</a:t>
            </a:r>
            <a:endParaRPr lang="en-US" sz="8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home/nahid/Desktop/my_project/terra-audit/docs/presentation/assets/rice_fields_cover_v2.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63B27">
              <a:alpha val="78000"/>
            </a:srgbClr>
          </a:solidFill>
          <a:ln w="12700">
            <a:solidFill>
              <a:srgbClr val="163B27">
                <a:alpha val="0"/>
              </a:srgbClr>
            </a:solidFill>
            <a:prstDash val="solid"/>
          </a:ln>
        </p:spPr>
      </p:sp>
      <p:sp>
        <p:nvSpPr>
          <p:cNvPr id="4" name="Shape 1"/>
          <p:cNvSpPr/>
          <p:nvPr/>
        </p:nvSpPr>
        <p:spPr>
          <a:xfrm>
            <a:off x="0" y="0"/>
            <a:ext cx="7955280" cy="6858000"/>
          </a:xfrm>
          <a:prstGeom prst="rect">
            <a:avLst/>
          </a:prstGeom>
          <a:solidFill>
            <a:srgbClr val="102F20">
              <a:alpha val="95000"/>
            </a:srgbClr>
          </a:solidFill>
          <a:ln w="12700">
            <a:solidFill>
              <a:srgbClr val="102F20">
                <a:alpha val="0"/>
              </a:srgbClr>
            </a:solidFill>
            <a:prstDash val="solid"/>
          </a:ln>
        </p:spPr>
      </p:sp>
      <p:sp>
        <p:nvSpPr>
          <p:cNvPr id="5" name="Text 2"/>
          <p:cNvSpPr/>
          <p:nvPr/>
        </p:nvSpPr>
        <p:spPr>
          <a:xfrm>
            <a:off x="676656" y="941832"/>
            <a:ext cx="5212080" cy="219456"/>
          </a:xfrm>
          <a:prstGeom prst="rect">
            <a:avLst/>
          </a:prstGeom>
          <a:noFill/>
          <a:ln/>
        </p:spPr>
        <p:txBody>
          <a:bodyPr wrap="square" lIns="0" tIns="0" rIns="0" bIns="0" rtlCol="0" anchor="ctr"/>
          <a:lstStyle/>
          <a:p>
            <a:pPr indent="0" marL="0">
              <a:buNone/>
            </a:pPr>
            <a:r>
              <a:rPr lang="en-US" sz="1050" b="1" spc="125" kern="0" dirty="0">
                <a:solidFill>
                  <a:srgbClr val="D8C27B"/>
                </a:solidFill>
              </a:rPr>
              <a:t>FIELD  →  EVIDENCE  →  ACCOUNTING</a:t>
            </a:r>
            <a:endParaRPr lang="en-US" sz="1050" dirty="0"/>
          </a:p>
        </p:txBody>
      </p:sp>
      <p:sp>
        <p:nvSpPr>
          <p:cNvPr id="6" name="Text 3"/>
          <p:cNvSpPr/>
          <p:nvPr/>
        </p:nvSpPr>
        <p:spPr>
          <a:xfrm>
            <a:off x="658368" y="1371600"/>
            <a:ext cx="6812280" cy="1325880"/>
          </a:xfrm>
          <a:prstGeom prst="rect">
            <a:avLst/>
          </a:prstGeom>
          <a:noFill/>
          <a:ln/>
        </p:spPr>
        <p:txBody>
          <a:bodyPr wrap="square" lIns="0" tIns="0" rIns="0" bIns="0" rtlCol="0" anchor="ctr">
            <a:normAutofit/>
          </a:bodyPr>
          <a:lstStyle/>
          <a:p>
            <a:pPr indent="0" marL="0">
              <a:buNone/>
            </a:pPr>
            <a:r>
              <a:rPr lang="en-US" sz="3000" b="1" dirty="0">
                <a:solidFill>
                  <a:srgbClr val="FFFFFF"/>
                </a:solidFill>
              </a:rPr>
              <a:t>Terra-Audit turns agricultural evidence into a reproducible carbon estimate.</a:t>
            </a:r>
            <a:endParaRPr lang="en-US" sz="3000" dirty="0"/>
          </a:p>
        </p:txBody>
      </p:sp>
      <p:sp>
        <p:nvSpPr>
          <p:cNvPr id="7" name="Shape 4"/>
          <p:cNvSpPr/>
          <p:nvPr/>
        </p:nvSpPr>
        <p:spPr>
          <a:xfrm>
            <a:off x="685800" y="3063240"/>
            <a:ext cx="5989320" cy="512064"/>
          </a:xfrm>
          <a:prstGeom prst="roundRect">
            <a:avLst>
              <a:gd name="adj" fmla="val 8929"/>
            </a:avLst>
          </a:prstGeom>
          <a:solidFill>
            <a:srgbClr val="214A32">
              <a:alpha val="92000"/>
            </a:srgbClr>
          </a:solidFill>
          <a:ln w="12700">
            <a:solidFill>
              <a:srgbClr val="A8C39D">
                <a:alpha val="50000"/>
              </a:srgbClr>
            </a:solidFill>
            <a:prstDash val="solid"/>
          </a:ln>
        </p:spPr>
      </p:sp>
      <p:sp>
        <p:nvSpPr>
          <p:cNvPr id="8" name="Shape 5"/>
          <p:cNvSpPr/>
          <p:nvPr/>
        </p:nvSpPr>
        <p:spPr>
          <a:xfrm>
            <a:off x="914400" y="3218688"/>
            <a:ext cx="201168" cy="201168"/>
          </a:xfrm>
          <a:prstGeom prst="ellipse">
            <a:avLst/>
          </a:prstGeom>
          <a:solidFill>
            <a:srgbClr val="2F6B3B"/>
          </a:solidFill>
          <a:ln w="12700">
            <a:solidFill>
              <a:srgbClr val="2F6B3B"/>
            </a:solidFill>
            <a:prstDash val="solid"/>
          </a:ln>
        </p:spPr>
      </p:sp>
      <p:sp>
        <p:nvSpPr>
          <p:cNvPr id="9" name="Text 6"/>
          <p:cNvSpPr/>
          <p:nvPr/>
        </p:nvSpPr>
        <p:spPr>
          <a:xfrm>
            <a:off x="1325880" y="3191256"/>
            <a:ext cx="4956048" cy="201168"/>
          </a:xfrm>
          <a:prstGeom prst="rect">
            <a:avLst/>
          </a:prstGeom>
          <a:noFill/>
          <a:ln/>
        </p:spPr>
        <p:txBody>
          <a:bodyPr wrap="square" lIns="0" tIns="0" rIns="0" bIns="0" rtlCol="0" anchor="ctr">
            <a:normAutofit/>
          </a:bodyPr>
          <a:lstStyle/>
          <a:p>
            <a:pPr indent="0" marL="0">
              <a:buNone/>
            </a:pPr>
            <a:r>
              <a:rPr lang="en-US" sz="1450" b="1" dirty="0">
                <a:solidFill>
                  <a:srgbClr val="FFFFFF"/>
                </a:solidFill>
              </a:rPr>
              <a:t>Field-specific evidence processing</a:t>
            </a:r>
            <a:endParaRPr lang="en-US" sz="1450" dirty="0"/>
          </a:p>
        </p:txBody>
      </p:sp>
      <p:sp>
        <p:nvSpPr>
          <p:cNvPr id="10" name="Shape 7"/>
          <p:cNvSpPr/>
          <p:nvPr/>
        </p:nvSpPr>
        <p:spPr>
          <a:xfrm>
            <a:off x="685800" y="3749040"/>
            <a:ext cx="5989320" cy="512064"/>
          </a:xfrm>
          <a:prstGeom prst="roundRect">
            <a:avLst>
              <a:gd name="adj" fmla="val 8929"/>
            </a:avLst>
          </a:prstGeom>
          <a:solidFill>
            <a:srgbClr val="214A32">
              <a:alpha val="92000"/>
            </a:srgbClr>
          </a:solidFill>
          <a:ln w="12700">
            <a:solidFill>
              <a:srgbClr val="A8C39D">
                <a:alpha val="50000"/>
              </a:srgbClr>
            </a:solidFill>
            <a:prstDash val="solid"/>
          </a:ln>
        </p:spPr>
      </p:sp>
      <p:sp>
        <p:nvSpPr>
          <p:cNvPr id="11" name="Shape 8"/>
          <p:cNvSpPr/>
          <p:nvPr/>
        </p:nvSpPr>
        <p:spPr>
          <a:xfrm>
            <a:off x="914400" y="3904488"/>
            <a:ext cx="201168" cy="201168"/>
          </a:xfrm>
          <a:prstGeom prst="ellipse">
            <a:avLst/>
          </a:prstGeom>
          <a:solidFill>
            <a:srgbClr val="B08A4F"/>
          </a:solidFill>
          <a:ln w="12700">
            <a:solidFill>
              <a:srgbClr val="B08A4F"/>
            </a:solidFill>
            <a:prstDash val="solid"/>
          </a:ln>
        </p:spPr>
      </p:sp>
      <p:sp>
        <p:nvSpPr>
          <p:cNvPr id="12" name="Text 9"/>
          <p:cNvSpPr/>
          <p:nvPr/>
        </p:nvSpPr>
        <p:spPr>
          <a:xfrm>
            <a:off x="1325880" y="3877056"/>
            <a:ext cx="4956048" cy="201168"/>
          </a:xfrm>
          <a:prstGeom prst="rect">
            <a:avLst/>
          </a:prstGeom>
          <a:noFill/>
          <a:ln/>
        </p:spPr>
        <p:txBody>
          <a:bodyPr wrap="square" lIns="0" tIns="0" rIns="0" bIns="0" rtlCol="0" anchor="ctr">
            <a:normAutofit/>
          </a:bodyPr>
          <a:lstStyle/>
          <a:p>
            <a:pPr indent="0" marL="0">
              <a:buNone/>
            </a:pPr>
            <a:r>
              <a:rPr lang="en-US" sz="1450" b="1" dirty="0">
                <a:solidFill>
                  <a:srgbClr val="FFFFFF"/>
                </a:solidFill>
              </a:rPr>
              <a:t>Transparent methodology calculations</a:t>
            </a:r>
            <a:endParaRPr lang="en-US" sz="1450" dirty="0"/>
          </a:p>
        </p:txBody>
      </p:sp>
      <p:sp>
        <p:nvSpPr>
          <p:cNvPr id="13" name="Shape 10"/>
          <p:cNvSpPr/>
          <p:nvPr/>
        </p:nvSpPr>
        <p:spPr>
          <a:xfrm>
            <a:off x="685800" y="4434840"/>
            <a:ext cx="5989320" cy="512064"/>
          </a:xfrm>
          <a:prstGeom prst="roundRect">
            <a:avLst>
              <a:gd name="adj" fmla="val 8929"/>
            </a:avLst>
          </a:prstGeom>
          <a:solidFill>
            <a:srgbClr val="214A32">
              <a:alpha val="92000"/>
            </a:srgbClr>
          </a:solidFill>
          <a:ln w="12700">
            <a:solidFill>
              <a:srgbClr val="A8C39D">
                <a:alpha val="50000"/>
              </a:srgbClr>
            </a:solidFill>
            <a:prstDash val="solid"/>
          </a:ln>
        </p:spPr>
      </p:sp>
      <p:sp>
        <p:nvSpPr>
          <p:cNvPr id="14" name="Shape 11"/>
          <p:cNvSpPr/>
          <p:nvPr/>
        </p:nvSpPr>
        <p:spPr>
          <a:xfrm>
            <a:off x="914400" y="4590288"/>
            <a:ext cx="201168" cy="201168"/>
          </a:xfrm>
          <a:prstGeom prst="ellipse">
            <a:avLst/>
          </a:prstGeom>
          <a:solidFill>
            <a:srgbClr val="2F6B3B"/>
          </a:solidFill>
          <a:ln w="12700">
            <a:solidFill>
              <a:srgbClr val="2F6B3B"/>
            </a:solidFill>
            <a:prstDash val="solid"/>
          </a:ln>
        </p:spPr>
      </p:sp>
      <p:sp>
        <p:nvSpPr>
          <p:cNvPr id="15" name="Text 12"/>
          <p:cNvSpPr/>
          <p:nvPr/>
        </p:nvSpPr>
        <p:spPr>
          <a:xfrm>
            <a:off x="1325880" y="4562856"/>
            <a:ext cx="4956048" cy="201168"/>
          </a:xfrm>
          <a:prstGeom prst="rect">
            <a:avLst/>
          </a:prstGeom>
          <a:noFill/>
          <a:ln/>
        </p:spPr>
        <p:txBody>
          <a:bodyPr wrap="square" lIns="0" tIns="0" rIns="0" bIns="0" rtlCol="0" anchor="ctr">
            <a:normAutofit/>
          </a:bodyPr>
          <a:lstStyle/>
          <a:p>
            <a:pPr indent="0" marL="0">
              <a:buNone/>
            </a:pPr>
            <a:r>
              <a:rPr lang="en-US" sz="1450" b="1" dirty="0">
                <a:solidFill>
                  <a:srgbClr val="FFFFFF"/>
                </a:solidFill>
              </a:rPr>
              <a:t>Persistent audit trail and exports</a:t>
            </a:r>
            <a:endParaRPr lang="en-US" sz="1450" dirty="0"/>
          </a:p>
        </p:txBody>
      </p:sp>
      <p:sp>
        <p:nvSpPr>
          <p:cNvPr id="16" name="Text 13"/>
          <p:cNvSpPr/>
          <p:nvPr/>
        </p:nvSpPr>
        <p:spPr>
          <a:xfrm>
            <a:off x="694944" y="5349240"/>
            <a:ext cx="6492240" cy="411480"/>
          </a:xfrm>
          <a:prstGeom prst="rect">
            <a:avLst/>
          </a:prstGeom>
          <a:noFill/>
          <a:ln/>
        </p:spPr>
        <p:txBody>
          <a:bodyPr wrap="square" lIns="0" tIns="0" rIns="0" bIns="0" rtlCol="0" anchor="ctr">
            <a:normAutofit/>
          </a:bodyPr>
          <a:lstStyle/>
          <a:p>
            <a:pPr indent="0" marL="0">
              <a:buNone/>
            </a:pPr>
            <a:r>
              <a:rPr lang="en-US" sz="1550" i="1" dirty="0">
                <a:solidFill>
                  <a:srgbClr val="E3ECE0"/>
                </a:solidFill>
              </a:rPr>
              <a:t>AI remains experimental. The core contribution is the modular, auditable MRV workflow.</a:t>
            </a:r>
            <a:endParaRPr lang="en-US" sz="1550" dirty="0"/>
          </a:p>
        </p:txBody>
      </p:sp>
      <p:sp>
        <p:nvSpPr>
          <p:cNvPr id="17" name="Text 14"/>
          <p:cNvSpPr/>
          <p:nvPr/>
        </p:nvSpPr>
        <p:spPr>
          <a:xfrm>
            <a:off x="658368" y="5989320"/>
            <a:ext cx="3840480" cy="502920"/>
          </a:xfrm>
          <a:prstGeom prst="rect">
            <a:avLst/>
          </a:prstGeom>
          <a:noFill/>
          <a:ln/>
        </p:spPr>
        <p:txBody>
          <a:bodyPr wrap="square" lIns="0" tIns="0" rIns="0" bIns="0" rtlCol="0" anchor="ctr"/>
          <a:lstStyle/>
          <a:p>
            <a:pPr indent="0" marL="0">
              <a:buNone/>
            </a:pPr>
            <a:r>
              <a:rPr lang="en-US" sz="2800" b="1" dirty="0">
                <a:solidFill>
                  <a:srgbClr val="D8C27B"/>
                </a:solidFill>
              </a:rPr>
              <a:t>QUESTIONS?</a:t>
            </a:r>
            <a:endParaRPr lang="en-US"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APPENDIX • DETAILED DIAGRAMS</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System scope diagrams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Use these only if the examiner asks for the less-detailed system boundary.</a:t>
            </a:r>
            <a:endParaRPr lang="en-US" sz="1250" dirty="0"/>
          </a:p>
        </p:txBody>
      </p:sp>
      <p:sp>
        <p:nvSpPr>
          <p:cNvPr id="5" name="Shape 3"/>
          <p:cNvSpPr/>
          <p:nvPr/>
        </p:nvSpPr>
        <p:spPr>
          <a:xfrm>
            <a:off x="512064" y="1371600"/>
            <a:ext cx="5486400" cy="4892040"/>
          </a:xfrm>
          <a:prstGeom prst="roundRect">
            <a:avLst>
              <a:gd name="adj" fmla="val 654"/>
            </a:avLst>
          </a:prstGeom>
          <a:solidFill>
            <a:srgbClr val="FFFFFF"/>
          </a:solidFill>
          <a:ln w="8255">
            <a:solidFill>
              <a:srgbClr val="D6DED4"/>
            </a:solidFill>
            <a:prstDash val="solid"/>
          </a:ln>
        </p:spPr>
      </p:sp>
      <p:pic>
        <p:nvPicPr>
          <p:cNvPr id="6" name="Image 0" descr="/home/nahid/Desktop/my_project/terra-audit/docs/presentation/assets/report_v3/fig01.png">    </p:cNvPr>
          <p:cNvPicPr>
            <a:picLocks noChangeAspect="1"/>
          </p:cNvPicPr>
          <p:nvPr/>
        </p:nvPicPr>
        <p:blipFill>
          <a:blip r:embed="rId1"/>
          <a:stretch>
            <a:fillRect/>
          </a:stretch>
        </p:blipFill>
        <p:spPr>
          <a:xfrm>
            <a:off x="621792" y="2396945"/>
            <a:ext cx="5266944" cy="2621893"/>
          </a:xfrm>
          <a:prstGeom prst="rect">
            <a:avLst/>
          </a:prstGeom>
        </p:spPr>
      </p:pic>
      <p:sp>
        <p:nvSpPr>
          <p:cNvPr id="7" name="Text 4"/>
          <p:cNvSpPr/>
          <p:nvPr/>
        </p:nvSpPr>
        <p:spPr>
          <a:xfrm>
            <a:off x="658368" y="5989320"/>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 — Level-0 use case</a:t>
            </a:r>
            <a:endParaRPr lang="en-US" sz="950" dirty="0"/>
          </a:p>
        </p:txBody>
      </p:sp>
      <p:sp>
        <p:nvSpPr>
          <p:cNvPr id="8" name="Shape 5"/>
          <p:cNvSpPr/>
          <p:nvPr/>
        </p:nvSpPr>
        <p:spPr>
          <a:xfrm>
            <a:off x="6181344" y="1371600"/>
            <a:ext cx="5486400" cy="4892040"/>
          </a:xfrm>
          <a:prstGeom prst="roundRect">
            <a:avLst>
              <a:gd name="adj" fmla="val 654"/>
            </a:avLst>
          </a:prstGeom>
          <a:solidFill>
            <a:srgbClr val="FFFFFF"/>
          </a:solidFill>
          <a:ln w="8255">
            <a:solidFill>
              <a:srgbClr val="D6DED4"/>
            </a:solidFill>
            <a:prstDash val="solid"/>
          </a:ln>
        </p:spPr>
      </p:sp>
      <p:pic>
        <p:nvPicPr>
          <p:cNvPr id="9" name="Image 1" descr="/home/nahid/Desktop/my_project/terra-audit/docs/presentation/assets/report_v3/fig02.png">    </p:cNvPr>
          <p:cNvPicPr>
            <a:picLocks noChangeAspect="1"/>
          </p:cNvPicPr>
          <p:nvPr/>
        </p:nvPicPr>
        <p:blipFill>
          <a:blip r:embed="rId2"/>
          <a:stretch>
            <a:fillRect/>
          </a:stretch>
        </p:blipFill>
        <p:spPr>
          <a:xfrm>
            <a:off x="6291072" y="1575114"/>
            <a:ext cx="5266944" cy="4265555"/>
          </a:xfrm>
          <a:prstGeom prst="rect">
            <a:avLst/>
          </a:prstGeom>
        </p:spPr>
      </p:pic>
      <p:sp>
        <p:nvSpPr>
          <p:cNvPr id="10" name="Text 6"/>
          <p:cNvSpPr/>
          <p:nvPr/>
        </p:nvSpPr>
        <p:spPr>
          <a:xfrm>
            <a:off x="6327648" y="5989320"/>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2 — Level-1 use case</a:t>
            </a:r>
            <a:endParaRPr lang="en-US" sz="9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APPENDIX • DETAILED DIAGRAMS</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Field-management diagrams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Registration is decomposed into field management, geometry input and persistence.</a:t>
            </a:r>
            <a:endParaRPr lang="en-US" sz="1250" dirty="0"/>
          </a:p>
        </p:txBody>
      </p:sp>
      <p:sp>
        <p:nvSpPr>
          <p:cNvPr id="5" name="Shape 3"/>
          <p:cNvSpPr/>
          <p:nvPr/>
        </p:nvSpPr>
        <p:spPr>
          <a:xfrm>
            <a:off x="512064" y="1371600"/>
            <a:ext cx="3596640" cy="4892040"/>
          </a:xfrm>
          <a:prstGeom prst="roundRect">
            <a:avLst>
              <a:gd name="adj" fmla="val 890"/>
            </a:avLst>
          </a:prstGeom>
          <a:solidFill>
            <a:srgbClr val="FFFFFF"/>
          </a:solidFill>
          <a:ln w="8255">
            <a:solidFill>
              <a:srgbClr val="D6DED4"/>
            </a:solidFill>
            <a:prstDash val="solid"/>
          </a:ln>
        </p:spPr>
      </p:sp>
      <p:pic>
        <p:nvPicPr>
          <p:cNvPr id="6" name="Image 0" descr="/home/nahid/Desktop/my_project/terra-audit/docs/presentation/assets/report_v3/fig03.png">    </p:cNvPr>
          <p:cNvPicPr>
            <a:picLocks noChangeAspect="1"/>
          </p:cNvPicPr>
          <p:nvPr/>
        </p:nvPicPr>
        <p:blipFill>
          <a:blip r:embed="rId1"/>
          <a:stretch>
            <a:fillRect/>
          </a:stretch>
        </p:blipFill>
        <p:spPr>
          <a:xfrm>
            <a:off x="621792" y="2863596"/>
            <a:ext cx="3377184" cy="1688592"/>
          </a:xfrm>
          <a:prstGeom prst="rect">
            <a:avLst/>
          </a:prstGeom>
        </p:spPr>
      </p:pic>
      <p:sp>
        <p:nvSpPr>
          <p:cNvPr id="7" name="Text 4"/>
          <p:cNvSpPr/>
          <p:nvPr/>
        </p:nvSpPr>
        <p:spPr>
          <a:xfrm>
            <a:off x="658368" y="5989320"/>
            <a:ext cx="330403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3 — Field management</a:t>
            </a:r>
            <a:endParaRPr lang="en-US" sz="950" dirty="0"/>
          </a:p>
        </p:txBody>
      </p:sp>
      <p:sp>
        <p:nvSpPr>
          <p:cNvPr id="8" name="Shape 5"/>
          <p:cNvSpPr/>
          <p:nvPr/>
        </p:nvSpPr>
        <p:spPr>
          <a:xfrm>
            <a:off x="4291584" y="1371600"/>
            <a:ext cx="3596640" cy="4892040"/>
          </a:xfrm>
          <a:prstGeom prst="roundRect">
            <a:avLst>
              <a:gd name="adj" fmla="val 890"/>
            </a:avLst>
          </a:prstGeom>
          <a:solidFill>
            <a:srgbClr val="FFFFFF"/>
          </a:solidFill>
          <a:ln w="8255">
            <a:solidFill>
              <a:srgbClr val="D6DED4"/>
            </a:solidFill>
            <a:prstDash val="solid"/>
          </a:ln>
        </p:spPr>
      </p:sp>
      <p:pic>
        <p:nvPicPr>
          <p:cNvPr id="9" name="Image 1" descr="/home/nahid/Desktop/my_project/terra-audit/docs/presentation/assets/report_v3/fig04.png">    </p:cNvPr>
          <p:cNvPicPr>
            <a:picLocks noChangeAspect="1"/>
          </p:cNvPicPr>
          <p:nvPr/>
        </p:nvPicPr>
        <p:blipFill>
          <a:blip r:embed="rId2"/>
          <a:stretch>
            <a:fillRect/>
          </a:stretch>
        </p:blipFill>
        <p:spPr>
          <a:xfrm>
            <a:off x="4401312" y="3062812"/>
            <a:ext cx="3377184" cy="1290160"/>
          </a:xfrm>
          <a:prstGeom prst="rect">
            <a:avLst/>
          </a:prstGeom>
        </p:spPr>
      </p:pic>
      <p:sp>
        <p:nvSpPr>
          <p:cNvPr id="10" name="Text 6"/>
          <p:cNvSpPr/>
          <p:nvPr/>
        </p:nvSpPr>
        <p:spPr>
          <a:xfrm>
            <a:off x="4437888" y="5989320"/>
            <a:ext cx="330403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4 — Geometry input</a:t>
            </a:r>
            <a:endParaRPr lang="en-US" sz="950" dirty="0"/>
          </a:p>
        </p:txBody>
      </p:sp>
      <p:sp>
        <p:nvSpPr>
          <p:cNvPr id="11" name="Shape 7"/>
          <p:cNvSpPr/>
          <p:nvPr/>
        </p:nvSpPr>
        <p:spPr>
          <a:xfrm>
            <a:off x="8071104" y="1371600"/>
            <a:ext cx="3596640" cy="4892040"/>
          </a:xfrm>
          <a:prstGeom prst="roundRect">
            <a:avLst>
              <a:gd name="adj" fmla="val 890"/>
            </a:avLst>
          </a:prstGeom>
          <a:solidFill>
            <a:srgbClr val="FFFFFF"/>
          </a:solidFill>
          <a:ln w="8255">
            <a:solidFill>
              <a:srgbClr val="D6DED4"/>
            </a:solidFill>
            <a:prstDash val="solid"/>
          </a:ln>
        </p:spPr>
      </p:sp>
      <p:pic>
        <p:nvPicPr>
          <p:cNvPr id="12" name="Image 2" descr="/home/nahid/Desktop/my_project/terra-audit/docs/presentation/assets/report_v3/fig05.png">    </p:cNvPr>
          <p:cNvPicPr>
            <a:picLocks noChangeAspect="1"/>
          </p:cNvPicPr>
          <p:nvPr/>
        </p:nvPicPr>
        <p:blipFill>
          <a:blip r:embed="rId3"/>
          <a:stretch>
            <a:fillRect/>
          </a:stretch>
        </p:blipFill>
        <p:spPr>
          <a:xfrm>
            <a:off x="8180832" y="2934573"/>
            <a:ext cx="3377184" cy="1546638"/>
          </a:xfrm>
          <a:prstGeom prst="rect">
            <a:avLst/>
          </a:prstGeom>
        </p:spPr>
      </p:pic>
      <p:sp>
        <p:nvSpPr>
          <p:cNvPr id="13" name="Text 8"/>
          <p:cNvSpPr/>
          <p:nvPr/>
        </p:nvSpPr>
        <p:spPr>
          <a:xfrm>
            <a:off x="8217408" y="5989320"/>
            <a:ext cx="330403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5 — Field registration</a:t>
            </a:r>
            <a:endParaRPr lang="en-US" sz="9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APPENDIX • DETAILED DIAGRAMS</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Rice evidence-engine diagrams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Satellite acquisition and signal interpretation are separate responsibilities.</a:t>
            </a:r>
            <a:endParaRPr lang="en-US" sz="1250" dirty="0"/>
          </a:p>
        </p:txBody>
      </p:sp>
      <p:sp>
        <p:nvSpPr>
          <p:cNvPr id="5" name="Shape 3"/>
          <p:cNvSpPr/>
          <p:nvPr/>
        </p:nvSpPr>
        <p:spPr>
          <a:xfrm>
            <a:off x="512064" y="1371600"/>
            <a:ext cx="5486400" cy="4892040"/>
          </a:xfrm>
          <a:prstGeom prst="roundRect">
            <a:avLst>
              <a:gd name="adj" fmla="val 654"/>
            </a:avLst>
          </a:prstGeom>
          <a:solidFill>
            <a:srgbClr val="FFFFFF"/>
          </a:solidFill>
          <a:ln w="8255">
            <a:solidFill>
              <a:srgbClr val="D6DED4"/>
            </a:solidFill>
            <a:prstDash val="solid"/>
          </a:ln>
        </p:spPr>
      </p:sp>
      <p:pic>
        <p:nvPicPr>
          <p:cNvPr id="6" name="Image 0" descr="/home/nahid/Desktop/my_project/terra-audit/docs/presentation/assets/report_v3/fig06.png">    </p:cNvPr>
          <p:cNvPicPr>
            <a:picLocks noChangeAspect="1"/>
          </p:cNvPicPr>
          <p:nvPr/>
        </p:nvPicPr>
        <p:blipFill>
          <a:blip r:embed="rId1"/>
          <a:stretch>
            <a:fillRect/>
          </a:stretch>
        </p:blipFill>
        <p:spPr>
          <a:xfrm>
            <a:off x="621792" y="2846380"/>
            <a:ext cx="5266944" cy="1723025"/>
          </a:xfrm>
          <a:prstGeom prst="rect">
            <a:avLst/>
          </a:prstGeom>
        </p:spPr>
      </p:pic>
      <p:sp>
        <p:nvSpPr>
          <p:cNvPr id="7" name="Text 4"/>
          <p:cNvSpPr/>
          <p:nvPr/>
        </p:nvSpPr>
        <p:spPr>
          <a:xfrm>
            <a:off x="658368" y="5989320"/>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6 — Satellite data engine</a:t>
            </a:r>
            <a:endParaRPr lang="en-US" sz="950" dirty="0"/>
          </a:p>
        </p:txBody>
      </p:sp>
      <p:sp>
        <p:nvSpPr>
          <p:cNvPr id="8" name="Shape 5"/>
          <p:cNvSpPr/>
          <p:nvPr/>
        </p:nvSpPr>
        <p:spPr>
          <a:xfrm>
            <a:off x="6181344" y="1371600"/>
            <a:ext cx="5486400" cy="4892040"/>
          </a:xfrm>
          <a:prstGeom prst="roundRect">
            <a:avLst>
              <a:gd name="adj" fmla="val 654"/>
            </a:avLst>
          </a:prstGeom>
          <a:solidFill>
            <a:srgbClr val="FFFFFF"/>
          </a:solidFill>
          <a:ln w="8255">
            <a:solidFill>
              <a:srgbClr val="D6DED4"/>
            </a:solidFill>
            <a:prstDash val="solid"/>
          </a:ln>
        </p:spPr>
      </p:sp>
      <p:pic>
        <p:nvPicPr>
          <p:cNvPr id="9" name="Image 1" descr="/home/nahid/Desktop/my_project/terra-audit/docs/presentation/assets/report_v3/fig07.png">    </p:cNvPr>
          <p:cNvPicPr>
            <a:picLocks noChangeAspect="1"/>
          </p:cNvPicPr>
          <p:nvPr/>
        </p:nvPicPr>
        <p:blipFill>
          <a:blip r:embed="rId2"/>
          <a:stretch>
            <a:fillRect/>
          </a:stretch>
        </p:blipFill>
        <p:spPr>
          <a:xfrm>
            <a:off x="6291072" y="2477394"/>
            <a:ext cx="5266944" cy="2460996"/>
          </a:xfrm>
          <a:prstGeom prst="rect">
            <a:avLst/>
          </a:prstGeom>
        </p:spPr>
      </p:pic>
      <p:sp>
        <p:nvSpPr>
          <p:cNvPr id="10" name="Text 6"/>
          <p:cNvSpPr/>
          <p:nvPr/>
        </p:nvSpPr>
        <p:spPr>
          <a:xfrm>
            <a:off x="6327648" y="5989320"/>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7 — Signal analytics</a:t>
            </a:r>
            <a:endParaRPr lang="en-US" sz="9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APPENDIX • DETAILED DIAGRAMS</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Calculation, reporting and AI diagrams</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Detailed use cases for the calculation, reporting, AI and cropland subsystems.</a:t>
            </a:r>
            <a:endParaRPr lang="en-US" sz="1250" dirty="0"/>
          </a:p>
        </p:txBody>
      </p:sp>
      <p:sp>
        <p:nvSpPr>
          <p:cNvPr id="5" name="Shape 3"/>
          <p:cNvSpPr/>
          <p:nvPr/>
        </p:nvSpPr>
        <p:spPr>
          <a:xfrm>
            <a:off x="512064" y="1371600"/>
            <a:ext cx="5486400" cy="2363724"/>
          </a:xfrm>
          <a:prstGeom prst="roundRect">
            <a:avLst>
              <a:gd name="adj" fmla="val 1354"/>
            </a:avLst>
          </a:prstGeom>
          <a:solidFill>
            <a:srgbClr val="FFFFFF"/>
          </a:solidFill>
          <a:ln w="8255">
            <a:solidFill>
              <a:srgbClr val="D6DED4"/>
            </a:solidFill>
            <a:prstDash val="solid"/>
          </a:ln>
        </p:spPr>
      </p:sp>
      <p:pic>
        <p:nvPicPr>
          <p:cNvPr id="6" name="Image 0" descr="/home/nahid/Desktop/my_project/terra-audit/docs/presentation/assets/report_v3/fig08.png">    </p:cNvPr>
          <p:cNvPicPr>
            <a:picLocks noChangeAspect="1"/>
          </p:cNvPicPr>
          <p:nvPr/>
        </p:nvPicPr>
        <p:blipFill>
          <a:blip r:embed="rId1"/>
          <a:stretch>
            <a:fillRect/>
          </a:stretch>
        </p:blipFill>
        <p:spPr>
          <a:xfrm>
            <a:off x="2335162" y="1481328"/>
            <a:ext cx="1840205" cy="1924812"/>
          </a:xfrm>
          <a:prstGeom prst="rect">
            <a:avLst/>
          </a:prstGeom>
        </p:spPr>
      </p:pic>
      <p:sp>
        <p:nvSpPr>
          <p:cNvPr id="7" name="Text 4"/>
          <p:cNvSpPr/>
          <p:nvPr/>
        </p:nvSpPr>
        <p:spPr>
          <a:xfrm>
            <a:off x="658368" y="3461004"/>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8 — Carbon estimation</a:t>
            </a:r>
            <a:endParaRPr lang="en-US" sz="950" dirty="0"/>
          </a:p>
        </p:txBody>
      </p:sp>
      <p:sp>
        <p:nvSpPr>
          <p:cNvPr id="8" name="Shape 5"/>
          <p:cNvSpPr/>
          <p:nvPr/>
        </p:nvSpPr>
        <p:spPr>
          <a:xfrm>
            <a:off x="6181344" y="1371600"/>
            <a:ext cx="5486400" cy="2363724"/>
          </a:xfrm>
          <a:prstGeom prst="roundRect">
            <a:avLst>
              <a:gd name="adj" fmla="val 1354"/>
            </a:avLst>
          </a:prstGeom>
          <a:solidFill>
            <a:srgbClr val="FFFFFF"/>
          </a:solidFill>
          <a:ln w="8255">
            <a:solidFill>
              <a:srgbClr val="D6DED4"/>
            </a:solidFill>
            <a:prstDash val="solid"/>
          </a:ln>
        </p:spPr>
      </p:sp>
      <p:pic>
        <p:nvPicPr>
          <p:cNvPr id="9" name="Image 1" descr="/home/nahid/Desktop/my_project/terra-audit/docs/presentation/assets/report_v3/fig09.png">    </p:cNvPr>
          <p:cNvPicPr>
            <a:picLocks noChangeAspect="1"/>
          </p:cNvPicPr>
          <p:nvPr/>
        </p:nvPicPr>
        <p:blipFill>
          <a:blip r:embed="rId2"/>
          <a:stretch>
            <a:fillRect/>
          </a:stretch>
        </p:blipFill>
        <p:spPr>
          <a:xfrm>
            <a:off x="7265929" y="1481328"/>
            <a:ext cx="3317229" cy="1924812"/>
          </a:xfrm>
          <a:prstGeom prst="rect">
            <a:avLst/>
          </a:prstGeom>
        </p:spPr>
      </p:pic>
      <p:sp>
        <p:nvSpPr>
          <p:cNvPr id="10" name="Text 6"/>
          <p:cNvSpPr/>
          <p:nvPr/>
        </p:nvSpPr>
        <p:spPr>
          <a:xfrm>
            <a:off x="6327648" y="3461004"/>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9 — Evidence reporting</a:t>
            </a:r>
            <a:endParaRPr lang="en-US" sz="950" dirty="0"/>
          </a:p>
        </p:txBody>
      </p:sp>
      <p:sp>
        <p:nvSpPr>
          <p:cNvPr id="11" name="Shape 7"/>
          <p:cNvSpPr/>
          <p:nvPr/>
        </p:nvSpPr>
        <p:spPr>
          <a:xfrm>
            <a:off x="512064" y="3899916"/>
            <a:ext cx="5486400" cy="2363724"/>
          </a:xfrm>
          <a:prstGeom prst="roundRect">
            <a:avLst>
              <a:gd name="adj" fmla="val 1354"/>
            </a:avLst>
          </a:prstGeom>
          <a:solidFill>
            <a:srgbClr val="FFFFFF"/>
          </a:solidFill>
          <a:ln w="8255">
            <a:solidFill>
              <a:srgbClr val="D6DED4"/>
            </a:solidFill>
            <a:prstDash val="solid"/>
          </a:ln>
        </p:spPr>
      </p:sp>
      <p:pic>
        <p:nvPicPr>
          <p:cNvPr id="12" name="Image 2" descr="/home/nahid/Desktop/my_project/terra-audit/docs/presentation/assets/report_v3/fig10.png">    </p:cNvPr>
          <p:cNvPicPr>
            <a:picLocks noChangeAspect="1"/>
          </p:cNvPicPr>
          <p:nvPr/>
        </p:nvPicPr>
        <p:blipFill>
          <a:blip r:embed="rId3"/>
          <a:stretch>
            <a:fillRect/>
          </a:stretch>
        </p:blipFill>
        <p:spPr>
          <a:xfrm>
            <a:off x="1526482" y="4009644"/>
            <a:ext cx="3457564" cy="1924812"/>
          </a:xfrm>
          <a:prstGeom prst="rect">
            <a:avLst/>
          </a:prstGeom>
        </p:spPr>
      </p:pic>
      <p:sp>
        <p:nvSpPr>
          <p:cNvPr id="13" name="Text 8"/>
          <p:cNvSpPr/>
          <p:nvPr/>
        </p:nvSpPr>
        <p:spPr>
          <a:xfrm>
            <a:off x="658368" y="5989320"/>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10 — AI validation</a:t>
            </a:r>
            <a:endParaRPr lang="en-US" sz="950" dirty="0"/>
          </a:p>
        </p:txBody>
      </p:sp>
      <p:sp>
        <p:nvSpPr>
          <p:cNvPr id="14" name="Shape 9"/>
          <p:cNvSpPr/>
          <p:nvPr/>
        </p:nvSpPr>
        <p:spPr>
          <a:xfrm>
            <a:off x="6181344" y="3899916"/>
            <a:ext cx="5486400" cy="2363724"/>
          </a:xfrm>
          <a:prstGeom prst="roundRect">
            <a:avLst>
              <a:gd name="adj" fmla="val 1354"/>
            </a:avLst>
          </a:prstGeom>
          <a:solidFill>
            <a:srgbClr val="FFFFFF"/>
          </a:solidFill>
          <a:ln w="8255">
            <a:solidFill>
              <a:srgbClr val="D6DED4"/>
            </a:solidFill>
            <a:prstDash val="solid"/>
          </a:ln>
        </p:spPr>
      </p:sp>
      <p:pic>
        <p:nvPicPr>
          <p:cNvPr id="15" name="Image 3" descr="/home/nahid/Desktop/my_project/terra-audit/docs/presentation/assets/report_v3/fig11.png">    </p:cNvPr>
          <p:cNvPicPr>
            <a:picLocks noChangeAspect="1"/>
          </p:cNvPicPr>
          <p:nvPr/>
        </p:nvPicPr>
        <p:blipFill>
          <a:blip r:embed="rId4"/>
          <a:stretch>
            <a:fillRect/>
          </a:stretch>
        </p:blipFill>
        <p:spPr>
          <a:xfrm>
            <a:off x="7852119" y="4009644"/>
            <a:ext cx="2144850" cy="1924812"/>
          </a:xfrm>
          <a:prstGeom prst="rect">
            <a:avLst/>
          </a:prstGeom>
        </p:spPr>
      </p:pic>
      <p:sp>
        <p:nvSpPr>
          <p:cNvPr id="16" name="Text 10"/>
          <p:cNvSpPr/>
          <p:nvPr/>
        </p:nvSpPr>
        <p:spPr>
          <a:xfrm>
            <a:off x="6327648" y="5989320"/>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11 — Cropland ALM</a:t>
            </a:r>
            <a:endParaRPr lang="en-US" sz="9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APPENDIX • DETAILED DIAGRAMS</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Detailed activity diagrams — evidence collection</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Subsystem flows for field management, geometry, satellite and signal analytics.</a:t>
            </a:r>
            <a:endParaRPr lang="en-US" sz="1250" dirty="0"/>
          </a:p>
        </p:txBody>
      </p:sp>
      <p:sp>
        <p:nvSpPr>
          <p:cNvPr id="5" name="Shape 3"/>
          <p:cNvSpPr/>
          <p:nvPr/>
        </p:nvSpPr>
        <p:spPr>
          <a:xfrm>
            <a:off x="512064" y="1371600"/>
            <a:ext cx="5486400" cy="2363724"/>
          </a:xfrm>
          <a:prstGeom prst="roundRect">
            <a:avLst>
              <a:gd name="adj" fmla="val 1354"/>
            </a:avLst>
          </a:prstGeom>
          <a:solidFill>
            <a:srgbClr val="FFFFFF"/>
          </a:solidFill>
          <a:ln w="8255">
            <a:solidFill>
              <a:srgbClr val="D6DED4"/>
            </a:solidFill>
            <a:prstDash val="solid"/>
          </a:ln>
        </p:spPr>
      </p:sp>
      <p:pic>
        <p:nvPicPr>
          <p:cNvPr id="6" name="Image 0" descr="/home/nahid/Desktop/my_project/terra-audit/docs/presentation/assets/report_v3/fig13.png">    </p:cNvPr>
          <p:cNvPicPr>
            <a:picLocks noChangeAspect="1"/>
          </p:cNvPicPr>
          <p:nvPr/>
        </p:nvPicPr>
        <p:blipFill>
          <a:blip r:embed="rId1"/>
          <a:stretch>
            <a:fillRect/>
          </a:stretch>
        </p:blipFill>
        <p:spPr>
          <a:xfrm>
            <a:off x="2797496" y="1481328"/>
            <a:ext cx="915536" cy="1924812"/>
          </a:xfrm>
          <a:prstGeom prst="rect">
            <a:avLst/>
          </a:prstGeom>
        </p:spPr>
      </p:pic>
      <p:sp>
        <p:nvSpPr>
          <p:cNvPr id="7" name="Text 4"/>
          <p:cNvSpPr/>
          <p:nvPr/>
        </p:nvSpPr>
        <p:spPr>
          <a:xfrm>
            <a:off x="658368" y="3461004"/>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13 — Field management activity</a:t>
            </a:r>
            <a:endParaRPr lang="en-US" sz="950" dirty="0"/>
          </a:p>
        </p:txBody>
      </p:sp>
      <p:sp>
        <p:nvSpPr>
          <p:cNvPr id="8" name="Shape 5"/>
          <p:cNvSpPr/>
          <p:nvPr/>
        </p:nvSpPr>
        <p:spPr>
          <a:xfrm>
            <a:off x="6181344" y="1371600"/>
            <a:ext cx="5486400" cy="2363724"/>
          </a:xfrm>
          <a:prstGeom prst="roundRect">
            <a:avLst>
              <a:gd name="adj" fmla="val 1354"/>
            </a:avLst>
          </a:prstGeom>
          <a:solidFill>
            <a:srgbClr val="FFFFFF"/>
          </a:solidFill>
          <a:ln w="8255">
            <a:solidFill>
              <a:srgbClr val="D6DED4"/>
            </a:solidFill>
            <a:prstDash val="solid"/>
          </a:ln>
        </p:spPr>
      </p:sp>
      <p:pic>
        <p:nvPicPr>
          <p:cNvPr id="9" name="Image 1" descr="/home/nahid/Desktop/my_project/terra-audit/docs/presentation/assets/report_v3/fig14.png">    </p:cNvPr>
          <p:cNvPicPr>
            <a:picLocks noChangeAspect="1"/>
          </p:cNvPicPr>
          <p:nvPr/>
        </p:nvPicPr>
        <p:blipFill>
          <a:blip r:embed="rId2"/>
          <a:stretch>
            <a:fillRect/>
          </a:stretch>
        </p:blipFill>
        <p:spPr>
          <a:xfrm>
            <a:off x="8396773" y="1481328"/>
            <a:ext cx="1055542" cy="1924812"/>
          </a:xfrm>
          <a:prstGeom prst="rect">
            <a:avLst/>
          </a:prstGeom>
        </p:spPr>
      </p:pic>
      <p:sp>
        <p:nvSpPr>
          <p:cNvPr id="10" name="Text 6"/>
          <p:cNvSpPr/>
          <p:nvPr/>
        </p:nvSpPr>
        <p:spPr>
          <a:xfrm>
            <a:off x="6327648" y="3461004"/>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14 — Geometry activity</a:t>
            </a:r>
            <a:endParaRPr lang="en-US" sz="950" dirty="0"/>
          </a:p>
        </p:txBody>
      </p:sp>
      <p:sp>
        <p:nvSpPr>
          <p:cNvPr id="11" name="Shape 7"/>
          <p:cNvSpPr/>
          <p:nvPr/>
        </p:nvSpPr>
        <p:spPr>
          <a:xfrm>
            <a:off x="512064" y="3899916"/>
            <a:ext cx="5486400" cy="2363724"/>
          </a:xfrm>
          <a:prstGeom prst="roundRect">
            <a:avLst>
              <a:gd name="adj" fmla="val 1354"/>
            </a:avLst>
          </a:prstGeom>
          <a:solidFill>
            <a:srgbClr val="FFFFFF"/>
          </a:solidFill>
          <a:ln w="8255">
            <a:solidFill>
              <a:srgbClr val="D6DED4"/>
            </a:solidFill>
            <a:prstDash val="solid"/>
          </a:ln>
        </p:spPr>
      </p:sp>
      <p:pic>
        <p:nvPicPr>
          <p:cNvPr id="12" name="Image 2" descr="/home/nahid/Desktop/my_project/terra-audit/docs/presentation/assets/report_v3/fig15.png">    </p:cNvPr>
          <p:cNvPicPr>
            <a:picLocks noChangeAspect="1"/>
          </p:cNvPicPr>
          <p:nvPr/>
        </p:nvPicPr>
        <p:blipFill>
          <a:blip r:embed="rId3"/>
          <a:stretch>
            <a:fillRect/>
          </a:stretch>
        </p:blipFill>
        <p:spPr>
          <a:xfrm>
            <a:off x="2736901" y="4009644"/>
            <a:ext cx="1036727" cy="1924812"/>
          </a:xfrm>
          <a:prstGeom prst="rect">
            <a:avLst/>
          </a:prstGeom>
        </p:spPr>
      </p:pic>
      <p:sp>
        <p:nvSpPr>
          <p:cNvPr id="13" name="Text 8"/>
          <p:cNvSpPr/>
          <p:nvPr/>
        </p:nvSpPr>
        <p:spPr>
          <a:xfrm>
            <a:off x="658368" y="5989320"/>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15 — Satellite activity</a:t>
            </a:r>
            <a:endParaRPr lang="en-US" sz="950" dirty="0"/>
          </a:p>
        </p:txBody>
      </p:sp>
      <p:sp>
        <p:nvSpPr>
          <p:cNvPr id="14" name="Shape 9"/>
          <p:cNvSpPr/>
          <p:nvPr/>
        </p:nvSpPr>
        <p:spPr>
          <a:xfrm>
            <a:off x="6181344" y="3899916"/>
            <a:ext cx="5486400" cy="2363724"/>
          </a:xfrm>
          <a:prstGeom prst="roundRect">
            <a:avLst>
              <a:gd name="adj" fmla="val 1354"/>
            </a:avLst>
          </a:prstGeom>
          <a:solidFill>
            <a:srgbClr val="FFFFFF"/>
          </a:solidFill>
          <a:ln w="8255">
            <a:solidFill>
              <a:srgbClr val="D6DED4"/>
            </a:solidFill>
            <a:prstDash val="solid"/>
          </a:ln>
        </p:spPr>
      </p:sp>
      <p:pic>
        <p:nvPicPr>
          <p:cNvPr id="15" name="Image 3" descr="/home/nahid/Desktop/my_project/terra-audit/docs/presentation/assets/report_v3/fig16.png">    </p:cNvPr>
          <p:cNvPicPr>
            <a:picLocks noChangeAspect="1"/>
          </p:cNvPicPr>
          <p:nvPr/>
        </p:nvPicPr>
        <p:blipFill>
          <a:blip r:embed="rId4"/>
          <a:stretch>
            <a:fillRect/>
          </a:stretch>
        </p:blipFill>
        <p:spPr>
          <a:xfrm>
            <a:off x="8501875" y="4009644"/>
            <a:ext cx="845338" cy="1924812"/>
          </a:xfrm>
          <a:prstGeom prst="rect">
            <a:avLst/>
          </a:prstGeom>
        </p:spPr>
      </p:pic>
      <p:sp>
        <p:nvSpPr>
          <p:cNvPr id="16" name="Text 10"/>
          <p:cNvSpPr/>
          <p:nvPr/>
        </p:nvSpPr>
        <p:spPr>
          <a:xfrm>
            <a:off x="6327648" y="5989320"/>
            <a:ext cx="519379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16 — Signal analytics activity</a:t>
            </a:r>
            <a:endParaRPr lang="en-US" sz="9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48640" y="310896"/>
            <a:ext cx="3474720" cy="201168"/>
          </a:xfrm>
          <a:prstGeom prst="rect">
            <a:avLst/>
          </a:prstGeom>
          <a:noFill/>
          <a:ln/>
        </p:spPr>
        <p:txBody>
          <a:bodyPr wrap="square" lIns="0" tIns="0" rIns="0" bIns="0" rtlCol="0" anchor="ctr"/>
          <a:lstStyle/>
          <a:p>
            <a:pPr indent="0" marL="0">
              <a:buNone/>
            </a:pPr>
            <a:r>
              <a:rPr lang="en-US" sz="1000" b="1" spc="140" kern="0" dirty="0">
                <a:solidFill>
                  <a:srgbClr val="1F5630"/>
                </a:solidFill>
              </a:rPr>
              <a:t>APPENDIX • DETAILED DIAGRAMS</a:t>
            </a:r>
            <a:endParaRPr lang="en-US" sz="1000" dirty="0"/>
          </a:p>
        </p:txBody>
      </p:sp>
      <p:sp>
        <p:nvSpPr>
          <p:cNvPr id="3" name="Text 1"/>
          <p:cNvSpPr/>
          <p:nvPr/>
        </p:nvSpPr>
        <p:spPr>
          <a:xfrm>
            <a:off x="548640" y="566928"/>
            <a:ext cx="11018520" cy="484632"/>
          </a:xfrm>
          <a:prstGeom prst="rect">
            <a:avLst/>
          </a:prstGeom>
          <a:noFill/>
          <a:ln/>
        </p:spPr>
        <p:txBody>
          <a:bodyPr wrap="square" lIns="0" tIns="0" rIns="0" bIns="0" rtlCol="0" anchor="ctr">
            <a:normAutofit/>
          </a:bodyPr>
          <a:lstStyle/>
          <a:p>
            <a:pPr indent="0" marL="0">
              <a:buNone/>
            </a:pPr>
            <a:r>
              <a:rPr lang="en-US" sz="2700" b="1" dirty="0">
                <a:solidFill>
                  <a:srgbClr val="163B27"/>
                </a:solidFill>
              </a:rPr>
              <a:t>Detailed activity diagrams — calculation and audit</a:t>
            </a:r>
            <a:endParaRPr lang="en-US" sz="2700" dirty="0"/>
          </a:p>
        </p:txBody>
      </p:sp>
      <p:sp>
        <p:nvSpPr>
          <p:cNvPr id="4" name="Text 2"/>
          <p:cNvSpPr/>
          <p:nvPr/>
        </p:nvSpPr>
        <p:spPr>
          <a:xfrm>
            <a:off x="566928" y="1069848"/>
            <a:ext cx="10744200" cy="274320"/>
          </a:xfrm>
          <a:prstGeom prst="rect">
            <a:avLst/>
          </a:prstGeom>
          <a:noFill/>
          <a:ln/>
        </p:spPr>
        <p:txBody>
          <a:bodyPr wrap="square" lIns="0" tIns="0" rIns="0" bIns="0" rtlCol="0" anchor="ctr">
            <a:normAutofit/>
          </a:bodyPr>
          <a:lstStyle/>
          <a:p>
            <a:pPr indent="0" marL="0">
              <a:buNone/>
            </a:pPr>
            <a:r>
              <a:rPr lang="en-US" sz="1250" dirty="0">
                <a:solidFill>
                  <a:srgbClr val="5F6D63"/>
                </a:solidFill>
              </a:rPr>
              <a:t>Subsystem flows for carbon estimation, evidence reporting and AI validation.</a:t>
            </a:r>
            <a:endParaRPr lang="en-US" sz="1250" dirty="0"/>
          </a:p>
        </p:txBody>
      </p:sp>
      <p:sp>
        <p:nvSpPr>
          <p:cNvPr id="5" name="Shape 3"/>
          <p:cNvSpPr/>
          <p:nvPr/>
        </p:nvSpPr>
        <p:spPr>
          <a:xfrm>
            <a:off x="512064" y="1371600"/>
            <a:ext cx="3596640" cy="4892040"/>
          </a:xfrm>
          <a:prstGeom prst="roundRect">
            <a:avLst>
              <a:gd name="adj" fmla="val 890"/>
            </a:avLst>
          </a:prstGeom>
          <a:solidFill>
            <a:srgbClr val="FFFFFF"/>
          </a:solidFill>
          <a:ln w="8255">
            <a:solidFill>
              <a:srgbClr val="D6DED4"/>
            </a:solidFill>
            <a:prstDash val="solid"/>
          </a:ln>
        </p:spPr>
      </p:sp>
      <p:pic>
        <p:nvPicPr>
          <p:cNvPr id="6" name="Image 0" descr="/home/nahid/Desktop/my_project/terra-audit/docs/presentation/assets/report_v3/fig17.png">    </p:cNvPr>
          <p:cNvPicPr>
            <a:picLocks noChangeAspect="1"/>
          </p:cNvPicPr>
          <p:nvPr/>
        </p:nvPicPr>
        <p:blipFill>
          <a:blip r:embed="rId1"/>
          <a:stretch>
            <a:fillRect/>
          </a:stretch>
        </p:blipFill>
        <p:spPr>
          <a:xfrm>
            <a:off x="1573637" y="1481328"/>
            <a:ext cx="1473493" cy="4453128"/>
          </a:xfrm>
          <a:prstGeom prst="rect">
            <a:avLst/>
          </a:prstGeom>
        </p:spPr>
      </p:pic>
      <p:sp>
        <p:nvSpPr>
          <p:cNvPr id="7" name="Text 4"/>
          <p:cNvSpPr/>
          <p:nvPr/>
        </p:nvSpPr>
        <p:spPr>
          <a:xfrm>
            <a:off x="658368" y="5989320"/>
            <a:ext cx="330403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17 — Carbon estimation activity</a:t>
            </a:r>
            <a:endParaRPr lang="en-US" sz="950" dirty="0"/>
          </a:p>
        </p:txBody>
      </p:sp>
      <p:sp>
        <p:nvSpPr>
          <p:cNvPr id="8" name="Shape 5"/>
          <p:cNvSpPr/>
          <p:nvPr/>
        </p:nvSpPr>
        <p:spPr>
          <a:xfrm>
            <a:off x="4291584" y="1371600"/>
            <a:ext cx="3596640" cy="4892040"/>
          </a:xfrm>
          <a:prstGeom prst="roundRect">
            <a:avLst>
              <a:gd name="adj" fmla="val 890"/>
            </a:avLst>
          </a:prstGeom>
          <a:solidFill>
            <a:srgbClr val="FFFFFF"/>
          </a:solidFill>
          <a:ln w="8255">
            <a:solidFill>
              <a:srgbClr val="D6DED4"/>
            </a:solidFill>
            <a:prstDash val="solid"/>
          </a:ln>
        </p:spPr>
      </p:sp>
      <p:pic>
        <p:nvPicPr>
          <p:cNvPr id="9" name="Image 1" descr="/home/nahid/Desktop/my_project/terra-audit/docs/presentation/assets/report_v3/fig18.png">    </p:cNvPr>
          <p:cNvPicPr>
            <a:picLocks noChangeAspect="1"/>
          </p:cNvPicPr>
          <p:nvPr/>
        </p:nvPicPr>
        <p:blipFill>
          <a:blip r:embed="rId2"/>
          <a:stretch>
            <a:fillRect/>
          </a:stretch>
        </p:blipFill>
        <p:spPr>
          <a:xfrm>
            <a:off x="4401312" y="1510144"/>
            <a:ext cx="3377184" cy="4395495"/>
          </a:xfrm>
          <a:prstGeom prst="rect">
            <a:avLst/>
          </a:prstGeom>
        </p:spPr>
      </p:pic>
      <p:sp>
        <p:nvSpPr>
          <p:cNvPr id="10" name="Text 6"/>
          <p:cNvSpPr/>
          <p:nvPr/>
        </p:nvSpPr>
        <p:spPr>
          <a:xfrm>
            <a:off x="4437888" y="5989320"/>
            <a:ext cx="330403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18 — Evidence reporting activity</a:t>
            </a:r>
            <a:endParaRPr lang="en-US" sz="950" dirty="0"/>
          </a:p>
        </p:txBody>
      </p:sp>
      <p:sp>
        <p:nvSpPr>
          <p:cNvPr id="11" name="Shape 7"/>
          <p:cNvSpPr/>
          <p:nvPr/>
        </p:nvSpPr>
        <p:spPr>
          <a:xfrm>
            <a:off x="8071104" y="1371600"/>
            <a:ext cx="3596640" cy="4892040"/>
          </a:xfrm>
          <a:prstGeom prst="roundRect">
            <a:avLst>
              <a:gd name="adj" fmla="val 890"/>
            </a:avLst>
          </a:prstGeom>
          <a:solidFill>
            <a:srgbClr val="FFFFFF"/>
          </a:solidFill>
          <a:ln w="8255">
            <a:solidFill>
              <a:srgbClr val="D6DED4"/>
            </a:solidFill>
            <a:prstDash val="solid"/>
          </a:ln>
        </p:spPr>
      </p:sp>
      <p:pic>
        <p:nvPicPr>
          <p:cNvPr id="12" name="Image 2" descr="/home/nahid/Desktop/my_project/terra-audit/docs/presentation/assets/report_v3/fig19.png">    </p:cNvPr>
          <p:cNvPicPr>
            <a:picLocks noChangeAspect="1"/>
          </p:cNvPicPr>
          <p:nvPr/>
        </p:nvPicPr>
        <p:blipFill>
          <a:blip r:embed="rId3"/>
          <a:stretch>
            <a:fillRect/>
          </a:stretch>
        </p:blipFill>
        <p:spPr>
          <a:xfrm>
            <a:off x="8180832" y="1651428"/>
            <a:ext cx="3377184" cy="4112928"/>
          </a:xfrm>
          <a:prstGeom prst="rect">
            <a:avLst/>
          </a:prstGeom>
        </p:spPr>
      </p:pic>
      <p:sp>
        <p:nvSpPr>
          <p:cNvPr id="13" name="Text 8"/>
          <p:cNvSpPr/>
          <p:nvPr/>
        </p:nvSpPr>
        <p:spPr>
          <a:xfrm>
            <a:off x="8217408" y="5989320"/>
            <a:ext cx="3304032" cy="164592"/>
          </a:xfrm>
          <a:prstGeom prst="rect">
            <a:avLst/>
          </a:prstGeom>
          <a:noFill/>
          <a:ln/>
        </p:spPr>
        <p:txBody>
          <a:bodyPr wrap="square" lIns="0" tIns="0" rIns="0" bIns="0" rtlCol="0" anchor="ctr">
            <a:normAutofit/>
          </a:bodyPr>
          <a:lstStyle/>
          <a:p>
            <a:pPr algn="ctr" indent="0" marL="0">
              <a:buNone/>
            </a:pPr>
            <a:r>
              <a:rPr lang="en-US" sz="950" dirty="0">
                <a:solidFill>
                  <a:srgbClr val="5F6D63"/>
                </a:solidFill>
              </a:rPr>
              <a:t>Figure 19 — AI validation activity</a:t>
            </a:r>
            <a:endParaRPr lang="en-US" sz="950" dirty="0"/>
          </a:p>
        </p:txBody>
      </p:sp>
      <p:sp>
        <p:nvSpPr>
          <p:cNvPr id="25" name="Slide Number Placeholder 0"/>
          <p:cNvSpPr>
            <a:spLocks noGrp="1"/>
          </p:cNvSpPr>
          <p:nvPr>
            <p:ph type="sldNum" sz="quarter" idx="4294967295"/>
          </p:nvPr>
        </p:nvSpPr>
        <p:spPr>
          <a:xfrm>
            <a:off x="11411712" y="6528816"/>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3E7C42"/>
                </a:solidFill>
                <a:latin typeface="Aptos"/>
                <a:ea typeface="Aptos"/>
                <a:cs typeface="Aptos"/>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Institute of Information Technology, University of Dhaka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Terra-Audit — SE801 Midterm Presentation</dc:title>
  <dc:subject>SE801 Project Midterm Presentation</dc:subject>
  <dc:creator>Kazi Nahid</dc:creator>
  <cp:lastModifiedBy>Kazi Nahid</cp:lastModifiedBy>
  <cp:revision>1</cp:revision>
  <dcterms:created xsi:type="dcterms:W3CDTF">2026-08-02T03:13:02Z</dcterms:created>
  <dcterms:modified xsi:type="dcterms:W3CDTF">2026-08-02T03:13:02Z</dcterms:modified>
</cp:coreProperties>
</file>