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exact cover identity from the V3 report: Kazi Nahid, BSSE Roll 1437, supervised by Dr. Emon Kumar Dey, submitted 2 August 2026. Introduce Terra-Audit as an evidence-first agricultural MRV software project. Sentinel-1 supplies observations; the project contribution is field-specific processing, methodology calculation, persistence, and auditable reporting.</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that raw satellite observations and methodology PDFs already exist, but they do not form a usable MRV workflow by themselves. The engineering contribution is converting evidence into a field-specific, reproducible calculation with limitations disclosed. Do not claim formal verification or issuance.</a:t>
            </a:r>
            <a:endParaRPr/>
          </a:p>
        </p:txBody>
      </p:sp>
      <p:sp>
        <p:nvSpPr>
          <p:cNvPr id="47" name="Google Shape;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the routing decision. Rice uses SAR-derived evidence; cropland ALM uses practice schedules and SOC measurements. Both paths share field identity, persistence, reporting, calculation history and portfolio aggregation.</a:t>
            </a:r>
            <a:endParaRPr/>
          </a:p>
        </p:txBody>
      </p:sp>
      <p:sp>
        <p:nvSpPr>
          <p:cNvPr id="76" name="Google Shape;7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not read all eighteen requirements. Explain the six capability groups and give one example from each. State that FR18 is not fully complete because the current CSV does not include livestock data; PDF and JSON remain the complete audit formats.</a:t>
            </a:r>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from the actors to field management, evidence collection, analysis, methodology calculation and reporting. Point out that the system supports two field types without merging their evidence assumptions.</a:t>
            </a:r>
            <a:endParaRPr/>
          </a:p>
        </p:txBody>
      </p:sp>
      <p:sp>
        <p:nvSpPr>
          <p:cNvPr id="154" name="Google Shape;1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happy path first. Then point out that validation failures, missing evidence and methodology constraints are visible outcomes rather than hidden exceptions.</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strongest software-engineering slide. Explain the registry dispatch: field type selects the correct evidence processor and methodology engine while reporting and persistence stay shared.</a:t>
            </a:r>
            <a:endParaRPr/>
          </a:p>
        </p:txBody>
      </p:sp>
      <p:sp>
        <p:nvSpPr>
          <p:cNvPr id="204" name="Google Shape;2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this is not just storage. The schema keeps evidence tied to a field and preserves previous calculations. Rice time series, ALM schedules, SOC samples and livestock records remain separate because their provenance differs.</a:t>
            </a:r>
            <a:endParaRPr/>
          </a:p>
        </p:txBody>
      </p:sp>
      <p:sp>
        <p:nvSpPr>
          <p:cNvPr id="214" name="Google Shape;2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slide to orient the teacher. The demo is not a tour of buttons. It is an evidence chain: create a spatial asset, collect methodology-specific evidence, validate it, calculate, expose the audit trail, export and review at portfolio level.</a:t>
            </a:r>
            <a:endParaRPr/>
          </a:p>
        </p:txBody>
      </p:sp>
      <p:sp>
        <p:nvSpPr>
          <p:cNvPr id="239" name="Google Shape;23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 registered fields and select one. Explain that field_type is more than a label: the registry uses it to route the user to rice AWD or cropland ALM components.</a:t>
            </a:r>
            <a:endParaRPr/>
          </a:p>
        </p:txBody>
      </p:sp>
      <p:sp>
        <p:nvSpPr>
          <p:cNvPr id="291" name="Google Shape;29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that this is your work, not Sentinel output. Terra-Audit accepts several boundary formats, handles malformed input without crashing, calculates area and persists the spatial asset used by later evidence retrieval.</a:t>
            </a:r>
            <a:endParaRPr/>
          </a:p>
        </p:txBody>
      </p:sp>
      <p:sp>
        <p:nvSpPr>
          <p:cNvPr id="311" name="Google Shape;31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slide to explain the extensibility contribution. The same application hosts two methodology paths, but it does not pretend that Sentinel-1 is evidence for cropland SOC accounting.</a:t>
            </a:r>
            <a:endParaRPr/>
          </a:p>
        </p:txBody>
      </p:sp>
      <p:sp>
        <p:nvSpPr>
          <p:cNvPr id="334" name="Google Shape;33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cache-first design. It makes repeated demonstrations reliable, reduces external calls and keeps each field/window data set separate. Sentinel supplies VV/VH observations; Terra-Audit controls spatial extraction, windowing and persistence.</a:t>
            </a:r>
            <a:endParaRPr/>
          </a:p>
        </p:txBody>
      </p:sp>
      <p:sp>
        <p:nvSpPr>
          <p:cNvPr id="357" name="Google Shape;35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central contribution. Raw VV and VH are not carbon credits. Terra-Audit smooths signals, calculates z-scores, identifies flooded and drydown states, derives season dates with fallback and exposes the underlying ledger for audit.</a:t>
            </a:r>
            <a:endParaRPr/>
          </a:p>
        </p:txBody>
      </p:sp>
      <p:sp>
        <p:nvSpPr>
          <p:cNvPr id="377" name="Google Shape;3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Describe the implemented calculation correctly as VM0051 QA3 using Tier 1 regional defaults. Do not repeat the incorrect Tier 2 label visible in the current UI. Show how area, season, events, factors and deductions lead to the final estimate.</a:t>
            </a:r>
            <a:endParaRPr/>
          </a:p>
        </p:txBody>
      </p:sp>
      <p:sp>
        <p:nvSpPr>
          <p:cNvPr id="400" name="Google Shape;40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where you answer what your work is. The platform does not merely display a number. It makes the accounting path reconstructable, including factors, intermediate emissions, uncertainty and penalties.</a:t>
            </a:r>
            <a:endParaRPr/>
          </a:p>
        </p:txBody>
      </p:sp>
      <p:sp>
        <p:nvSpPr>
          <p:cNvPr id="423" name="Google Shape;42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there are multiple formats. PDF supports human review, JSON supports exact reconstruction and integration, and CSV exposes the rice time series used by the detector. Terra-Audit estimates and documents; it does not issue Verra credits.</a:t>
            </a:r>
            <a:endParaRPr/>
          </a:p>
        </p:txBody>
      </p:sp>
      <p:sp>
        <p:nvSpPr>
          <p:cNvPr id="443" name="Google Shape;44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baseline-versus-project structure. The platform stores the management evidence needed by VM0042 and keeps it distinct from the rice time series. Livestock inputs are supported, but the current sample project contains no livestock records.</a:t>
            </a:r>
            <a:endParaRPr/>
          </a:p>
        </p:txBody>
      </p:sp>
      <p:sp>
        <p:nvSpPr>
          <p:cNvPr id="463" name="Google Shape;46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that these are manually entered laboratory measurements, not invented satellite estimates. The application validates the sample structure before allowing the SOC quantification path to proceed.</a:t>
            </a:r>
            <a:endParaRPr/>
          </a:p>
        </p:txBody>
      </p:sp>
      <p:sp>
        <p:nvSpPr>
          <p:cNvPr id="483" name="Google Shape;48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calculation as a scoped implementation. The engine handles SOC stock change, selected N2O and CH4 terms, fossil fuel CO2, uncertainty and non-permanence buffer. Do not claim complete methodology conformity where leakage data are missing.</a:t>
            </a:r>
            <a:endParaRPr/>
          </a:p>
        </p:txBody>
      </p:sp>
      <p:sp>
        <p:nvSpPr>
          <p:cNvPr id="503" name="Google Shape;50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demonstrates conservative software behavior. Missing or incomplete leakage evidence is surfaced to the user. The prototype provides an estimate with disclosures; it does not certify a project or issue credits.</a:t>
            </a:r>
            <a:endParaRPr/>
          </a:p>
        </p:txBody>
      </p:sp>
      <p:sp>
        <p:nvSpPr>
          <p:cNvPr id="526" name="Google Shape;52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precise about export completeness. The PDF and JSON include material inputs. The CSV currently covers practice and SOC data only; this is tracked under FR18 and should not be described as a complete evidence CSV.</a:t>
            </a:r>
            <a:endParaRPr/>
          </a:p>
        </p:txBody>
      </p:sp>
      <p:sp>
        <p:nvSpPr>
          <p:cNvPr id="546" name="Google Shape;54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fully honest. This is an experimental extension, not a validated agronomic AI result. The current data set is small and labels originate from the rule-based gate, so the metrics show agreement with that rule. Your defensible work is the training/evaluation/persistence pipeline and transparent fallback.</a:t>
            </a:r>
            <a:endParaRPr/>
          </a:p>
        </p:txBody>
      </p:sp>
      <p:sp>
        <p:nvSpPr>
          <p:cNvPr id="566" name="Google Shape;56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End the demo here. The portfolio proves that the prototype is a project system rather than a one-off notebook: it manages multiple fields, two methodology types and persistent calculation history. Values shown are local prototype estimates, not issued credits.</a:t>
            </a:r>
            <a:endParaRPr/>
          </a:p>
        </p:txBody>
      </p:sp>
      <p:sp>
        <p:nvSpPr>
          <p:cNvPr id="589" name="Google Shape;58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status language exactly. The accounting engines have automated regression coverage. Several UI, persistence and reporting components are implemented but need broader automated system tests. The AI pipeline is experimental.</a:t>
            </a:r>
            <a:endParaRPr/>
          </a:p>
        </p:txBody>
      </p:sp>
      <p:sp>
        <p:nvSpPr>
          <p:cNvPr id="612" name="Google Shape;61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Choose the two most important risks: independent ground truth and methodology completeness. Explain concrete next steps rather than claiming that the limitations are already solved.</a:t>
            </a:r>
            <a:endParaRPr/>
          </a:p>
        </p:txBody>
      </p:sp>
      <p:sp>
        <p:nvSpPr>
          <p:cNvPr id="651" name="Google Shape;65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progress against plan rather than reading every date. The midterm checkpoint falls during methodology audit and documentation. Remaining work is final integration, hardening, evidence review and final submission.</a:t>
            </a:r>
            <a:endParaRPr/>
          </a:p>
        </p:txBody>
      </p:sp>
      <p:sp>
        <p:nvSpPr>
          <p:cNvPr id="684" name="Google Shape;68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exact contribution. Sentinel-1 provides observations. Terra-Audit contributes field management, evidence processing, methodology calculations, persistence, audit trails, exports and an extensible architecture. It does not issue credits, and the AI extension is not independently validated.</a:t>
            </a:r>
            <a:endParaRPr/>
          </a:p>
        </p:txBody>
      </p:sp>
      <p:sp>
        <p:nvSpPr>
          <p:cNvPr id="697" name="Google Shape;69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reference. Figure 1 summarizes the system boundary; Figure 2 decomposes the main capabilities.</a:t>
            </a:r>
            <a:endParaRPr/>
          </a:p>
        </p:txBody>
      </p:sp>
      <p:sp>
        <p:nvSpPr>
          <p:cNvPr id="718" name="Google Shape;71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reference. These diagrams support detailed questions about geometry formats, area computation, validation and database persistence.</a:t>
            </a:r>
            <a:endParaRPr/>
          </a:p>
        </p:txBody>
      </p:sp>
      <p:sp>
        <p:nvSpPr>
          <p:cNvPr id="733" name="Google Shape;73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reference. Explain that the data engine retrieves and caches observations, while the analytics component interprets them.</a:t>
            </a:r>
            <a:endParaRPr/>
          </a:p>
        </p:txBody>
      </p:sp>
      <p:sp>
        <p:nvSpPr>
          <p:cNvPr id="751" name="Google Shape;75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reference. Use one relevant diagram if the examiner asks about a particular subsystem; do not attempt to explain all four at once.</a:t>
            </a:r>
            <a:endParaRPr/>
          </a:p>
        </p:txBody>
      </p:sp>
      <p:sp>
        <p:nvSpPr>
          <p:cNvPr id="766" name="Google Shape;76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reference. These activity diagrams show validations and controlled failure paths in the evidence-collection workflow.</a:t>
            </a:r>
            <a:endParaRPr/>
          </a:p>
        </p:txBody>
      </p:sp>
      <p:sp>
        <p:nvSpPr>
          <p:cNvPr id="787" name="Google Shape;78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reference. These diagrams support questions about calculation decisions, export generation and AI fallback behavior.</a:t>
            </a:r>
            <a:endParaRPr/>
          </a:p>
        </p:txBody>
      </p:sp>
      <p:sp>
        <p:nvSpPr>
          <p:cNvPr id="808" name="Google Shape;80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1"/>
        </a:solidFill>
      </p:bgPr>
    </p:bg>
    <p:spTree>
      <p:nvGrpSpPr>
        <p:cNvPr id="12" name="Shape 12"/>
        <p:cNvGrpSpPr/>
        <p:nvPr/>
      </p:nvGrpSpPr>
      <p:grpSpPr>
        <a:xfrm>
          <a:off x="0" y="0"/>
          <a:ext cx="0" cy="0"/>
          <a:chOff x="0" y="0"/>
          <a:chExt cx="0" cy="0"/>
        </a:xfrm>
      </p:grpSpPr>
      <p:sp>
        <p:nvSpPr>
          <p:cNvPr id="13" name="Google Shape;13;p3"/>
          <p:cNvSpPr/>
          <p:nvPr/>
        </p:nvSpPr>
        <p:spPr>
          <a:xfrm>
            <a:off x="0" y="0"/>
            <a:ext cx="9966960" cy="100584"/>
          </a:xfrm>
          <a:prstGeom prst="rect">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p:nvPr/>
        </p:nvSpPr>
        <p:spPr>
          <a:xfrm>
            <a:off x="9966960" y="0"/>
            <a:ext cx="2224735" cy="100584"/>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502920" y="6556248"/>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89"/>
              </a:buClr>
              <a:buSzPts val="850"/>
              <a:buFont typeface="Arial"/>
              <a:buNone/>
            </a:pPr>
            <a:r>
              <a:rPr b="0" i="0" lang="en-US" sz="850" u="none" cap="none" strike="noStrike">
                <a:solidFill>
                  <a:srgbClr val="6B7A89"/>
                </a:solidFill>
                <a:latin typeface="Arial"/>
                <a:ea typeface="Arial"/>
                <a:cs typeface="Arial"/>
                <a:sym typeface="Arial"/>
              </a:rPr>
              <a:t>TERRA-AUDIT  •  SE801 MIDTERM</a:t>
            </a:r>
            <a:endParaRPr b="0" i="0" sz="850" u="none" cap="none" strike="noStrike">
              <a:solidFill>
                <a:schemeClr val="dk1"/>
              </a:solidFill>
              <a:latin typeface="Arial"/>
              <a:ea typeface="Arial"/>
              <a:cs typeface="Arial"/>
              <a:sym typeface="Arial"/>
            </a:endParaRPr>
          </a:p>
        </p:txBody>
      </p:sp>
      <p:sp>
        <p:nvSpPr>
          <p:cNvPr id="16" name="Google Shape;16;p3"/>
          <p:cNvSpPr/>
          <p:nvPr/>
        </p:nvSpPr>
        <p:spPr>
          <a:xfrm>
            <a:off x="8412480" y="6556248"/>
            <a:ext cx="283464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A89"/>
              </a:buClr>
              <a:buSzPts val="850"/>
              <a:buFont typeface="Arial"/>
              <a:buNone/>
            </a:pPr>
            <a:r>
              <a:rPr b="0" i="0" lang="en-US" sz="850" u="none" cap="none" strike="noStrike">
                <a:solidFill>
                  <a:srgbClr val="6B7A89"/>
                </a:solidFill>
                <a:latin typeface="Arial"/>
                <a:ea typeface="Arial"/>
                <a:cs typeface="Arial"/>
                <a:sym typeface="Arial"/>
              </a:rPr>
              <a:t>IIT • UNIVERSITY OF DHAKA</a:t>
            </a:r>
            <a:endParaRPr b="0" i="0" sz="850" u="none" cap="none" strike="noStrike">
              <a:solidFill>
                <a:schemeClr val="dk1"/>
              </a:solidFill>
              <a:latin typeface="Arial"/>
              <a:ea typeface="Arial"/>
              <a:cs typeface="Arial"/>
              <a:sym typeface="Arial"/>
            </a:endParaRPr>
          </a:p>
        </p:txBody>
      </p:sp>
      <p:sp>
        <p:nvSpPr>
          <p:cNvPr id="17" name="Google Shape;17;p3"/>
          <p:cNvSpPr txBox="1"/>
          <p:nvPr>
            <p:ph idx="12" type="sldNum"/>
          </p:nvPr>
        </p:nvSpPr>
        <p:spPr>
          <a:xfrm>
            <a:off x="11411712" y="6528816"/>
            <a:ext cx="475488" cy="18288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900" u="none" cap="none" strike="noStrike">
                <a:solidFill>
                  <a:srgbClr val="3E7C42"/>
                </a:solidFill>
                <a:latin typeface="Arial"/>
                <a:ea typeface="Arial"/>
                <a:cs typeface="Arial"/>
                <a:sym typeface="Arial"/>
              </a:defRPr>
            </a:lvl1pPr>
            <a:lvl2pPr indent="0" lvl="1" marL="0" marR="0" algn="r">
              <a:spcBef>
                <a:spcPts val="0"/>
              </a:spcBef>
              <a:buNone/>
              <a:defRPr b="0" i="0" sz="900" u="none" cap="none" strike="noStrike">
                <a:solidFill>
                  <a:srgbClr val="3E7C42"/>
                </a:solidFill>
                <a:latin typeface="Arial"/>
                <a:ea typeface="Arial"/>
                <a:cs typeface="Arial"/>
                <a:sym typeface="Arial"/>
              </a:defRPr>
            </a:lvl2pPr>
            <a:lvl3pPr indent="0" lvl="2" marL="0" marR="0" algn="r">
              <a:spcBef>
                <a:spcPts val="0"/>
              </a:spcBef>
              <a:buNone/>
              <a:defRPr b="0" i="0" sz="900" u="none" cap="none" strike="noStrike">
                <a:solidFill>
                  <a:srgbClr val="3E7C42"/>
                </a:solidFill>
                <a:latin typeface="Arial"/>
                <a:ea typeface="Arial"/>
                <a:cs typeface="Arial"/>
                <a:sym typeface="Arial"/>
              </a:defRPr>
            </a:lvl3pPr>
            <a:lvl4pPr indent="0" lvl="3" marL="0" marR="0" algn="r">
              <a:spcBef>
                <a:spcPts val="0"/>
              </a:spcBef>
              <a:buNone/>
              <a:defRPr b="0" i="0" sz="900" u="none" cap="none" strike="noStrike">
                <a:solidFill>
                  <a:srgbClr val="3E7C42"/>
                </a:solidFill>
                <a:latin typeface="Arial"/>
                <a:ea typeface="Arial"/>
                <a:cs typeface="Arial"/>
                <a:sym typeface="Arial"/>
              </a:defRPr>
            </a:lvl4pPr>
            <a:lvl5pPr indent="0" lvl="4" marL="0" marR="0" algn="r">
              <a:spcBef>
                <a:spcPts val="0"/>
              </a:spcBef>
              <a:buNone/>
              <a:defRPr b="0" i="0" sz="900" u="none" cap="none" strike="noStrike">
                <a:solidFill>
                  <a:srgbClr val="3E7C42"/>
                </a:solidFill>
                <a:latin typeface="Arial"/>
                <a:ea typeface="Arial"/>
                <a:cs typeface="Arial"/>
                <a:sym typeface="Arial"/>
              </a:defRPr>
            </a:lvl5pPr>
            <a:lvl6pPr indent="0" lvl="5" marL="0" marR="0" algn="r">
              <a:spcBef>
                <a:spcPts val="0"/>
              </a:spcBef>
              <a:buNone/>
              <a:defRPr b="0" i="0" sz="900" u="none" cap="none" strike="noStrike">
                <a:solidFill>
                  <a:srgbClr val="3E7C42"/>
                </a:solidFill>
                <a:latin typeface="Arial"/>
                <a:ea typeface="Arial"/>
                <a:cs typeface="Arial"/>
                <a:sym typeface="Arial"/>
              </a:defRPr>
            </a:lvl6pPr>
            <a:lvl7pPr indent="0" lvl="6" marL="0" marR="0" algn="r">
              <a:spcBef>
                <a:spcPts val="0"/>
              </a:spcBef>
              <a:buNone/>
              <a:defRPr b="0" i="0" sz="900" u="none" cap="none" strike="noStrike">
                <a:solidFill>
                  <a:srgbClr val="3E7C42"/>
                </a:solidFill>
                <a:latin typeface="Arial"/>
                <a:ea typeface="Arial"/>
                <a:cs typeface="Arial"/>
                <a:sym typeface="Arial"/>
              </a:defRPr>
            </a:lvl7pPr>
            <a:lvl8pPr indent="0" lvl="7" marL="0" marR="0" algn="r">
              <a:spcBef>
                <a:spcPts val="0"/>
              </a:spcBef>
              <a:buNone/>
              <a:defRPr b="0" i="0" sz="900" u="none" cap="none" strike="noStrike">
                <a:solidFill>
                  <a:srgbClr val="3E7C42"/>
                </a:solidFill>
                <a:latin typeface="Arial"/>
                <a:ea typeface="Arial"/>
                <a:cs typeface="Arial"/>
                <a:sym typeface="Arial"/>
              </a:defRPr>
            </a:lvl8pPr>
            <a:lvl9pPr indent="0" lvl="8" marL="0" marR="0" algn="r">
              <a:spcBef>
                <a:spcPts val="0"/>
              </a:spcBef>
              <a:buNone/>
              <a:defRPr b="0" i="0" sz="900" u="none" cap="none" strike="noStrike">
                <a:solidFill>
                  <a:srgbClr val="3E7C4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411712" y="6528816"/>
            <a:ext cx="475488" cy="18288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900" u="none" cap="none" strike="noStrike">
                <a:solidFill>
                  <a:srgbClr val="3E7C42"/>
                </a:solidFill>
                <a:latin typeface="Arial"/>
                <a:ea typeface="Arial"/>
                <a:cs typeface="Arial"/>
                <a:sym typeface="Arial"/>
              </a:defRPr>
            </a:lvl1pPr>
            <a:lvl2pPr indent="0" lvl="1" marL="0" marR="0" rtl="0" algn="r">
              <a:spcBef>
                <a:spcPts val="0"/>
              </a:spcBef>
              <a:buNone/>
              <a:defRPr b="0" i="0" sz="900" u="none" cap="none" strike="noStrike">
                <a:solidFill>
                  <a:srgbClr val="3E7C42"/>
                </a:solidFill>
                <a:latin typeface="Arial"/>
                <a:ea typeface="Arial"/>
                <a:cs typeface="Arial"/>
                <a:sym typeface="Arial"/>
              </a:defRPr>
            </a:lvl2pPr>
            <a:lvl3pPr indent="0" lvl="2" marL="0" marR="0" rtl="0" algn="r">
              <a:spcBef>
                <a:spcPts val="0"/>
              </a:spcBef>
              <a:buNone/>
              <a:defRPr b="0" i="0" sz="900" u="none" cap="none" strike="noStrike">
                <a:solidFill>
                  <a:srgbClr val="3E7C42"/>
                </a:solidFill>
                <a:latin typeface="Arial"/>
                <a:ea typeface="Arial"/>
                <a:cs typeface="Arial"/>
                <a:sym typeface="Arial"/>
              </a:defRPr>
            </a:lvl3pPr>
            <a:lvl4pPr indent="0" lvl="3" marL="0" marR="0" rtl="0" algn="r">
              <a:spcBef>
                <a:spcPts val="0"/>
              </a:spcBef>
              <a:buNone/>
              <a:defRPr b="0" i="0" sz="900" u="none" cap="none" strike="noStrike">
                <a:solidFill>
                  <a:srgbClr val="3E7C42"/>
                </a:solidFill>
                <a:latin typeface="Arial"/>
                <a:ea typeface="Arial"/>
                <a:cs typeface="Arial"/>
                <a:sym typeface="Arial"/>
              </a:defRPr>
            </a:lvl4pPr>
            <a:lvl5pPr indent="0" lvl="4" marL="0" marR="0" rtl="0" algn="r">
              <a:spcBef>
                <a:spcPts val="0"/>
              </a:spcBef>
              <a:buNone/>
              <a:defRPr b="0" i="0" sz="900" u="none" cap="none" strike="noStrike">
                <a:solidFill>
                  <a:srgbClr val="3E7C42"/>
                </a:solidFill>
                <a:latin typeface="Arial"/>
                <a:ea typeface="Arial"/>
                <a:cs typeface="Arial"/>
                <a:sym typeface="Arial"/>
              </a:defRPr>
            </a:lvl5pPr>
            <a:lvl6pPr indent="0" lvl="5" marL="0" marR="0" rtl="0" algn="r">
              <a:spcBef>
                <a:spcPts val="0"/>
              </a:spcBef>
              <a:buNone/>
              <a:defRPr b="0" i="0" sz="900" u="none" cap="none" strike="noStrike">
                <a:solidFill>
                  <a:srgbClr val="3E7C42"/>
                </a:solidFill>
                <a:latin typeface="Arial"/>
                <a:ea typeface="Arial"/>
                <a:cs typeface="Arial"/>
                <a:sym typeface="Arial"/>
              </a:defRPr>
            </a:lvl6pPr>
            <a:lvl7pPr indent="0" lvl="6" marL="0" marR="0" rtl="0" algn="r">
              <a:spcBef>
                <a:spcPts val="0"/>
              </a:spcBef>
              <a:buNone/>
              <a:defRPr b="0" i="0" sz="900" u="none" cap="none" strike="noStrike">
                <a:solidFill>
                  <a:srgbClr val="3E7C42"/>
                </a:solidFill>
                <a:latin typeface="Arial"/>
                <a:ea typeface="Arial"/>
                <a:cs typeface="Arial"/>
                <a:sym typeface="Arial"/>
              </a:defRPr>
            </a:lvl7pPr>
            <a:lvl8pPr indent="0" lvl="7" marL="0" marR="0" rtl="0" algn="r">
              <a:spcBef>
                <a:spcPts val="0"/>
              </a:spcBef>
              <a:buNone/>
              <a:defRPr b="0" i="0" sz="900" u="none" cap="none" strike="noStrike">
                <a:solidFill>
                  <a:srgbClr val="3E7C42"/>
                </a:solidFill>
                <a:latin typeface="Arial"/>
                <a:ea typeface="Arial"/>
                <a:cs typeface="Arial"/>
                <a:sym typeface="Arial"/>
              </a:defRPr>
            </a:lvl8pPr>
            <a:lvl9pPr indent="0" lvl="8" marL="0" marR="0" rtl="0" algn="r">
              <a:spcBef>
                <a:spcPts val="0"/>
              </a:spcBef>
              <a:buNone/>
              <a:defRPr b="0" i="0" sz="900" u="none" cap="none" strike="noStrike">
                <a:solidFill>
                  <a:srgbClr val="3E7C4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hyperlink" Target="about:blank" TargetMode="External"/><Relationship Id="rId5" Type="http://schemas.openxmlformats.org/officeDocument/2006/relationships/hyperlink" Target="about:blan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7.png"/><Relationship Id="rId4" Type="http://schemas.openxmlformats.org/officeDocument/2006/relationships/hyperlink" Target="about:blank" TargetMode="External"/><Relationship Id="rId5" Type="http://schemas.openxmlformats.org/officeDocument/2006/relationships/hyperlink" Target="about:blan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hyperlink" Target="about:blank" TargetMode="External"/><Relationship Id="rId5" Type="http://schemas.openxmlformats.org/officeDocument/2006/relationships/hyperlink" Target="about:blank"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2.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8.png"/><Relationship Id="rId4" Type="http://schemas.openxmlformats.org/officeDocument/2006/relationships/hyperlink" Target="about:blank" TargetMode="External"/><Relationship Id="rId5" Type="http://schemas.openxmlformats.org/officeDocument/2006/relationships/hyperlink" Target="about:blank"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40.png"/><Relationship Id="rId5"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0.png"/><Relationship Id="rId5" Type="http://schemas.openxmlformats.org/officeDocument/2006/relationships/image" Target="../media/image36.png"/><Relationship Id="rId6"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7.png"/><Relationship Id="rId4" Type="http://schemas.openxmlformats.org/officeDocument/2006/relationships/image" Target="../media/image41.png"/><Relationship Id="rId5" Type="http://schemas.openxmlformats.org/officeDocument/2006/relationships/image" Target="../media/image38.png"/><Relationship Id="rId6"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4.png"/><Relationship Id="rId4" Type="http://schemas.openxmlformats.org/officeDocument/2006/relationships/image" Target="../media/image39.png"/><Relationship Id="rId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pic>
        <p:nvPicPr>
          <p:cNvPr descr="/home/nahid/Desktop/my_project/terra-audit/docs/presentation/assets/rice_fields_cover_v2.png" id="23" name="Google Shape;23;p4"/>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4" name="Google Shape;24;p4"/>
          <p:cNvSpPr/>
          <p:nvPr/>
        </p:nvSpPr>
        <p:spPr>
          <a:xfrm>
            <a:off x="0" y="0"/>
            <a:ext cx="12191695" cy="6858000"/>
          </a:xfrm>
          <a:prstGeom prst="rect">
            <a:avLst/>
          </a:prstGeom>
          <a:solidFill>
            <a:srgbClr val="163B27">
              <a:alpha val="61961"/>
            </a:srgbClr>
          </a:solidFill>
          <a:ln cap="flat" cmpd="sng" w="12700">
            <a:solidFill>
              <a:srgbClr val="163B2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0" y="0"/>
            <a:ext cx="12191695" cy="109728"/>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566928" y="365760"/>
            <a:ext cx="1828800" cy="804672"/>
          </a:xfrm>
          <a:prstGeom prst="roundRect">
            <a:avLst>
              <a:gd fmla="val 3977" name="adj"/>
            </a:avLst>
          </a:prstGeom>
          <a:solidFill>
            <a:srgbClr val="FFFFFF">
              <a:alpha val="96863"/>
            </a:srgbClr>
          </a:solidFill>
          <a:ln cap="flat" cmpd="sng" w="12700">
            <a:solidFill>
              <a:srgbClr val="FFFFFF">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diagrams/logo_du_seal.png" id="27" name="Google Shape;27;p4"/>
          <p:cNvPicPr preferRelativeResize="0"/>
          <p:nvPr/>
        </p:nvPicPr>
        <p:blipFill rotWithShape="1">
          <a:blip r:embed="rId4">
            <a:alphaModFix/>
          </a:blip>
          <a:srcRect b="0" l="0" r="0" t="0"/>
          <a:stretch/>
        </p:blipFill>
        <p:spPr>
          <a:xfrm>
            <a:off x="740534" y="457200"/>
            <a:ext cx="484892" cy="612648"/>
          </a:xfrm>
          <a:prstGeom prst="rect">
            <a:avLst/>
          </a:prstGeom>
          <a:noFill/>
          <a:ln>
            <a:noFill/>
          </a:ln>
        </p:spPr>
      </p:pic>
      <p:pic>
        <p:nvPicPr>
          <p:cNvPr descr="/home/nahid/Desktop/my_project/terra-audit/docs/diagrams/logo_iit.png" id="28" name="Google Shape;28;p4"/>
          <p:cNvPicPr preferRelativeResize="0"/>
          <p:nvPr/>
        </p:nvPicPr>
        <p:blipFill rotWithShape="1">
          <a:blip r:embed="rId5">
            <a:alphaModFix/>
          </a:blip>
          <a:srcRect b="0" l="0" r="0" t="0"/>
          <a:stretch/>
        </p:blipFill>
        <p:spPr>
          <a:xfrm>
            <a:off x="1444752" y="614543"/>
            <a:ext cx="612648" cy="334538"/>
          </a:xfrm>
          <a:prstGeom prst="rect">
            <a:avLst/>
          </a:prstGeom>
          <a:noFill/>
          <a:ln>
            <a:noFill/>
          </a:ln>
        </p:spPr>
      </p:pic>
      <p:sp>
        <p:nvSpPr>
          <p:cNvPr id="29" name="Google Shape;29;p4"/>
          <p:cNvSpPr/>
          <p:nvPr/>
        </p:nvSpPr>
        <p:spPr>
          <a:xfrm>
            <a:off x="2670048" y="630936"/>
            <a:ext cx="6126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F5EC"/>
              </a:buClr>
              <a:buSzPts val="1020"/>
              <a:buFont typeface="Arial"/>
              <a:buNone/>
            </a:pPr>
            <a:r>
              <a:rPr b="1" i="0" lang="en-US" sz="1020" u="none" cap="none" strike="noStrike">
                <a:solidFill>
                  <a:srgbClr val="EFF5EC"/>
                </a:solidFill>
                <a:latin typeface="Arial"/>
                <a:ea typeface="Arial"/>
                <a:cs typeface="Arial"/>
                <a:sym typeface="Arial"/>
              </a:rPr>
              <a:t>INSTITUTE OF INFORMATION TECHNOLOGY  •  UNIVERSITY OF DHAKA</a:t>
            </a:r>
            <a:endParaRPr b="0" i="0" sz="1020" u="none" cap="none" strike="noStrike">
              <a:solidFill>
                <a:schemeClr val="dk1"/>
              </a:solidFill>
              <a:latin typeface="Arial"/>
              <a:ea typeface="Arial"/>
              <a:cs typeface="Arial"/>
              <a:sym typeface="Arial"/>
            </a:endParaRPr>
          </a:p>
        </p:txBody>
      </p:sp>
      <p:sp>
        <p:nvSpPr>
          <p:cNvPr id="30" name="Google Shape;30;p4"/>
          <p:cNvSpPr/>
          <p:nvPr/>
        </p:nvSpPr>
        <p:spPr>
          <a:xfrm>
            <a:off x="658368" y="1463040"/>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27B"/>
              </a:buClr>
              <a:buSzPts val="1050"/>
              <a:buFont typeface="Arial"/>
              <a:buNone/>
            </a:pPr>
            <a:r>
              <a:rPr b="1" i="0" lang="en-US" sz="1050" u="none" cap="none" strike="noStrike">
                <a:solidFill>
                  <a:srgbClr val="D8C27B"/>
                </a:solidFill>
                <a:latin typeface="Arial"/>
                <a:ea typeface="Arial"/>
                <a:cs typeface="Arial"/>
                <a:sym typeface="Arial"/>
              </a:rPr>
              <a:t>SE801 PROJECT MIDTERM REPORT</a:t>
            </a:r>
            <a:endParaRPr b="0" i="0" sz="1050" u="none" cap="none" strike="noStrike">
              <a:solidFill>
                <a:schemeClr val="dk1"/>
              </a:solidFill>
              <a:latin typeface="Arial"/>
              <a:ea typeface="Arial"/>
              <a:cs typeface="Arial"/>
              <a:sym typeface="Arial"/>
            </a:endParaRPr>
          </a:p>
        </p:txBody>
      </p:sp>
      <p:sp>
        <p:nvSpPr>
          <p:cNvPr id="31" name="Google Shape;31;p4"/>
          <p:cNvSpPr/>
          <p:nvPr/>
        </p:nvSpPr>
        <p:spPr>
          <a:xfrm>
            <a:off x="621792" y="1792224"/>
            <a:ext cx="7315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900"/>
              <a:buFont typeface="Arial"/>
              <a:buNone/>
            </a:pPr>
            <a:r>
              <a:rPr b="1" i="0" lang="en-US" sz="3900" u="none" cap="none" strike="noStrike">
                <a:solidFill>
                  <a:srgbClr val="FFFFFF"/>
                </a:solidFill>
                <a:latin typeface="Arial"/>
                <a:ea typeface="Arial"/>
                <a:cs typeface="Arial"/>
                <a:sym typeface="Arial"/>
              </a:rPr>
              <a:t>TERRA-AUDIT</a:t>
            </a:r>
            <a:endParaRPr b="0" i="0" sz="3900" u="none" cap="none" strike="noStrike">
              <a:solidFill>
                <a:schemeClr val="dk1"/>
              </a:solidFill>
              <a:latin typeface="Arial"/>
              <a:ea typeface="Arial"/>
              <a:cs typeface="Arial"/>
              <a:sym typeface="Arial"/>
            </a:endParaRPr>
          </a:p>
        </p:txBody>
      </p:sp>
      <p:sp>
        <p:nvSpPr>
          <p:cNvPr id="32" name="Google Shape;32;p4"/>
          <p:cNvSpPr/>
          <p:nvPr/>
        </p:nvSpPr>
        <p:spPr>
          <a:xfrm>
            <a:off x="658368" y="2523744"/>
            <a:ext cx="7269480" cy="9326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F4EA"/>
              </a:buClr>
              <a:buSzPts val="1920"/>
              <a:buFont typeface="Arial"/>
              <a:buNone/>
            </a:pPr>
            <a:r>
              <a:rPr b="0" i="0" lang="en-US" sz="1920" u="none" cap="none" strike="noStrike">
                <a:solidFill>
                  <a:srgbClr val="EEF4EA"/>
                </a:solidFill>
                <a:latin typeface="Arial"/>
                <a:ea typeface="Arial"/>
                <a:cs typeface="Arial"/>
                <a:sym typeface="Arial"/>
              </a:rPr>
              <a:t>AI-Assisted Digital MRV Platform for AWD Rice Irrigation and Agricultural Land Management Carbon Credits</a:t>
            </a:r>
            <a:endParaRPr b="0" i="0" sz="1920" u="none" cap="none" strike="noStrike">
              <a:solidFill>
                <a:schemeClr val="dk1"/>
              </a:solidFill>
              <a:latin typeface="Arial"/>
              <a:ea typeface="Arial"/>
              <a:cs typeface="Arial"/>
              <a:sym typeface="Arial"/>
            </a:endParaRPr>
          </a:p>
        </p:txBody>
      </p:sp>
      <p:cxnSp>
        <p:nvCxnSpPr>
          <p:cNvPr id="33" name="Google Shape;33;p4"/>
          <p:cNvCxnSpPr/>
          <p:nvPr/>
        </p:nvCxnSpPr>
        <p:spPr>
          <a:xfrm>
            <a:off x="658368" y="3675888"/>
            <a:ext cx="1280160" cy="0"/>
          </a:xfrm>
          <a:prstGeom prst="straightConnector1">
            <a:avLst/>
          </a:prstGeom>
          <a:noFill/>
          <a:ln cap="flat" cmpd="sng" w="38100">
            <a:solidFill>
              <a:srgbClr val="B08A4F"/>
            </a:solidFill>
            <a:prstDash val="solid"/>
            <a:round/>
            <a:headEnd len="sm" w="sm" type="none"/>
            <a:tailEnd len="sm" w="sm" type="none"/>
          </a:ln>
        </p:spPr>
      </p:cxnSp>
      <p:sp>
        <p:nvSpPr>
          <p:cNvPr id="34" name="Google Shape;34;p4"/>
          <p:cNvSpPr/>
          <p:nvPr/>
        </p:nvSpPr>
        <p:spPr>
          <a:xfrm>
            <a:off x="621792" y="3950208"/>
            <a:ext cx="7543800" cy="1353312"/>
          </a:xfrm>
          <a:prstGeom prst="roundRect">
            <a:avLst>
              <a:gd fmla="val 3041" name="adj"/>
            </a:avLst>
          </a:prstGeom>
          <a:solidFill>
            <a:srgbClr val="102F20">
              <a:alpha val="83922"/>
            </a:srgbClr>
          </a:solidFill>
          <a:ln cap="flat" cmpd="sng" w="10150">
            <a:solidFill>
              <a:srgbClr val="DBE8D6">
                <a:alpha val="3294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859536" y="4206240"/>
            <a:ext cx="126187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9C2"/>
              </a:buClr>
              <a:buSzPts val="850"/>
              <a:buFont typeface="Arial"/>
              <a:buNone/>
            </a:pPr>
            <a:r>
              <a:rPr b="1" i="0" lang="en-US" sz="850" u="none" cap="none" strike="noStrike">
                <a:solidFill>
                  <a:srgbClr val="C7D9C2"/>
                </a:solidFill>
                <a:latin typeface="Arial"/>
                <a:ea typeface="Arial"/>
                <a:cs typeface="Arial"/>
                <a:sym typeface="Arial"/>
              </a:rPr>
              <a:t>SUBMITTED AS</a:t>
            </a:r>
            <a:endParaRPr b="0" i="0" sz="850" u="none" cap="none" strike="noStrike">
              <a:solidFill>
                <a:schemeClr val="dk1"/>
              </a:solidFill>
              <a:latin typeface="Arial"/>
              <a:ea typeface="Arial"/>
              <a:cs typeface="Arial"/>
              <a:sym typeface="Arial"/>
            </a:endParaRPr>
          </a:p>
        </p:txBody>
      </p:sp>
      <p:sp>
        <p:nvSpPr>
          <p:cNvPr id="36" name="Google Shape;36;p4"/>
          <p:cNvSpPr/>
          <p:nvPr/>
        </p:nvSpPr>
        <p:spPr>
          <a:xfrm>
            <a:off x="859536" y="4453128"/>
            <a:ext cx="2011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Technical Report</a:t>
            </a:r>
            <a:endParaRPr b="0" i="0" sz="11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SE801 Project Midterm Report</a:t>
            </a:r>
            <a:endParaRPr b="0" i="0" sz="1150" u="none" cap="none" strike="noStrike">
              <a:solidFill>
                <a:schemeClr val="dk1"/>
              </a:solidFill>
              <a:latin typeface="Arial"/>
              <a:ea typeface="Arial"/>
              <a:cs typeface="Arial"/>
              <a:sym typeface="Arial"/>
            </a:endParaRPr>
          </a:p>
        </p:txBody>
      </p:sp>
      <p:sp>
        <p:nvSpPr>
          <p:cNvPr id="37" name="Google Shape;37;p4"/>
          <p:cNvSpPr/>
          <p:nvPr/>
        </p:nvSpPr>
        <p:spPr>
          <a:xfrm>
            <a:off x="3081528" y="4206240"/>
            <a:ext cx="12344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9C2"/>
              </a:buClr>
              <a:buSzPts val="850"/>
              <a:buFont typeface="Arial"/>
              <a:buNone/>
            </a:pPr>
            <a:r>
              <a:rPr b="1" i="0" lang="en-US" sz="850" u="none" cap="none" strike="noStrike">
                <a:solidFill>
                  <a:srgbClr val="C7D9C2"/>
                </a:solidFill>
                <a:latin typeface="Arial"/>
                <a:ea typeface="Arial"/>
                <a:cs typeface="Arial"/>
                <a:sym typeface="Arial"/>
              </a:rPr>
              <a:t>SUBMITTED BY</a:t>
            </a:r>
            <a:endParaRPr b="0" i="0" sz="850" u="none" cap="none" strike="noStrike">
              <a:solidFill>
                <a:schemeClr val="dk1"/>
              </a:solidFill>
              <a:latin typeface="Arial"/>
              <a:ea typeface="Arial"/>
              <a:cs typeface="Arial"/>
              <a:sym typeface="Arial"/>
            </a:endParaRPr>
          </a:p>
        </p:txBody>
      </p:sp>
      <p:sp>
        <p:nvSpPr>
          <p:cNvPr id="38" name="Google Shape;38;p4"/>
          <p:cNvSpPr/>
          <p:nvPr/>
        </p:nvSpPr>
        <p:spPr>
          <a:xfrm>
            <a:off x="3081528" y="4453128"/>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Kazi Nahid</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BSSE Roll: 1437</a:t>
            </a:r>
            <a:endParaRPr b="0" i="0" sz="1200" u="none" cap="none" strike="noStrike">
              <a:solidFill>
                <a:schemeClr val="dk1"/>
              </a:solidFill>
              <a:latin typeface="Arial"/>
              <a:ea typeface="Arial"/>
              <a:cs typeface="Arial"/>
              <a:sym typeface="Arial"/>
            </a:endParaRPr>
          </a:p>
        </p:txBody>
      </p:sp>
      <p:sp>
        <p:nvSpPr>
          <p:cNvPr id="39" name="Google Shape;39;p4"/>
          <p:cNvSpPr/>
          <p:nvPr/>
        </p:nvSpPr>
        <p:spPr>
          <a:xfrm>
            <a:off x="4882896" y="4206240"/>
            <a:ext cx="1325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9C2"/>
              </a:buClr>
              <a:buSzPts val="850"/>
              <a:buFont typeface="Arial"/>
              <a:buNone/>
            </a:pPr>
            <a:r>
              <a:rPr b="1" i="0" lang="en-US" sz="850" u="none" cap="none" strike="noStrike">
                <a:solidFill>
                  <a:srgbClr val="C7D9C2"/>
                </a:solidFill>
                <a:latin typeface="Arial"/>
                <a:ea typeface="Arial"/>
                <a:cs typeface="Arial"/>
                <a:sym typeface="Arial"/>
              </a:rPr>
              <a:t>SUPERVISED BY</a:t>
            </a:r>
            <a:endParaRPr b="0" i="0" sz="850" u="none" cap="none" strike="noStrike">
              <a:solidFill>
                <a:schemeClr val="dk1"/>
              </a:solidFill>
              <a:latin typeface="Arial"/>
              <a:ea typeface="Arial"/>
              <a:cs typeface="Arial"/>
              <a:sym typeface="Arial"/>
            </a:endParaRPr>
          </a:p>
        </p:txBody>
      </p:sp>
      <p:sp>
        <p:nvSpPr>
          <p:cNvPr id="40" name="Google Shape;40;p4"/>
          <p:cNvSpPr/>
          <p:nvPr/>
        </p:nvSpPr>
        <p:spPr>
          <a:xfrm>
            <a:off x="4882896" y="4425696"/>
            <a:ext cx="30175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60"/>
              <a:buFont typeface="Arial"/>
              <a:buNone/>
            </a:pPr>
            <a:r>
              <a:rPr b="1" i="0" lang="en-US" sz="1060" u="none" cap="none" strike="noStrike">
                <a:solidFill>
                  <a:srgbClr val="FFFFFF"/>
                </a:solidFill>
                <a:latin typeface="Arial"/>
                <a:ea typeface="Arial"/>
                <a:cs typeface="Arial"/>
                <a:sym typeface="Arial"/>
              </a:rPr>
              <a:t>Dr. Emon Kumar Dey</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Arial"/>
              <a:buNone/>
            </a:pPr>
            <a:r>
              <a:rPr b="1" i="0" lang="en-US" sz="1060" u="none" cap="none" strike="noStrike">
                <a:solidFill>
                  <a:srgbClr val="FFFFFF"/>
                </a:solidFill>
                <a:latin typeface="Arial"/>
                <a:ea typeface="Arial"/>
                <a:cs typeface="Arial"/>
                <a:sym typeface="Arial"/>
              </a:rPr>
              <a:t>Professor, Institute of Information Technology</a:t>
            </a:r>
            <a:endParaRPr b="0" i="0" sz="106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060"/>
              <a:buFont typeface="Arial"/>
              <a:buNone/>
            </a:pPr>
            <a:r>
              <a:rPr b="1" i="0" lang="en-US" sz="1060" u="none" cap="none" strike="noStrike">
                <a:solidFill>
                  <a:srgbClr val="FFFFFF"/>
                </a:solidFill>
                <a:latin typeface="Arial"/>
                <a:ea typeface="Arial"/>
                <a:cs typeface="Arial"/>
                <a:sym typeface="Arial"/>
              </a:rPr>
              <a:t>University of Dhaka</a:t>
            </a:r>
            <a:endParaRPr b="0" i="0" sz="1060" u="none" cap="none" strike="noStrike">
              <a:solidFill>
                <a:schemeClr val="dk1"/>
              </a:solidFill>
              <a:latin typeface="Arial"/>
              <a:ea typeface="Arial"/>
              <a:cs typeface="Arial"/>
              <a:sym typeface="Arial"/>
            </a:endParaRPr>
          </a:p>
        </p:txBody>
      </p:sp>
      <p:sp>
        <p:nvSpPr>
          <p:cNvPr id="41" name="Google Shape;41;p4"/>
          <p:cNvSpPr/>
          <p:nvPr/>
        </p:nvSpPr>
        <p:spPr>
          <a:xfrm>
            <a:off x="658368" y="5806440"/>
            <a:ext cx="1627632"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9C2"/>
              </a:buClr>
              <a:buSzPts val="850"/>
              <a:buFont typeface="Arial"/>
              <a:buNone/>
            </a:pPr>
            <a:r>
              <a:rPr b="1" i="0" lang="en-US" sz="850" u="none" cap="none" strike="noStrike">
                <a:solidFill>
                  <a:srgbClr val="C7D9C2"/>
                </a:solidFill>
                <a:latin typeface="Arial"/>
                <a:ea typeface="Arial"/>
                <a:cs typeface="Arial"/>
                <a:sym typeface="Arial"/>
              </a:rPr>
              <a:t>DATE OF </a:t>
            </a:r>
            <a:r>
              <a:rPr b="1" lang="en-US" sz="850">
                <a:solidFill>
                  <a:srgbClr val="C7D9C2"/>
                </a:solidFill>
              </a:rPr>
              <a:t>PRESENTATION</a:t>
            </a:r>
            <a:endParaRPr b="0" i="0" sz="850" u="none" cap="none" strike="noStrike">
              <a:solidFill>
                <a:schemeClr val="dk1"/>
              </a:solidFill>
              <a:latin typeface="Arial"/>
              <a:ea typeface="Arial"/>
              <a:cs typeface="Arial"/>
              <a:sym typeface="Arial"/>
            </a:endParaRPr>
          </a:p>
        </p:txBody>
      </p:sp>
      <p:sp>
        <p:nvSpPr>
          <p:cNvPr id="42" name="Google Shape;42;p4"/>
          <p:cNvSpPr/>
          <p:nvPr/>
        </p:nvSpPr>
        <p:spPr>
          <a:xfrm>
            <a:off x="2359152" y="5751576"/>
            <a:ext cx="1874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2 August 2026</a:t>
            </a:r>
            <a:endParaRPr b="0" i="0" sz="1350" u="none" cap="none" strike="noStrike">
              <a:solidFill>
                <a:schemeClr val="dk1"/>
              </a:solidFill>
              <a:latin typeface="Arial"/>
              <a:ea typeface="Arial"/>
              <a:cs typeface="Arial"/>
              <a:sym typeface="Arial"/>
            </a:endParaRPr>
          </a:p>
        </p:txBody>
      </p:sp>
      <p:sp>
        <p:nvSpPr>
          <p:cNvPr id="43" name="Google Shape;43;p4"/>
          <p:cNvSpPr/>
          <p:nvPr/>
        </p:nvSpPr>
        <p:spPr>
          <a:xfrm>
            <a:off x="658368" y="6291072"/>
            <a:ext cx="7955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27B"/>
              </a:buClr>
              <a:buSzPts val="880"/>
              <a:buFont typeface="Arial"/>
              <a:buNone/>
            </a:pPr>
            <a:r>
              <a:rPr b="1" i="0" lang="en-US" sz="880" u="none" cap="none" strike="noStrike">
                <a:solidFill>
                  <a:srgbClr val="D8C27B"/>
                </a:solidFill>
                <a:latin typeface="Arial"/>
                <a:ea typeface="Arial"/>
                <a:cs typeface="Arial"/>
                <a:sym typeface="Arial"/>
              </a:rPr>
              <a:t>AGRICULTURAL MRV  •  SATELLITE EVIDENCE  •  TRANSPARENT ACCOUNTING</a:t>
            </a:r>
            <a:endParaRPr b="0" i="0" sz="88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pic>
        <p:nvPicPr>
          <p:cNvPr descr="/home/nahid/Desktop/my_project/terra-audit/docs/presentation/assets/rice_fields_cover_v2.png" id="49" name="Google Shape;49;p5"/>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50" name="Google Shape;50;p5"/>
          <p:cNvSpPr/>
          <p:nvPr/>
        </p:nvSpPr>
        <p:spPr>
          <a:xfrm>
            <a:off x="0" y="0"/>
            <a:ext cx="12191695" cy="6858000"/>
          </a:xfrm>
          <a:prstGeom prst="rect">
            <a:avLst/>
          </a:prstGeom>
          <a:solidFill>
            <a:srgbClr val="163B27">
              <a:alpha val="72941"/>
            </a:srgbClr>
          </a:solidFill>
          <a:ln cap="flat" cmpd="sng" w="12700">
            <a:solidFill>
              <a:srgbClr val="163B2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0" y="0"/>
            <a:ext cx="12191695" cy="100584"/>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03504" y="384048"/>
            <a:ext cx="2926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27B"/>
              </a:buClr>
              <a:buSzPts val="1000"/>
              <a:buFont typeface="Arial"/>
              <a:buNone/>
            </a:pPr>
            <a:r>
              <a:rPr b="1" i="0" lang="en-US" sz="1000" u="none" cap="none" strike="noStrike">
                <a:solidFill>
                  <a:srgbClr val="D8C27B"/>
                </a:solidFill>
                <a:latin typeface="Arial"/>
                <a:ea typeface="Arial"/>
                <a:cs typeface="Arial"/>
                <a:sym typeface="Arial"/>
              </a:rPr>
              <a:t>PROJECT OVERVIEW</a:t>
            </a:r>
            <a:endParaRPr b="0" i="0" sz="1000" u="none" cap="none" strike="noStrike">
              <a:solidFill>
                <a:schemeClr val="dk1"/>
              </a:solidFill>
              <a:latin typeface="Arial"/>
              <a:ea typeface="Arial"/>
              <a:cs typeface="Arial"/>
              <a:sym typeface="Arial"/>
            </a:endParaRPr>
          </a:p>
        </p:txBody>
      </p:sp>
      <p:sp>
        <p:nvSpPr>
          <p:cNvPr id="53" name="Google Shape;53;p5"/>
          <p:cNvSpPr/>
          <p:nvPr/>
        </p:nvSpPr>
        <p:spPr>
          <a:xfrm>
            <a:off x="585216" y="676656"/>
            <a:ext cx="9875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Why agricultural carbon MRV is difficult</a:t>
            </a:r>
            <a:endParaRPr b="0" i="0" sz="2800" u="none" cap="none" strike="noStrike">
              <a:solidFill>
                <a:schemeClr val="dk1"/>
              </a:solidFill>
              <a:latin typeface="Arial"/>
              <a:ea typeface="Arial"/>
              <a:cs typeface="Arial"/>
              <a:sym typeface="Arial"/>
            </a:endParaRPr>
          </a:p>
        </p:txBody>
      </p:sp>
      <p:sp>
        <p:nvSpPr>
          <p:cNvPr id="54" name="Google Shape;54;p5"/>
          <p:cNvSpPr/>
          <p:nvPr/>
        </p:nvSpPr>
        <p:spPr>
          <a:xfrm>
            <a:off x="603504" y="1188720"/>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EE3"/>
              </a:buClr>
              <a:buSzPts val="1250"/>
              <a:buFont typeface="Arial"/>
              <a:buNone/>
            </a:pPr>
            <a:r>
              <a:rPr b="0" i="0" lang="en-US" sz="1250" u="none" cap="none" strike="noStrike">
                <a:solidFill>
                  <a:srgbClr val="E6EEE3"/>
                </a:solidFill>
                <a:latin typeface="Arial"/>
                <a:ea typeface="Arial"/>
                <a:cs typeface="Arial"/>
                <a:sym typeface="Arial"/>
              </a:rPr>
              <a:t>The obstacle is not data availability alone — it is trustworthy interpretation and evidence.</a:t>
            </a:r>
            <a:endParaRPr b="0" i="0" sz="1250" u="none" cap="none" strike="noStrike">
              <a:solidFill>
                <a:schemeClr val="dk1"/>
              </a:solidFill>
              <a:latin typeface="Arial"/>
              <a:ea typeface="Arial"/>
              <a:cs typeface="Arial"/>
              <a:sym typeface="Arial"/>
            </a:endParaRPr>
          </a:p>
        </p:txBody>
      </p:sp>
      <p:sp>
        <p:nvSpPr>
          <p:cNvPr id="55" name="Google Shape;55;p5"/>
          <p:cNvSpPr/>
          <p:nvPr/>
        </p:nvSpPr>
        <p:spPr>
          <a:xfrm>
            <a:off x="603504" y="1828800"/>
            <a:ext cx="3456432" cy="1965960"/>
          </a:xfrm>
          <a:prstGeom prst="roundRect">
            <a:avLst>
              <a:gd fmla="val 2093" name="adj"/>
            </a:avLst>
          </a:prstGeom>
          <a:solidFill>
            <a:srgbClr val="F8FAF5">
              <a:alpha val="96863"/>
            </a:srgbClr>
          </a:solidFill>
          <a:ln cap="flat" cmpd="sng" w="9525">
            <a:solidFill>
              <a:srgbClr val="D9E5D5">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850392" y="2084832"/>
            <a:ext cx="42062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50"/>
              <a:buFont typeface="Arial"/>
              <a:buNone/>
            </a:pPr>
            <a:r>
              <a:rPr b="1" i="0" lang="en-US" sz="1050" u="none" cap="none" strike="noStrike">
                <a:solidFill>
                  <a:srgbClr val="1F5630"/>
                </a:solidFill>
                <a:latin typeface="Arial"/>
                <a:ea typeface="Arial"/>
                <a:cs typeface="Arial"/>
                <a:sym typeface="Arial"/>
              </a:rPr>
              <a:t>01</a:t>
            </a:r>
            <a:endParaRPr b="0" i="0" sz="1050" u="none" cap="none" strike="noStrike">
              <a:solidFill>
                <a:schemeClr val="dk1"/>
              </a:solidFill>
              <a:latin typeface="Arial"/>
              <a:ea typeface="Arial"/>
              <a:cs typeface="Arial"/>
              <a:sym typeface="Arial"/>
            </a:endParaRPr>
          </a:p>
        </p:txBody>
      </p:sp>
      <p:sp>
        <p:nvSpPr>
          <p:cNvPr id="57" name="Google Shape;57;p5"/>
          <p:cNvSpPr/>
          <p:nvPr/>
        </p:nvSpPr>
        <p:spPr>
          <a:xfrm>
            <a:off x="850392" y="2459736"/>
            <a:ext cx="29260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600"/>
              <a:buFont typeface="Arial"/>
              <a:buNone/>
            </a:pPr>
            <a:r>
              <a:rPr b="1" i="0" lang="en-US" sz="1600" u="none" cap="none" strike="noStrike">
                <a:solidFill>
                  <a:srgbClr val="163B27"/>
                </a:solidFill>
                <a:latin typeface="Arial"/>
                <a:ea typeface="Arial"/>
                <a:cs typeface="Arial"/>
                <a:sym typeface="Arial"/>
              </a:rPr>
              <a:t>Unverifiable practice records</a:t>
            </a:r>
            <a:endParaRPr b="0" i="0" sz="1600" u="none" cap="none" strike="noStrike">
              <a:solidFill>
                <a:schemeClr val="dk1"/>
              </a:solidFill>
              <a:latin typeface="Arial"/>
              <a:ea typeface="Arial"/>
              <a:cs typeface="Arial"/>
              <a:sym typeface="Arial"/>
            </a:endParaRPr>
          </a:p>
        </p:txBody>
      </p:sp>
      <p:sp>
        <p:nvSpPr>
          <p:cNvPr id="58" name="Google Shape;58;p5"/>
          <p:cNvSpPr/>
          <p:nvPr/>
        </p:nvSpPr>
        <p:spPr>
          <a:xfrm>
            <a:off x="850392" y="2999232"/>
            <a:ext cx="29260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Farmer logs are difficult for an auditor to verify consistently across many small plots.</a:t>
            </a:r>
            <a:endParaRPr b="0" i="0" sz="1120" u="none" cap="none" strike="noStrike">
              <a:solidFill>
                <a:schemeClr val="dk1"/>
              </a:solidFill>
              <a:latin typeface="Arial"/>
              <a:ea typeface="Arial"/>
              <a:cs typeface="Arial"/>
              <a:sym typeface="Arial"/>
            </a:endParaRPr>
          </a:p>
        </p:txBody>
      </p:sp>
      <p:sp>
        <p:nvSpPr>
          <p:cNvPr id="59" name="Google Shape;59;p5"/>
          <p:cNvSpPr/>
          <p:nvPr/>
        </p:nvSpPr>
        <p:spPr>
          <a:xfrm>
            <a:off x="4425696" y="1828800"/>
            <a:ext cx="3456432" cy="1965960"/>
          </a:xfrm>
          <a:prstGeom prst="roundRect">
            <a:avLst>
              <a:gd fmla="val 2093" name="adj"/>
            </a:avLst>
          </a:prstGeom>
          <a:solidFill>
            <a:srgbClr val="F8FAF5">
              <a:alpha val="96863"/>
            </a:srgbClr>
          </a:solidFill>
          <a:ln cap="flat" cmpd="sng" w="9525">
            <a:solidFill>
              <a:srgbClr val="D9E5D5">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4672584" y="2084832"/>
            <a:ext cx="42062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50"/>
              <a:buFont typeface="Arial"/>
              <a:buNone/>
            </a:pPr>
            <a:r>
              <a:rPr b="1" i="0" lang="en-US" sz="1050" u="none" cap="none" strike="noStrike">
                <a:solidFill>
                  <a:srgbClr val="1F5630"/>
                </a:solidFill>
                <a:latin typeface="Arial"/>
                <a:ea typeface="Arial"/>
                <a:cs typeface="Arial"/>
                <a:sym typeface="Arial"/>
              </a:rPr>
              <a:t>02</a:t>
            </a:r>
            <a:endParaRPr b="0" i="0" sz="1050" u="none" cap="none" strike="noStrike">
              <a:solidFill>
                <a:schemeClr val="dk1"/>
              </a:solidFill>
              <a:latin typeface="Arial"/>
              <a:ea typeface="Arial"/>
              <a:cs typeface="Arial"/>
              <a:sym typeface="Arial"/>
            </a:endParaRPr>
          </a:p>
        </p:txBody>
      </p:sp>
      <p:sp>
        <p:nvSpPr>
          <p:cNvPr id="61" name="Google Shape;61;p5"/>
          <p:cNvSpPr/>
          <p:nvPr/>
        </p:nvSpPr>
        <p:spPr>
          <a:xfrm>
            <a:off x="4672584" y="2459736"/>
            <a:ext cx="29260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600"/>
              <a:buFont typeface="Arial"/>
              <a:buNone/>
            </a:pPr>
            <a:r>
              <a:rPr b="1" i="0" lang="en-US" sz="1600" u="none" cap="none" strike="noStrike">
                <a:solidFill>
                  <a:srgbClr val="163B27"/>
                </a:solidFill>
                <a:latin typeface="Arial"/>
                <a:ea typeface="Arial"/>
                <a:cs typeface="Arial"/>
                <a:sym typeface="Arial"/>
              </a:rPr>
              <a:t>Expensive field hardware</a:t>
            </a:r>
            <a:endParaRPr b="0" i="0" sz="1600" u="none" cap="none" strike="noStrike">
              <a:solidFill>
                <a:schemeClr val="dk1"/>
              </a:solidFill>
              <a:latin typeface="Arial"/>
              <a:ea typeface="Arial"/>
              <a:cs typeface="Arial"/>
              <a:sym typeface="Arial"/>
            </a:endParaRPr>
          </a:p>
        </p:txBody>
      </p:sp>
      <p:sp>
        <p:nvSpPr>
          <p:cNvPr id="62" name="Google Shape;62;p5"/>
          <p:cNvSpPr/>
          <p:nvPr/>
        </p:nvSpPr>
        <p:spPr>
          <a:xfrm>
            <a:off x="4672584" y="2999232"/>
            <a:ext cx="29260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Water-level sensors and repeated field visits are costly to deploy and maintain at scale.</a:t>
            </a:r>
            <a:endParaRPr b="0" i="0" sz="1120" u="none" cap="none" strike="noStrike">
              <a:solidFill>
                <a:schemeClr val="dk1"/>
              </a:solidFill>
              <a:latin typeface="Arial"/>
              <a:ea typeface="Arial"/>
              <a:cs typeface="Arial"/>
              <a:sym typeface="Arial"/>
            </a:endParaRPr>
          </a:p>
        </p:txBody>
      </p:sp>
      <p:sp>
        <p:nvSpPr>
          <p:cNvPr id="63" name="Google Shape;63;p5"/>
          <p:cNvSpPr/>
          <p:nvPr/>
        </p:nvSpPr>
        <p:spPr>
          <a:xfrm>
            <a:off x="8247888" y="1828800"/>
            <a:ext cx="3456432" cy="1965960"/>
          </a:xfrm>
          <a:prstGeom prst="roundRect">
            <a:avLst>
              <a:gd fmla="val 2093" name="adj"/>
            </a:avLst>
          </a:prstGeom>
          <a:solidFill>
            <a:srgbClr val="F8FAF5">
              <a:alpha val="96863"/>
            </a:srgbClr>
          </a:solidFill>
          <a:ln cap="flat" cmpd="sng" w="9525">
            <a:solidFill>
              <a:srgbClr val="D9E5D5">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8494776" y="2084832"/>
            <a:ext cx="42062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50"/>
              <a:buFont typeface="Arial"/>
              <a:buNone/>
            </a:pPr>
            <a:r>
              <a:rPr b="1" i="0" lang="en-US" sz="1050" u="none" cap="none" strike="noStrike">
                <a:solidFill>
                  <a:srgbClr val="1F5630"/>
                </a:solidFill>
                <a:latin typeface="Arial"/>
                <a:ea typeface="Arial"/>
                <a:cs typeface="Arial"/>
                <a:sym typeface="Arial"/>
              </a:rPr>
              <a:t>03</a:t>
            </a:r>
            <a:endParaRPr b="0" i="0" sz="1050" u="none" cap="none" strike="noStrike">
              <a:solidFill>
                <a:schemeClr val="dk1"/>
              </a:solidFill>
              <a:latin typeface="Arial"/>
              <a:ea typeface="Arial"/>
              <a:cs typeface="Arial"/>
              <a:sym typeface="Arial"/>
            </a:endParaRPr>
          </a:p>
        </p:txBody>
      </p:sp>
      <p:sp>
        <p:nvSpPr>
          <p:cNvPr id="65" name="Google Shape;65;p5"/>
          <p:cNvSpPr/>
          <p:nvPr/>
        </p:nvSpPr>
        <p:spPr>
          <a:xfrm>
            <a:off x="8494776" y="2459736"/>
            <a:ext cx="29260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600"/>
              <a:buFont typeface="Arial"/>
              <a:buNone/>
            </a:pPr>
            <a:r>
              <a:rPr b="1" i="0" lang="en-US" sz="1600" u="none" cap="none" strike="noStrike">
                <a:solidFill>
                  <a:srgbClr val="163B27"/>
                </a:solidFill>
                <a:latin typeface="Arial"/>
                <a:ea typeface="Arial"/>
                <a:cs typeface="Arial"/>
                <a:sym typeface="Arial"/>
              </a:rPr>
              <a:t>Opaque calculations</a:t>
            </a:r>
            <a:endParaRPr b="0" i="0" sz="1600" u="none" cap="none" strike="noStrike">
              <a:solidFill>
                <a:schemeClr val="dk1"/>
              </a:solidFill>
              <a:latin typeface="Arial"/>
              <a:ea typeface="Arial"/>
              <a:cs typeface="Arial"/>
              <a:sym typeface="Arial"/>
            </a:endParaRPr>
          </a:p>
        </p:txBody>
      </p:sp>
      <p:sp>
        <p:nvSpPr>
          <p:cNvPr id="66" name="Google Shape;66;p5"/>
          <p:cNvSpPr/>
          <p:nvPr/>
        </p:nvSpPr>
        <p:spPr>
          <a:xfrm>
            <a:off x="8494776" y="2999232"/>
            <a:ext cx="29260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Disconnected spreadsheets hide assumptions, intermediate values, and methodology constraints.</a:t>
            </a:r>
            <a:endParaRPr b="0" i="0" sz="1120" u="none" cap="none" strike="noStrike">
              <a:solidFill>
                <a:schemeClr val="dk1"/>
              </a:solidFill>
              <a:latin typeface="Arial"/>
              <a:ea typeface="Arial"/>
              <a:cs typeface="Arial"/>
              <a:sym typeface="Arial"/>
            </a:endParaRPr>
          </a:p>
        </p:txBody>
      </p:sp>
      <p:sp>
        <p:nvSpPr>
          <p:cNvPr id="67" name="Google Shape;67;p5"/>
          <p:cNvSpPr/>
          <p:nvPr/>
        </p:nvSpPr>
        <p:spPr>
          <a:xfrm>
            <a:off x="603504" y="4224528"/>
            <a:ext cx="10972800" cy="1115568"/>
          </a:xfrm>
          <a:prstGeom prst="roundRect">
            <a:avLst>
              <a:gd fmla="val 3689" name="adj"/>
            </a:avLst>
          </a:prstGeom>
          <a:solidFill>
            <a:srgbClr val="102F20">
              <a:alpha val="87059"/>
            </a:srgbClr>
          </a:solidFill>
          <a:ln cap="flat" cmpd="sng" w="9525">
            <a:solidFill>
              <a:srgbClr val="D9E5D5">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896112" y="4480560"/>
            <a:ext cx="1965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27B"/>
              </a:buClr>
              <a:buSzPts val="950"/>
              <a:buFont typeface="Arial"/>
              <a:buNone/>
            </a:pPr>
            <a:r>
              <a:rPr b="1" i="0" lang="en-US" sz="950" u="none" cap="none" strike="noStrike">
                <a:solidFill>
                  <a:srgbClr val="D8C27B"/>
                </a:solidFill>
                <a:latin typeface="Arial"/>
                <a:ea typeface="Arial"/>
                <a:cs typeface="Arial"/>
                <a:sym typeface="Arial"/>
              </a:rPr>
              <a:t>TERRA-AUDIT RESPONSE</a:t>
            </a:r>
            <a:endParaRPr b="0" i="0" sz="950" u="none" cap="none" strike="noStrike">
              <a:solidFill>
                <a:schemeClr val="dk1"/>
              </a:solidFill>
              <a:latin typeface="Arial"/>
              <a:ea typeface="Arial"/>
              <a:cs typeface="Arial"/>
              <a:sym typeface="Arial"/>
            </a:endParaRPr>
          </a:p>
        </p:txBody>
      </p:sp>
      <p:sp>
        <p:nvSpPr>
          <p:cNvPr id="69" name="Google Shape;69;p5"/>
          <p:cNvSpPr/>
          <p:nvPr/>
        </p:nvSpPr>
        <p:spPr>
          <a:xfrm>
            <a:off x="896112" y="4754880"/>
            <a:ext cx="9966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50"/>
              <a:buFont typeface="Arial"/>
              <a:buNone/>
            </a:pPr>
            <a:r>
              <a:rPr b="1" i="0" lang="en-US" sz="1850" u="none" cap="none" strike="noStrike">
                <a:solidFill>
                  <a:srgbClr val="FFFFFF"/>
                </a:solidFill>
                <a:latin typeface="Arial"/>
                <a:ea typeface="Arial"/>
                <a:cs typeface="Arial"/>
                <a:sym typeface="Arial"/>
              </a:rPr>
              <a:t>Connect field evidence → methodology logic → auditor-ready outputs in one traceable workflow.</a:t>
            </a:r>
            <a:endParaRPr b="0" i="0" sz="1850" u="none" cap="none" strike="noStrike">
              <a:solidFill>
                <a:schemeClr val="dk1"/>
              </a:solidFill>
              <a:latin typeface="Arial"/>
              <a:ea typeface="Arial"/>
              <a:cs typeface="Arial"/>
              <a:sym typeface="Arial"/>
            </a:endParaRPr>
          </a:p>
        </p:txBody>
      </p:sp>
      <p:sp>
        <p:nvSpPr>
          <p:cNvPr id="70" name="Google Shape;70;p5"/>
          <p:cNvSpPr/>
          <p:nvPr/>
        </p:nvSpPr>
        <p:spPr>
          <a:xfrm>
            <a:off x="621792" y="5806440"/>
            <a:ext cx="10927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4EC"/>
              </a:buClr>
              <a:buSzPts val="1200"/>
              <a:buFont typeface="Arial"/>
              <a:buNone/>
            </a:pPr>
            <a:r>
              <a:rPr b="1" i="0" lang="en-US" sz="1200" u="none" cap="none" strike="noStrike">
                <a:solidFill>
                  <a:srgbClr val="F0F4EC"/>
                </a:solidFill>
                <a:latin typeface="Arial"/>
                <a:ea typeface="Arial"/>
                <a:cs typeface="Arial"/>
                <a:sym typeface="Arial"/>
              </a:rPr>
              <a:t>Output is an auditable estimate — not an issued Verra credit.</a:t>
            </a:r>
            <a:endParaRPr b="0" i="0" sz="1200" u="none" cap="none" strike="noStrike">
              <a:solidFill>
                <a:schemeClr val="dk1"/>
              </a:solidFill>
              <a:latin typeface="Arial"/>
              <a:ea typeface="Arial"/>
              <a:cs typeface="Arial"/>
              <a:sym typeface="Arial"/>
            </a:endParaRPr>
          </a:p>
        </p:txBody>
      </p:sp>
      <p:sp>
        <p:nvSpPr>
          <p:cNvPr id="71" name="Google Shape;71;p5"/>
          <p:cNvSpPr/>
          <p:nvPr/>
        </p:nvSpPr>
        <p:spPr>
          <a:xfrm>
            <a:off x="603504" y="6528816"/>
            <a:ext cx="4114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5E0D1"/>
              </a:buClr>
              <a:buSzPts val="850"/>
              <a:buFont typeface="Arial"/>
              <a:buNone/>
            </a:pPr>
            <a:r>
              <a:rPr b="0" i="0" lang="en-US" sz="850" u="none" cap="none" strike="noStrike">
                <a:solidFill>
                  <a:srgbClr val="D5E0D1"/>
                </a:solidFill>
                <a:latin typeface="Arial"/>
                <a:ea typeface="Arial"/>
                <a:cs typeface="Arial"/>
                <a:sym typeface="Arial"/>
              </a:rPr>
              <a:t>TERRA-AUDIT  •  SE801 MIDTERM</a:t>
            </a:r>
            <a:endParaRPr b="0" i="0" sz="850" u="none" cap="none" strike="noStrike">
              <a:solidFill>
                <a:schemeClr val="dk1"/>
              </a:solidFill>
              <a:latin typeface="Arial"/>
              <a:ea typeface="Arial"/>
              <a:cs typeface="Arial"/>
              <a:sym typeface="Arial"/>
            </a:endParaRPr>
          </a:p>
        </p:txBody>
      </p:sp>
      <p:sp>
        <p:nvSpPr>
          <p:cNvPr id="72" name="Google Shape;72;p5"/>
          <p:cNvSpPr/>
          <p:nvPr/>
        </p:nvSpPr>
        <p:spPr>
          <a:xfrm>
            <a:off x="11631168" y="6528816"/>
            <a:ext cx="2286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8C27B"/>
              </a:buClr>
              <a:buSzPts val="900"/>
              <a:buFont typeface="Arial"/>
              <a:buNone/>
            </a:pPr>
            <a:r>
              <a:rPr b="0" i="0" lang="en-US" sz="900" u="none" cap="none" strike="noStrike">
                <a:solidFill>
                  <a:srgbClr val="D8C27B"/>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6"/>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PROJECT OVERVIEW</a:t>
            </a:r>
            <a:endParaRPr b="0" i="0" sz="1000" u="none" cap="none" strike="noStrike">
              <a:solidFill>
                <a:schemeClr val="dk1"/>
              </a:solidFill>
              <a:latin typeface="Arial"/>
              <a:ea typeface="Arial"/>
              <a:cs typeface="Arial"/>
              <a:sym typeface="Arial"/>
            </a:endParaRPr>
          </a:p>
        </p:txBody>
      </p:sp>
      <p:sp>
        <p:nvSpPr>
          <p:cNvPr id="79" name="Google Shape;79;p6"/>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One platform, two agricultural methodology paths</a:t>
            </a:r>
            <a:endParaRPr b="0" i="0" sz="2700" u="none" cap="none" strike="noStrike">
              <a:solidFill>
                <a:schemeClr val="dk1"/>
              </a:solidFill>
              <a:latin typeface="Arial"/>
              <a:ea typeface="Arial"/>
              <a:cs typeface="Arial"/>
              <a:sym typeface="Arial"/>
            </a:endParaRPr>
          </a:p>
        </p:txBody>
      </p:sp>
      <p:sp>
        <p:nvSpPr>
          <p:cNvPr id="80" name="Google Shape;80;p6"/>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Shared field registry, persistence, evidence exports and portfolio; methodology-specific inputs remain separate.</a:t>
            </a:r>
            <a:endParaRPr b="0" i="0" sz="1250" u="none" cap="none" strike="noStrike">
              <a:solidFill>
                <a:schemeClr val="dk1"/>
              </a:solidFill>
              <a:latin typeface="Arial"/>
              <a:ea typeface="Arial"/>
              <a:cs typeface="Arial"/>
              <a:sym typeface="Arial"/>
            </a:endParaRPr>
          </a:p>
        </p:txBody>
      </p:sp>
      <p:sp>
        <p:nvSpPr>
          <p:cNvPr id="81" name="Google Shape;81;p6"/>
          <p:cNvSpPr/>
          <p:nvPr/>
        </p:nvSpPr>
        <p:spPr>
          <a:xfrm>
            <a:off x="621792" y="1517904"/>
            <a:ext cx="5276088" cy="4480560"/>
          </a:xfrm>
          <a:prstGeom prst="roundRect">
            <a:avLst>
              <a:gd fmla="val 1224" name="adj"/>
            </a:avLst>
          </a:prstGeom>
          <a:solidFill>
            <a:srgbClr val="F1F7EE"/>
          </a:solidFill>
          <a:ln cap="flat" cmpd="sng" w="12700">
            <a:solidFill>
              <a:srgbClr val="2F6B3B">
                <a:alpha val="5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914400" y="1828800"/>
            <a:ext cx="4297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3B"/>
              </a:buClr>
              <a:buSzPts val="1100"/>
              <a:buFont typeface="Arial"/>
              <a:buNone/>
            </a:pPr>
            <a:r>
              <a:rPr b="1" i="0" lang="en-US" sz="1100" u="none" cap="none" strike="noStrike">
                <a:solidFill>
                  <a:srgbClr val="2F6B3B"/>
                </a:solidFill>
                <a:latin typeface="Arial"/>
                <a:ea typeface="Arial"/>
                <a:cs typeface="Arial"/>
                <a:sym typeface="Arial"/>
              </a:rPr>
              <a:t>RICE AWD • VM0051</a:t>
            </a:r>
            <a:endParaRPr b="0" i="0" sz="1100" u="none" cap="none" strike="noStrike">
              <a:solidFill>
                <a:schemeClr val="dk1"/>
              </a:solidFill>
              <a:latin typeface="Arial"/>
              <a:ea typeface="Arial"/>
              <a:cs typeface="Arial"/>
              <a:sym typeface="Arial"/>
            </a:endParaRPr>
          </a:p>
        </p:txBody>
      </p:sp>
      <p:sp>
        <p:nvSpPr>
          <p:cNvPr id="83" name="Google Shape;83;p6"/>
          <p:cNvSpPr/>
          <p:nvPr/>
        </p:nvSpPr>
        <p:spPr>
          <a:xfrm>
            <a:off x="914400" y="2167128"/>
            <a:ext cx="4480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200"/>
              <a:buFont typeface="Arial"/>
              <a:buNone/>
            </a:pPr>
            <a:r>
              <a:rPr b="1" i="0" lang="en-US" sz="2200" u="none" cap="none" strike="noStrike">
                <a:solidFill>
                  <a:srgbClr val="163B27"/>
                </a:solidFill>
                <a:latin typeface="Arial"/>
                <a:ea typeface="Arial"/>
                <a:cs typeface="Arial"/>
                <a:sym typeface="Arial"/>
              </a:rPr>
              <a:t>Satellite evidence path</a:t>
            </a:r>
            <a:endParaRPr b="0" i="0" sz="2200" u="none" cap="none" strike="noStrike">
              <a:solidFill>
                <a:schemeClr val="dk1"/>
              </a:solidFill>
              <a:latin typeface="Arial"/>
              <a:ea typeface="Arial"/>
              <a:cs typeface="Arial"/>
              <a:sym typeface="Arial"/>
            </a:endParaRPr>
          </a:p>
        </p:txBody>
      </p:sp>
      <p:sp>
        <p:nvSpPr>
          <p:cNvPr id="84" name="Google Shape;84;p6"/>
          <p:cNvSpPr/>
          <p:nvPr/>
        </p:nvSpPr>
        <p:spPr>
          <a:xfrm>
            <a:off x="950976" y="2825496"/>
            <a:ext cx="118872" cy="118872"/>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1170432" y="2743200"/>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Boundary and monitoring window</a:t>
            </a:r>
            <a:endParaRPr b="0" i="0" sz="1300" u="none" cap="none" strike="noStrike">
              <a:solidFill>
                <a:schemeClr val="dk1"/>
              </a:solidFill>
              <a:latin typeface="Arial"/>
              <a:ea typeface="Arial"/>
              <a:cs typeface="Arial"/>
              <a:sym typeface="Arial"/>
            </a:endParaRPr>
          </a:p>
        </p:txBody>
      </p:sp>
      <p:sp>
        <p:nvSpPr>
          <p:cNvPr id="86" name="Google Shape;86;p6"/>
          <p:cNvSpPr/>
          <p:nvPr/>
        </p:nvSpPr>
        <p:spPr>
          <a:xfrm>
            <a:off x="950976" y="3346704"/>
            <a:ext cx="118872" cy="118872"/>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1170432" y="3264408"/>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Sentinel-1 VV/VH observations</a:t>
            </a:r>
            <a:endParaRPr b="0" i="0" sz="1300" u="none" cap="none" strike="noStrike">
              <a:solidFill>
                <a:schemeClr val="dk1"/>
              </a:solidFill>
              <a:latin typeface="Arial"/>
              <a:ea typeface="Arial"/>
              <a:cs typeface="Arial"/>
              <a:sym typeface="Arial"/>
            </a:endParaRPr>
          </a:p>
        </p:txBody>
      </p:sp>
      <p:sp>
        <p:nvSpPr>
          <p:cNvPr id="88" name="Google Shape;88;p6"/>
          <p:cNvSpPr/>
          <p:nvPr/>
        </p:nvSpPr>
        <p:spPr>
          <a:xfrm>
            <a:off x="950976" y="3867912"/>
            <a:ext cx="118872" cy="118872"/>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1170432" y="3785616"/>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Flooded-state and drydown gate</a:t>
            </a:r>
            <a:endParaRPr b="0" i="0" sz="1300" u="none" cap="none" strike="noStrike">
              <a:solidFill>
                <a:schemeClr val="dk1"/>
              </a:solidFill>
              <a:latin typeface="Arial"/>
              <a:ea typeface="Arial"/>
              <a:cs typeface="Arial"/>
              <a:sym typeface="Arial"/>
            </a:endParaRPr>
          </a:p>
        </p:txBody>
      </p:sp>
      <p:sp>
        <p:nvSpPr>
          <p:cNvPr id="90" name="Google Shape;90;p6"/>
          <p:cNvSpPr/>
          <p:nvPr/>
        </p:nvSpPr>
        <p:spPr>
          <a:xfrm>
            <a:off x="950976" y="4389120"/>
            <a:ext cx="118872" cy="118872"/>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1170432" y="4306824"/>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VM0051 QA3 / Tier 1 defaults</a:t>
            </a:r>
            <a:endParaRPr b="0" i="0" sz="1300" u="none" cap="none" strike="noStrike">
              <a:solidFill>
                <a:schemeClr val="dk1"/>
              </a:solidFill>
              <a:latin typeface="Arial"/>
              <a:ea typeface="Arial"/>
              <a:cs typeface="Arial"/>
              <a:sym typeface="Arial"/>
            </a:endParaRPr>
          </a:p>
        </p:txBody>
      </p:sp>
      <p:sp>
        <p:nvSpPr>
          <p:cNvPr id="92" name="Google Shape;92;p6"/>
          <p:cNvSpPr/>
          <p:nvPr/>
        </p:nvSpPr>
        <p:spPr>
          <a:xfrm>
            <a:off x="950976" y="4910328"/>
            <a:ext cx="118872" cy="118872"/>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1170432" y="4828032"/>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PDF • JSON • time-series CSV</a:t>
            </a:r>
            <a:endParaRPr b="0" i="0" sz="1300" u="none" cap="none" strike="noStrike">
              <a:solidFill>
                <a:schemeClr val="dk1"/>
              </a:solidFill>
              <a:latin typeface="Arial"/>
              <a:ea typeface="Arial"/>
              <a:cs typeface="Arial"/>
              <a:sym typeface="Arial"/>
            </a:endParaRPr>
          </a:p>
        </p:txBody>
      </p:sp>
      <p:sp>
        <p:nvSpPr>
          <p:cNvPr id="94" name="Google Shape;94;p6"/>
          <p:cNvSpPr/>
          <p:nvPr/>
        </p:nvSpPr>
        <p:spPr>
          <a:xfrm>
            <a:off x="6291072" y="1517904"/>
            <a:ext cx="5276088" cy="4480560"/>
          </a:xfrm>
          <a:prstGeom prst="roundRect">
            <a:avLst>
              <a:gd fmla="val 1224" name="adj"/>
            </a:avLst>
          </a:prstGeom>
          <a:solidFill>
            <a:srgbClr val="F7F5EA"/>
          </a:solidFill>
          <a:ln cap="flat" cmpd="sng" w="12700">
            <a:solidFill>
              <a:srgbClr val="6F7D43">
                <a:alpha val="5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6583680" y="1828800"/>
            <a:ext cx="4297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7D43"/>
              </a:buClr>
              <a:buSzPts val="1100"/>
              <a:buFont typeface="Arial"/>
              <a:buNone/>
            </a:pPr>
            <a:r>
              <a:rPr b="1" i="0" lang="en-US" sz="1100" u="none" cap="none" strike="noStrike">
                <a:solidFill>
                  <a:srgbClr val="6F7D43"/>
                </a:solidFill>
                <a:latin typeface="Arial"/>
                <a:ea typeface="Arial"/>
                <a:cs typeface="Arial"/>
                <a:sym typeface="Arial"/>
              </a:rPr>
              <a:t>CROPLAND ALM • VM0042</a:t>
            </a:r>
            <a:endParaRPr b="0" i="0" sz="1100" u="none" cap="none" strike="noStrike">
              <a:solidFill>
                <a:schemeClr val="dk1"/>
              </a:solidFill>
              <a:latin typeface="Arial"/>
              <a:ea typeface="Arial"/>
              <a:cs typeface="Arial"/>
              <a:sym typeface="Arial"/>
            </a:endParaRPr>
          </a:p>
        </p:txBody>
      </p:sp>
      <p:sp>
        <p:nvSpPr>
          <p:cNvPr id="96" name="Google Shape;96;p6"/>
          <p:cNvSpPr/>
          <p:nvPr/>
        </p:nvSpPr>
        <p:spPr>
          <a:xfrm>
            <a:off x="6583680" y="2167128"/>
            <a:ext cx="4480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200"/>
              <a:buFont typeface="Arial"/>
              <a:buNone/>
            </a:pPr>
            <a:r>
              <a:rPr b="1" i="0" lang="en-US" sz="2200" u="none" cap="none" strike="noStrike">
                <a:solidFill>
                  <a:srgbClr val="163B27"/>
                </a:solidFill>
                <a:latin typeface="Arial"/>
                <a:ea typeface="Arial"/>
                <a:cs typeface="Arial"/>
                <a:sym typeface="Arial"/>
              </a:rPr>
              <a:t>Practice and soil path</a:t>
            </a:r>
            <a:endParaRPr b="0" i="0" sz="2200" u="none" cap="none" strike="noStrike">
              <a:solidFill>
                <a:schemeClr val="dk1"/>
              </a:solidFill>
              <a:latin typeface="Arial"/>
              <a:ea typeface="Arial"/>
              <a:cs typeface="Arial"/>
              <a:sym typeface="Arial"/>
            </a:endParaRPr>
          </a:p>
        </p:txBody>
      </p:sp>
      <p:sp>
        <p:nvSpPr>
          <p:cNvPr id="97" name="Google Shape;97;p6"/>
          <p:cNvSpPr/>
          <p:nvPr/>
        </p:nvSpPr>
        <p:spPr>
          <a:xfrm>
            <a:off x="6620256" y="2825496"/>
            <a:ext cx="118872" cy="118872"/>
          </a:xfrm>
          <a:prstGeom prst="ellipse">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839712" y="2743200"/>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Baseline and project schedules</a:t>
            </a:r>
            <a:endParaRPr b="0" i="0" sz="1300" u="none" cap="none" strike="noStrike">
              <a:solidFill>
                <a:schemeClr val="dk1"/>
              </a:solidFill>
              <a:latin typeface="Arial"/>
              <a:ea typeface="Arial"/>
              <a:cs typeface="Arial"/>
              <a:sym typeface="Arial"/>
            </a:endParaRPr>
          </a:p>
        </p:txBody>
      </p:sp>
      <p:sp>
        <p:nvSpPr>
          <p:cNvPr id="99" name="Google Shape;99;p6"/>
          <p:cNvSpPr/>
          <p:nvPr/>
        </p:nvSpPr>
        <p:spPr>
          <a:xfrm>
            <a:off x="6620256" y="3346704"/>
            <a:ext cx="118872" cy="118872"/>
          </a:xfrm>
          <a:prstGeom prst="ellipse">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839712" y="3264408"/>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Lab-measured SOC samples</a:t>
            </a:r>
            <a:endParaRPr b="0" i="0" sz="1300" u="none" cap="none" strike="noStrike">
              <a:solidFill>
                <a:schemeClr val="dk1"/>
              </a:solidFill>
              <a:latin typeface="Arial"/>
              <a:ea typeface="Arial"/>
              <a:cs typeface="Arial"/>
              <a:sym typeface="Arial"/>
            </a:endParaRPr>
          </a:p>
        </p:txBody>
      </p:sp>
      <p:sp>
        <p:nvSpPr>
          <p:cNvPr id="101" name="Google Shape;101;p6"/>
          <p:cNvSpPr/>
          <p:nvPr/>
        </p:nvSpPr>
        <p:spPr>
          <a:xfrm>
            <a:off x="6620256" y="3867912"/>
            <a:ext cx="118872" cy="118872"/>
          </a:xfrm>
          <a:prstGeom prst="ellipse">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6839712" y="3785616"/>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Yield, fuel and livestock inputs</a:t>
            </a:r>
            <a:endParaRPr b="0" i="0" sz="1300" u="none" cap="none" strike="noStrike">
              <a:solidFill>
                <a:schemeClr val="dk1"/>
              </a:solidFill>
              <a:latin typeface="Arial"/>
              <a:ea typeface="Arial"/>
              <a:cs typeface="Arial"/>
              <a:sym typeface="Arial"/>
            </a:endParaRPr>
          </a:p>
        </p:txBody>
      </p:sp>
      <p:sp>
        <p:nvSpPr>
          <p:cNvPr id="103" name="Google Shape;103;p6"/>
          <p:cNvSpPr/>
          <p:nvPr/>
        </p:nvSpPr>
        <p:spPr>
          <a:xfrm>
            <a:off x="6620256" y="4389120"/>
            <a:ext cx="118872" cy="118872"/>
          </a:xfrm>
          <a:prstGeom prst="ellipse">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6839712" y="4306824"/>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Scoped VM0042 quantification</a:t>
            </a:r>
            <a:endParaRPr b="0" i="0" sz="1300" u="none" cap="none" strike="noStrike">
              <a:solidFill>
                <a:schemeClr val="dk1"/>
              </a:solidFill>
              <a:latin typeface="Arial"/>
              <a:ea typeface="Arial"/>
              <a:cs typeface="Arial"/>
              <a:sym typeface="Arial"/>
            </a:endParaRPr>
          </a:p>
        </p:txBody>
      </p:sp>
      <p:sp>
        <p:nvSpPr>
          <p:cNvPr id="105" name="Google Shape;105;p6"/>
          <p:cNvSpPr/>
          <p:nvPr/>
        </p:nvSpPr>
        <p:spPr>
          <a:xfrm>
            <a:off x="6620256" y="4910328"/>
            <a:ext cx="118872" cy="118872"/>
          </a:xfrm>
          <a:prstGeom prst="ellipse">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6839712" y="4828032"/>
            <a:ext cx="4306824"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300"/>
              <a:buFont typeface="Arial"/>
              <a:buNone/>
            </a:pPr>
            <a:r>
              <a:rPr b="0" i="0" lang="en-US" sz="1300" u="none" cap="none" strike="noStrike">
                <a:solidFill>
                  <a:srgbClr val="24332A"/>
                </a:solidFill>
                <a:latin typeface="Arial"/>
                <a:ea typeface="Arial"/>
                <a:cs typeface="Arial"/>
                <a:sym typeface="Arial"/>
              </a:rPr>
              <a:t>PDF • JSON • practice/SOC CSV</a:t>
            </a:r>
            <a:endParaRPr b="0" i="0" sz="1300" u="none" cap="none" strike="noStrike">
              <a:solidFill>
                <a:schemeClr val="dk1"/>
              </a:solidFill>
              <a:latin typeface="Arial"/>
              <a:ea typeface="Arial"/>
              <a:cs typeface="Arial"/>
              <a:sym typeface="Arial"/>
            </a:endParaRPr>
          </a:p>
        </p:txBody>
      </p:sp>
      <p:sp>
        <p:nvSpPr>
          <p:cNvPr id="107" name="Google Shape;107;p6"/>
          <p:cNvSpPr/>
          <p:nvPr/>
        </p:nvSpPr>
        <p:spPr>
          <a:xfrm>
            <a:off x="3081528" y="6144768"/>
            <a:ext cx="6035040" cy="320040"/>
          </a:xfrm>
          <a:prstGeom prst="roundRect">
            <a:avLst>
              <a:gd fmla="val 17143" name="adj"/>
            </a:avLst>
          </a:prstGeom>
          <a:solidFill>
            <a:srgbClr val="E2EEDF"/>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3246120" y="6263640"/>
            <a:ext cx="5705856" cy="91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150"/>
              <a:buFont typeface="Arial"/>
              <a:buNone/>
            </a:pPr>
            <a:r>
              <a:rPr b="1" i="0" lang="en-US" sz="1150" u="none" cap="none" strike="noStrike">
                <a:solidFill>
                  <a:srgbClr val="24332A"/>
                </a:solidFill>
                <a:latin typeface="Arial"/>
                <a:ea typeface="Arial"/>
                <a:cs typeface="Arial"/>
                <a:sym typeface="Arial"/>
              </a:rPr>
              <a:t>Architecture rule: share infrastructure — never silently share methodology assumptions.</a:t>
            </a:r>
            <a:endParaRPr b="0" i="0" sz="1150" u="none" cap="none" strike="noStrike">
              <a:solidFill>
                <a:schemeClr val="dk1"/>
              </a:solidFill>
              <a:latin typeface="Arial"/>
              <a:ea typeface="Arial"/>
              <a:cs typeface="Arial"/>
              <a:sym typeface="Arial"/>
            </a:endParaRPr>
          </a:p>
        </p:txBody>
      </p:sp>
      <p:sp>
        <p:nvSpPr>
          <p:cNvPr id="109" name="Google Shape;109;p6"/>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REQUIREMENTS</a:t>
            </a:r>
            <a:endParaRPr b="0" i="0" sz="1000" u="none" cap="none" strike="noStrike">
              <a:solidFill>
                <a:schemeClr val="dk1"/>
              </a:solidFill>
              <a:latin typeface="Arial"/>
              <a:ea typeface="Arial"/>
              <a:cs typeface="Arial"/>
              <a:sym typeface="Arial"/>
            </a:endParaRPr>
          </a:p>
        </p:txBody>
      </p:sp>
      <p:sp>
        <p:nvSpPr>
          <p:cNvPr id="116" name="Google Shape;116;p7"/>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Eighteen functional requirements — grouped for the defense</a:t>
            </a:r>
            <a:endParaRPr b="0" i="0" sz="2700" u="none" cap="none" strike="noStrike">
              <a:solidFill>
                <a:schemeClr val="dk1"/>
              </a:solidFill>
              <a:latin typeface="Arial"/>
              <a:ea typeface="Arial"/>
              <a:cs typeface="Arial"/>
              <a:sym typeface="Arial"/>
            </a:endParaRPr>
          </a:p>
        </p:txBody>
      </p:sp>
      <p:sp>
        <p:nvSpPr>
          <p:cNvPr id="117" name="Google Shape;117;p7"/>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FR1–FR18 are organized into six capability groups for readability.</a:t>
            </a:r>
            <a:endParaRPr b="0" i="0" sz="1250" u="none" cap="none" strike="noStrike">
              <a:solidFill>
                <a:schemeClr val="dk1"/>
              </a:solidFill>
              <a:latin typeface="Arial"/>
              <a:ea typeface="Arial"/>
              <a:cs typeface="Arial"/>
              <a:sym typeface="Arial"/>
            </a:endParaRPr>
          </a:p>
        </p:txBody>
      </p:sp>
      <p:sp>
        <p:nvSpPr>
          <p:cNvPr id="118" name="Google Shape;118;p7"/>
          <p:cNvSpPr/>
          <p:nvPr/>
        </p:nvSpPr>
        <p:spPr>
          <a:xfrm>
            <a:off x="621792" y="1417320"/>
            <a:ext cx="5321808" cy="1234440"/>
          </a:xfrm>
          <a:prstGeom prst="roundRect">
            <a:avLst>
              <a:gd fmla="val 3704"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621792" y="1417320"/>
            <a:ext cx="82296" cy="1234440"/>
          </a:xfrm>
          <a:prstGeom prst="rect">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877824" y="1600200"/>
            <a:ext cx="1143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3B"/>
              </a:buClr>
              <a:buSzPts val="1000"/>
              <a:buFont typeface="Arial"/>
              <a:buNone/>
            </a:pPr>
            <a:r>
              <a:rPr b="1" i="0" lang="en-US" sz="1000" u="none" cap="none" strike="noStrike">
                <a:solidFill>
                  <a:srgbClr val="2F6B3B"/>
                </a:solidFill>
                <a:latin typeface="Arial"/>
                <a:ea typeface="Arial"/>
                <a:cs typeface="Arial"/>
                <a:sym typeface="Arial"/>
              </a:rPr>
              <a:t>FR1–2, 12, 17</a:t>
            </a:r>
            <a:endParaRPr b="0" i="0" sz="1000" u="none" cap="none" strike="noStrike">
              <a:solidFill>
                <a:schemeClr val="dk1"/>
              </a:solidFill>
              <a:latin typeface="Arial"/>
              <a:ea typeface="Arial"/>
              <a:cs typeface="Arial"/>
              <a:sym typeface="Arial"/>
            </a:endParaRPr>
          </a:p>
        </p:txBody>
      </p:sp>
      <p:sp>
        <p:nvSpPr>
          <p:cNvPr id="121" name="Google Shape;121;p7"/>
          <p:cNvSpPr/>
          <p:nvPr/>
        </p:nvSpPr>
        <p:spPr>
          <a:xfrm>
            <a:off x="2011680" y="1600200"/>
            <a:ext cx="3383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100"/>
              <a:buFont typeface="Arial"/>
              <a:buNone/>
            </a:pPr>
            <a:r>
              <a:rPr b="1" i="0" lang="en-US" sz="1100" u="none" cap="none" strike="noStrike">
                <a:solidFill>
                  <a:srgbClr val="163B27"/>
                </a:solidFill>
                <a:latin typeface="Arial"/>
                <a:ea typeface="Arial"/>
                <a:cs typeface="Arial"/>
                <a:sym typeface="Arial"/>
              </a:rPr>
              <a:t>FIELD &amp; ROUTING</a:t>
            </a:r>
            <a:endParaRPr b="0" i="0" sz="1100" u="none" cap="none" strike="noStrike">
              <a:solidFill>
                <a:schemeClr val="dk1"/>
              </a:solidFill>
              <a:latin typeface="Arial"/>
              <a:ea typeface="Arial"/>
              <a:cs typeface="Arial"/>
              <a:sym typeface="Arial"/>
            </a:endParaRPr>
          </a:p>
        </p:txBody>
      </p:sp>
      <p:sp>
        <p:nvSpPr>
          <p:cNvPr id="122" name="Google Shape;122;p7"/>
          <p:cNvSpPr/>
          <p:nvPr/>
        </p:nvSpPr>
        <p:spPr>
          <a:xfrm>
            <a:off x="877824" y="1975104"/>
            <a:ext cx="4736592"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Register geometry • choose methodology • select/delete • edit field metadata</a:t>
            </a:r>
            <a:endParaRPr b="0" i="0" sz="1120" u="none" cap="none" strike="noStrike">
              <a:solidFill>
                <a:schemeClr val="dk1"/>
              </a:solidFill>
              <a:latin typeface="Arial"/>
              <a:ea typeface="Arial"/>
              <a:cs typeface="Arial"/>
              <a:sym typeface="Arial"/>
            </a:endParaRPr>
          </a:p>
        </p:txBody>
      </p:sp>
      <p:sp>
        <p:nvSpPr>
          <p:cNvPr id="123" name="Google Shape;123;p7"/>
          <p:cNvSpPr/>
          <p:nvPr/>
        </p:nvSpPr>
        <p:spPr>
          <a:xfrm>
            <a:off x="6245352" y="1417320"/>
            <a:ext cx="5321808" cy="1234440"/>
          </a:xfrm>
          <a:prstGeom prst="roundRect">
            <a:avLst>
              <a:gd fmla="val 3704"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6245352" y="1417320"/>
            <a:ext cx="82296" cy="1234440"/>
          </a:xfrm>
          <a:prstGeom prst="rect">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6501384" y="1600200"/>
            <a:ext cx="1143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1000"/>
              <a:buFont typeface="Arial"/>
              <a:buNone/>
            </a:pPr>
            <a:r>
              <a:rPr b="1" i="0" lang="en-US" sz="1000" u="none" cap="none" strike="noStrike">
                <a:solidFill>
                  <a:srgbClr val="527A68"/>
                </a:solidFill>
                <a:latin typeface="Arial"/>
                <a:ea typeface="Arial"/>
                <a:cs typeface="Arial"/>
                <a:sym typeface="Arial"/>
              </a:rPr>
              <a:t>FR3–5</a:t>
            </a:r>
            <a:endParaRPr b="0" i="0" sz="1000" u="none" cap="none" strike="noStrike">
              <a:solidFill>
                <a:schemeClr val="dk1"/>
              </a:solidFill>
              <a:latin typeface="Arial"/>
              <a:ea typeface="Arial"/>
              <a:cs typeface="Arial"/>
              <a:sym typeface="Arial"/>
            </a:endParaRPr>
          </a:p>
        </p:txBody>
      </p:sp>
      <p:sp>
        <p:nvSpPr>
          <p:cNvPr id="126" name="Google Shape;126;p7"/>
          <p:cNvSpPr/>
          <p:nvPr/>
        </p:nvSpPr>
        <p:spPr>
          <a:xfrm>
            <a:off x="7635240" y="1600200"/>
            <a:ext cx="3383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100"/>
              <a:buFont typeface="Arial"/>
              <a:buNone/>
            </a:pPr>
            <a:r>
              <a:rPr b="1" i="0" lang="en-US" sz="1100" u="none" cap="none" strike="noStrike">
                <a:solidFill>
                  <a:srgbClr val="163B27"/>
                </a:solidFill>
                <a:latin typeface="Arial"/>
                <a:ea typeface="Arial"/>
                <a:cs typeface="Arial"/>
                <a:sym typeface="Arial"/>
              </a:rPr>
              <a:t>RICE EVIDENCE</a:t>
            </a:r>
            <a:endParaRPr b="0" i="0" sz="1100" u="none" cap="none" strike="noStrike">
              <a:solidFill>
                <a:schemeClr val="dk1"/>
              </a:solidFill>
              <a:latin typeface="Arial"/>
              <a:ea typeface="Arial"/>
              <a:cs typeface="Arial"/>
              <a:sym typeface="Arial"/>
            </a:endParaRPr>
          </a:p>
        </p:txBody>
      </p:sp>
      <p:sp>
        <p:nvSpPr>
          <p:cNvPr id="127" name="Google Shape;127;p7"/>
          <p:cNvSpPr/>
          <p:nvPr/>
        </p:nvSpPr>
        <p:spPr>
          <a:xfrm>
            <a:off x="6501384" y="1975104"/>
            <a:ext cx="4736592"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Retrieve/cache Sentinel-1 • smooth and detect AWD • infer season dates</a:t>
            </a:r>
            <a:endParaRPr b="0" i="0" sz="1120" u="none" cap="none" strike="noStrike">
              <a:solidFill>
                <a:schemeClr val="dk1"/>
              </a:solidFill>
              <a:latin typeface="Arial"/>
              <a:ea typeface="Arial"/>
              <a:cs typeface="Arial"/>
              <a:sym typeface="Arial"/>
            </a:endParaRPr>
          </a:p>
        </p:txBody>
      </p:sp>
      <p:sp>
        <p:nvSpPr>
          <p:cNvPr id="128" name="Google Shape;128;p7"/>
          <p:cNvSpPr/>
          <p:nvPr/>
        </p:nvSpPr>
        <p:spPr>
          <a:xfrm>
            <a:off x="621792" y="2916936"/>
            <a:ext cx="5321808" cy="1234440"/>
          </a:xfrm>
          <a:prstGeom prst="roundRect">
            <a:avLst>
              <a:gd fmla="val 3704"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621792" y="2916936"/>
            <a:ext cx="82296" cy="1234440"/>
          </a:xfrm>
          <a:prstGeom prst="rect">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877824" y="3099816"/>
            <a:ext cx="1143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7D43"/>
              </a:buClr>
              <a:buSzPts val="1000"/>
              <a:buFont typeface="Arial"/>
              <a:buNone/>
            </a:pPr>
            <a:r>
              <a:rPr b="1" i="0" lang="en-US" sz="1000" u="none" cap="none" strike="noStrike">
                <a:solidFill>
                  <a:srgbClr val="6F7D43"/>
                </a:solidFill>
                <a:latin typeface="Arial"/>
                <a:ea typeface="Arial"/>
                <a:cs typeface="Arial"/>
                <a:sym typeface="Arial"/>
              </a:rPr>
              <a:t>FR6, 13–14</a:t>
            </a:r>
            <a:endParaRPr b="0" i="0" sz="1000" u="none" cap="none" strike="noStrike">
              <a:solidFill>
                <a:schemeClr val="dk1"/>
              </a:solidFill>
              <a:latin typeface="Arial"/>
              <a:ea typeface="Arial"/>
              <a:cs typeface="Arial"/>
              <a:sym typeface="Arial"/>
            </a:endParaRPr>
          </a:p>
        </p:txBody>
      </p:sp>
      <p:sp>
        <p:nvSpPr>
          <p:cNvPr id="131" name="Google Shape;131;p7"/>
          <p:cNvSpPr/>
          <p:nvPr/>
        </p:nvSpPr>
        <p:spPr>
          <a:xfrm>
            <a:off x="2011680" y="3099816"/>
            <a:ext cx="3383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100"/>
              <a:buFont typeface="Arial"/>
              <a:buNone/>
            </a:pPr>
            <a:r>
              <a:rPr b="1" i="0" lang="en-US" sz="1100" u="none" cap="none" strike="noStrike">
                <a:solidFill>
                  <a:srgbClr val="163B27"/>
                </a:solidFill>
                <a:latin typeface="Arial"/>
                <a:ea typeface="Arial"/>
                <a:cs typeface="Arial"/>
                <a:sym typeface="Arial"/>
              </a:rPr>
              <a:t>ALM EVIDENCE</a:t>
            </a:r>
            <a:endParaRPr b="0" i="0" sz="1100" u="none" cap="none" strike="noStrike">
              <a:solidFill>
                <a:schemeClr val="dk1"/>
              </a:solidFill>
              <a:latin typeface="Arial"/>
              <a:ea typeface="Arial"/>
              <a:cs typeface="Arial"/>
              <a:sym typeface="Arial"/>
            </a:endParaRPr>
          </a:p>
        </p:txBody>
      </p:sp>
      <p:sp>
        <p:nvSpPr>
          <p:cNvPr id="132" name="Google Shape;132;p7"/>
          <p:cNvSpPr/>
          <p:nvPr/>
        </p:nvSpPr>
        <p:spPr>
          <a:xfrm>
            <a:off x="877824" y="3474720"/>
            <a:ext cx="4736592"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Practice/SOC schedules • livestock inputs • production-decline leakage screen</a:t>
            </a:r>
            <a:endParaRPr b="0" i="0" sz="1120" u="none" cap="none" strike="noStrike">
              <a:solidFill>
                <a:schemeClr val="dk1"/>
              </a:solidFill>
              <a:latin typeface="Arial"/>
              <a:ea typeface="Arial"/>
              <a:cs typeface="Arial"/>
              <a:sym typeface="Arial"/>
            </a:endParaRPr>
          </a:p>
        </p:txBody>
      </p:sp>
      <p:sp>
        <p:nvSpPr>
          <p:cNvPr id="133" name="Google Shape;133;p7"/>
          <p:cNvSpPr/>
          <p:nvPr/>
        </p:nvSpPr>
        <p:spPr>
          <a:xfrm>
            <a:off x="6245352" y="2916936"/>
            <a:ext cx="5321808" cy="1234440"/>
          </a:xfrm>
          <a:prstGeom prst="roundRect">
            <a:avLst>
              <a:gd fmla="val 3704"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6245352" y="2916936"/>
            <a:ext cx="82296" cy="1234440"/>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6501384" y="3099816"/>
            <a:ext cx="1143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8A4F"/>
              </a:buClr>
              <a:buSzPts val="1000"/>
              <a:buFont typeface="Arial"/>
              <a:buNone/>
            </a:pPr>
            <a:r>
              <a:rPr b="1" i="0" lang="en-US" sz="1000" u="none" cap="none" strike="noStrike">
                <a:solidFill>
                  <a:srgbClr val="B08A4F"/>
                </a:solidFill>
                <a:latin typeface="Arial"/>
                <a:ea typeface="Arial"/>
                <a:cs typeface="Arial"/>
                <a:sym typeface="Arial"/>
              </a:rPr>
              <a:t>FR7–8</a:t>
            </a:r>
            <a:endParaRPr b="0" i="0" sz="1000" u="none" cap="none" strike="noStrike">
              <a:solidFill>
                <a:schemeClr val="dk1"/>
              </a:solidFill>
              <a:latin typeface="Arial"/>
              <a:ea typeface="Arial"/>
              <a:cs typeface="Arial"/>
              <a:sym typeface="Arial"/>
            </a:endParaRPr>
          </a:p>
        </p:txBody>
      </p:sp>
      <p:sp>
        <p:nvSpPr>
          <p:cNvPr id="136" name="Google Shape;136;p7"/>
          <p:cNvSpPr/>
          <p:nvPr/>
        </p:nvSpPr>
        <p:spPr>
          <a:xfrm>
            <a:off x="7635240" y="3099816"/>
            <a:ext cx="3383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100"/>
              <a:buFont typeface="Arial"/>
              <a:buNone/>
            </a:pPr>
            <a:r>
              <a:rPr b="1" i="0" lang="en-US" sz="1100" u="none" cap="none" strike="noStrike">
                <a:solidFill>
                  <a:srgbClr val="163B27"/>
                </a:solidFill>
                <a:latin typeface="Arial"/>
                <a:ea typeface="Arial"/>
                <a:cs typeface="Arial"/>
                <a:sym typeface="Arial"/>
              </a:rPr>
              <a:t>ACCOUNTING</a:t>
            </a:r>
            <a:endParaRPr b="0" i="0" sz="1100" u="none" cap="none" strike="noStrike">
              <a:solidFill>
                <a:schemeClr val="dk1"/>
              </a:solidFill>
              <a:latin typeface="Arial"/>
              <a:ea typeface="Arial"/>
              <a:cs typeface="Arial"/>
              <a:sym typeface="Arial"/>
            </a:endParaRPr>
          </a:p>
        </p:txBody>
      </p:sp>
      <p:sp>
        <p:nvSpPr>
          <p:cNvPr id="137" name="Google Shape;137;p7"/>
          <p:cNvSpPr/>
          <p:nvPr/>
        </p:nvSpPr>
        <p:spPr>
          <a:xfrm>
            <a:off x="6501384" y="3474720"/>
            <a:ext cx="4736592"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VM0051 QA3 calculation • scoped VM0042 calculation and deductions</a:t>
            </a:r>
            <a:endParaRPr b="0" i="0" sz="1120" u="none" cap="none" strike="noStrike">
              <a:solidFill>
                <a:schemeClr val="dk1"/>
              </a:solidFill>
              <a:latin typeface="Arial"/>
              <a:ea typeface="Arial"/>
              <a:cs typeface="Arial"/>
              <a:sym typeface="Arial"/>
            </a:endParaRPr>
          </a:p>
        </p:txBody>
      </p:sp>
      <p:sp>
        <p:nvSpPr>
          <p:cNvPr id="138" name="Google Shape;138;p7"/>
          <p:cNvSpPr/>
          <p:nvPr/>
        </p:nvSpPr>
        <p:spPr>
          <a:xfrm>
            <a:off x="621792" y="4416552"/>
            <a:ext cx="5321808" cy="1234440"/>
          </a:xfrm>
          <a:prstGeom prst="roundRect">
            <a:avLst>
              <a:gd fmla="val 3704"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621792" y="4416552"/>
            <a:ext cx="82296" cy="1234440"/>
          </a:xfrm>
          <a:prstGeom prst="rect">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877824" y="4599432"/>
            <a:ext cx="1143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1000"/>
              <a:buFont typeface="Arial"/>
              <a:buNone/>
            </a:pPr>
            <a:r>
              <a:rPr b="1" i="0" lang="en-US" sz="1000" u="none" cap="none" strike="noStrike">
                <a:solidFill>
                  <a:srgbClr val="527A68"/>
                </a:solidFill>
                <a:latin typeface="Arial"/>
                <a:ea typeface="Arial"/>
                <a:cs typeface="Arial"/>
                <a:sym typeface="Arial"/>
              </a:rPr>
              <a:t>FR9–10</a:t>
            </a:r>
            <a:endParaRPr b="0" i="0" sz="1000" u="none" cap="none" strike="noStrike">
              <a:solidFill>
                <a:schemeClr val="dk1"/>
              </a:solidFill>
              <a:latin typeface="Arial"/>
              <a:ea typeface="Arial"/>
              <a:cs typeface="Arial"/>
              <a:sym typeface="Arial"/>
            </a:endParaRPr>
          </a:p>
        </p:txBody>
      </p:sp>
      <p:sp>
        <p:nvSpPr>
          <p:cNvPr id="141" name="Google Shape;141;p7"/>
          <p:cNvSpPr/>
          <p:nvPr/>
        </p:nvSpPr>
        <p:spPr>
          <a:xfrm>
            <a:off x="2011680" y="4599432"/>
            <a:ext cx="3383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100"/>
              <a:buFont typeface="Arial"/>
              <a:buNone/>
            </a:pPr>
            <a:r>
              <a:rPr b="1" i="0" lang="en-US" sz="1100" u="none" cap="none" strike="noStrike">
                <a:solidFill>
                  <a:srgbClr val="163B27"/>
                </a:solidFill>
                <a:latin typeface="Arial"/>
                <a:ea typeface="Arial"/>
                <a:cs typeface="Arial"/>
                <a:sym typeface="Arial"/>
              </a:rPr>
              <a:t>AI ASSISTANCE</a:t>
            </a:r>
            <a:endParaRPr b="0" i="0" sz="1100" u="none" cap="none" strike="noStrike">
              <a:solidFill>
                <a:schemeClr val="dk1"/>
              </a:solidFill>
              <a:latin typeface="Arial"/>
              <a:ea typeface="Arial"/>
              <a:cs typeface="Arial"/>
              <a:sym typeface="Arial"/>
            </a:endParaRPr>
          </a:p>
        </p:txBody>
      </p:sp>
      <p:sp>
        <p:nvSpPr>
          <p:cNvPr id="142" name="Google Shape;142;p7"/>
          <p:cNvSpPr/>
          <p:nvPr/>
        </p:nvSpPr>
        <p:spPr>
          <a:xfrm>
            <a:off x="877824" y="4974336"/>
            <a:ext cx="4736592"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Optional RF/XGBoost detector • validation dashboard and fallback</a:t>
            </a:r>
            <a:endParaRPr b="0" i="0" sz="1120" u="none" cap="none" strike="noStrike">
              <a:solidFill>
                <a:schemeClr val="dk1"/>
              </a:solidFill>
              <a:latin typeface="Arial"/>
              <a:ea typeface="Arial"/>
              <a:cs typeface="Arial"/>
              <a:sym typeface="Arial"/>
            </a:endParaRPr>
          </a:p>
        </p:txBody>
      </p:sp>
      <p:sp>
        <p:nvSpPr>
          <p:cNvPr id="143" name="Google Shape;143;p7"/>
          <p:cNvSpPr/>
          <p:nvPr/>
        </p:nvSpPr>
        <p:spPr>
          <a:xfrm>
            <a:off x="6245352" y="4416552"/>
            <a:ext cx="5321808" cy="1234440"/>
          </a:xfrm>
          <a:prstGeom prst="roundRect">
            <a:avLst>
              <a:gd fmla="val 3704"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6245352" y="4416552"/>
            <a:ext cx="82296" cy="1234440"/>
          </a:xfrm>
          <a:prstGeom prst="rect">
            <a:avLst/>
          </a:prstGeom>
          <a:solidFill>
            <a:srgbClr val="956156"/>
          </a:solidFill>
          <a:ln cap="flat" cmpd="sng" w="12700">
            <a:solidFill>
              <a:srgbClr val="9561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6501384" y="4599432"/>
            <a:ext cx="1143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6156"/>
              </a:buClr>
              <a:buSzPts val="1000"/>
              <a:buFont typeface="Arial"/>
              <a:buNone/>
            </a:pPr>
            <a:r>
              <a:rPr b="1" i="0" lang="en-US" sz="1000" u="none" cap="none" strike="noStrike">
                <a:solidFill>
                  <a:srgbClr val="956156"/>
                </a:solidFill>
                <a:latin typeface="Arial"/>
                <a:ea typeface="Arial"/>
                <a:cs typeface="Arial"/>
                <a:sym typeface="Arial"/>
              </a:rPr>
              <a:t>FR11, 15–16, 18</a:t>
            </a:r>
            <a:endParaRPr b="0" i="0" sz="1000" u="none" cap="none" strike="noStrike">
              <a:solidFill>
                <a:schemeClr val="dk1"/>
              </a:solidFill>
              <a:latin typeface="Arial"/>
              <a:ea typeface="Arial"/>
              <a:cs typeface="Arial"/>
              <a:sym typeface="Arial"/>
            </a:endParaRPr>
          </a:p>
        </p:txBody>
      </p:sp>
      <p:sp>
        <p:nvSpPr>
          <p:cNvPr id="146" name="Google Shape;146;p7"/>
          <p:cNvSpPr/>
          <p:nvPr/>
        </p:nvSpPr>
        <p:spPr>
          <a:xfrm>
            <a:off x="7635240" y="4599432"/>
            <a:ext cx="33832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100"/>
              <a:buFont typeface="Arial"/>
              <a:buNone/>
            </a:pPr>
            <a:r>
              <a:rPr b="1" i="0" lang="en-US" sz="1100" u="none" cap="none" strike="noStrike">
                <a:solidFill>
                  <a:srgbClr val="163B27"/>
                </a:solidFill>
                <a:latin typeface="Arial"/>
                <a:ea typeface="Arial"/>
                <a:cs typeface="Arial"/>
                <a:sym typeface="Arial"/>
              </a:rPr>
              <a:t>AUDITABILITY</a:t>
            </a:r>
            <a:endParaRPr b="0" i="0" sz="1100" u="none" cap="none" strike="noStrike">
              <a:solidFill>
                <a:schemeClr val="dk1"/>
              </a:solidFill>
              <a:latin typeface="Arial"/>
              <a:ea typeface="Arial"/>
              <a:cs typeface="Arial"/>
              <a:sym typeface="Arial"/>
            </a:endParaRPr>
          </a:p>
        </p:txBody>
      </p:sp>
      <p:sp>
        <p:nvSpPr>
          <p:cNvPr id="147" name="Google Shape;147;p7"/>
          <p:cNvSpPr/>
          <p:nvPr/>
        </p:nvSpPr>
        <p:spPr>
          <a:xfrm>
            <a:off x="6501384" y="4974336"/>
            <a:ext cx="4736592"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PDF/JSON/CSV evidence • history • portfolio • export completeness disclosure</a:t>
            </a:r>
            <a:endParaRPr b="0" i="0" sz="1120" u="none" cap="none" strike="noStrike">
              <a:solidFill>
                <a:schemeClr val="dk1"/>
              </a:solidFill>
              <a:latin typeface="Arial"/>
              <a:ea typeface="Arial"/>
              <a:cs typeface="Arial"/>
              <a:sym typeface="Arial"/>
            </a:endParaRPr>
          </a:p>
        </p:txBody>
      </p:sp>
      <p:sp>
        <p:nvSpPr>
          <p:cNvPr id="148" name="Google Shape;148;p7"/>
          <p:cNvSpPr/>
          <p:nvPr/>
        </p:nvSpPr>
        <p:spPr>
          <a:xfrm>
            <a:off x="621792" y="6035040"/>
            <a:ext cx="10945368" cy="393192"/>
          </a:xfrm>
          <a:prstGeom prst="roundRect">
            <a:avLst>
              <a:gd fmla="val 13953" name="adj"/>
            </a:avLst>
          </a:prstGeom>
          <a:solidFill>
            <a:srgbClr val="E2EEDF"/>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786384" y="6153912"/>
            <a:ext cx="106161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150"/>
              <a:buFont typeface="Arial"/>
              <a:buNone/>
            </a:pPr>
            <a:r>
              <a:rPr b="1" i="0" lang="en-US" sz="1150" u="none" cap="none" strike="noStrike">
                <a:solidFill>
                  <a:srgbClr val="24332A"/>
                </a:solidFill>
                <a:latin typeface="Arial"/>
                <a:ea typeface="Arial"/>
                <a:cs typeface="Arial"/>
                <a:sym typeface="Arial"/>
              </a:rPr>
              <a:t>NFR focus: traceability • cache-first reliability • local prototype security disclosure • maintainable field-type registry.</a:t>
            </a:r>
            <a:endParaRPr b="0" i="0" sz="1150" u="none" cap="none" strike="noStrike">
              <a:solidFill>
                <a:schemeClr val="dk1"/>
              </a:solidFill>
              <a:latin typeface="Arial"/>
              <a:ea typeface="Arial"/>
              <a:cs typeface="Arial"/>
              <a:sym typeface="Arial"/>
            </a:endParaRPr>
          </a:p>
        </p:txBody>
      </p:sp>
      <p:sp>
        <p:nvSpPr>
          <p:cNvPr id="150" name="Google Shape;150;p7"/>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SYSTEM MODELING</a:t>
            </a:r>
            <a:endParaRPr b="0" i="0" sz="1000" u="none" cap="none" strike="noStrike">
              <a:solidFill>
                <a:schemeClr val="dk1"/>
              </a:solidFill>
              <a:latin typeface="Arial"/>
              <a:ea typeface="Arial"/>
              <a:cs typeface="Arial"/>
              <a:sym typeface="Arial"/>
            </a:endParaRPr>
          </a:p>
        </p:txBody>
      </p:sp>
      <p:sp>
        <p:nvSpPr>
          <p:cNvPr id="157" name="Google Shape;157;p8"/>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Use case diagram — complete system scope</a:t>
            </a:r>
            <a:endParaRPr b="0" i="0" sz="2700" u="none" cap="none" strike="noStrike">
              <a:solidFill>
                <a:schemeClr val="dk1"/>
              </a:solidFill>
              <a:latin typeface="Arial"/>
              <a:ea typeface="Arial"/>
              <a:cs typeface="Arial"/>
              <a:sym typeface="Arial"/>
            </a:endParaRPr>
          </a:p>
        </p:txBody>
      </p:sp>
      <p:sp>
        <p:nvSpPr>
          <p:cNvPr id="158" name="Google Shape;158;p8"/>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Level-1 view of actors, system capabilities and supporting services.</a:t>
            </a:r>
            <a:endParaRPr b="0" i="0" sz="1250" u="none" cap="none" strike="noStrike">
              <a:solidFill>
                <a:schemeClr val="dk1"/>
              </a:solidFill>
              <a:latin typeface="Arial"/>
              <a:ea typeface="Arial"/>
              <a:cs typeface="Arial"/>
              <a:sym typeface="Arial"/>
            </a:endParaRPr>
          </a:p>
        </p:txBody>
      </p:sp>
      <p:sp>
        <p:nvSpPr>
          <p:cNvPr id="159" name="Google Shape;159;p8"/>
          <p:cNvSpPr/>
          <p:nvPr/>
        </p:nvSpPr>
        <p:spPr>
          <a:xfrm>
            <a:off x="502920" y="1353312"/>
            <a:ext cx="8485632" cy="4956048"/>
          </a:xfrm>
          <a:prstGeom prst="roundRect">
            <a:avLst>
              <a:gd fmla="val 646"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2.png" id="160" name="Google Shape;160;p8"/>
          <p:cNvPicPr preferRelativeResize="0"/>
          <p:nvPr/>
        </p:nvPicPr>
        <p:blipFill rotWithShape="1">
          <a:blip r:embed="rId3">
            <a:alphaModFix/>
          </a:blip>
          <a:srcRect b="0" l="0" r="0" t="0"/>
          <a:stretch/>
        </p:blipFill>
        <p:spPr>
          <a:xfrm>
            <a:off x="1956943" y="1463040"/>
            <a:ext cx="5577586" cy="4517136"/>
          </a:xfrm>
          <a:prstGeom prst="rect">
            <a:avLst/>
          </a:prstGeom>
          <a:noFill/>
          <a:ln>
            <a:noFill/>
          </a:ln>
        </p:spPr>
      </p:pic>
      <p:sp>
        <p:nvSpPr>
          <p:cNvPr id="161" name="Google Shape;161;p8"/>
          <p:cNvSpPr/>
          <p:nvPr/>
        </p:nvSpPr>
        <p:spPr>
          <a:xfrm>
            <a:off x="649224" y="6035040"/>
            <a:ext cx="81930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Level-1 use case diagram</a:t>
            </a:r>
            <a:endParaRPr b="0" i="0" sz="950" u="none" cap="none" strike="noStrike">
              <a:solidFill>
                <a:schemeClr val="dk1"/>
              </a:solidFill>
              <a:latin typeface="Arial"/>
              <a:ea typeface="Arial"/>
              <a:cs typeface="Arial"/>
              <a:sym typeface="Arial"/>
            </a:endParaRPr>
          </a:p>
        </p:txBody>
      </p:sp>
      <p:sp>
        <p:nvSpPr>
          <p:cNvPr id="162" name="Google Shape;162;p8"/>
          <p:cNvSpPr/>
          <p:nvPr/>
        </p:nvSpPr>
        <p:spPr>
          <a:xfrm>
            <a:off x="9189720" y="1399032"/>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9189720" y="1399032"/>
            <a:ext cx="50292" cy="1298448"/>
          </a:xfrm>
          <a:prstGeom prst="rect">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9445752" y="1581912"/>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Actors</a:t>
            </a:r>
            <a:endParaRPr b="0" i="0" sz="1500" u="none" cap="none" strike="noStrike">
              <a:solidFill>
                <a:schemeClr val="dk1"/>
              </a:solidFill>
              <a:latin typeface="Arial"/>
              <a:ea typeface="Arial"/>
              <a:cs typeface="Arial"/>
              <a:sym typeface="Arial"/>
            </a:endParaRPr>
          </a:p>
        </p:txBody>
      </p:sp>
      <p:sp>
        <p:nvSpPr>
          <p:cNvPr id="165" name="Google Shape;165;p8"/>
          <p:cNvSpPr/>
          <p:nvPr/>
        </p:nvSpPr>
        <p:spPr>
          <a:xfrm>
            <a:off x="9445752" y="2011680"/>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Project developer, researcher and auditor use different parts of the workflow.</a:t>
            </a:r>
            <a:endParaRPr b="0" i="0" sz="1150" u="none" cap="none" strike="noStrike">
              <a:solidFill>
                <a:schemeClr val="dk1"/>
              </a:solidFill>
              <a:latin typeface="Arial"/>
              <a:ea typeface="Arial"/>
              <a:cs typeface="Arial"/>
              <a:sym typeface="Arial"/>
            </a:endParaRPr>
          </a:p>
        </p:txBody>
      </p:sp>
      <p:sp>
        <p:nvSpPr>
          <p:cNvPr id="166" name="Google Shape;166;p8"/>
          <p:cNvSpPr/>
          <p:nvPr/>
        </p:nvSpPr>
        <p:spPr>
          <a:xfrm>
            <a:off x="9189720" y="2916936"/>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9189720" y="2916936"/>
            <a:ext cx="50292" cy="1298448"/>
          </a:xfrm>
          <a:prstGeom prst="rect">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9445752" y="309981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External service</a:t>
            </a:r>
            <a:endParaRPr b="0" i="0" sz="1500" u="none" cap="none" strike="noStrike">
              <a:solidFill>
                <a:schemeClr val="dk1"/>
              </a:solidFill>
              <a:latin typeface="Arial"/>
              <a:ea typeface="Arial"/>
              <a:cs typeface="Arial"/>
              <a:sym typeface="Arial"/>
            </a:endParaRPr>
          </a:p>
        </p:txBody>
      </p:sp>
      <p:sp>
        <p:nvSpPr>
          <p:cNvPr id="169" name="Google Shape;169;p8"/>
          <p:cNvSpPr/>
          <p:nvPr/>
        </p:nvSpPr>
        <p:spPr>
          <a:xfrm>
            <a:off x="9445752" y="3529584"/>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Earth Engine supplies observations; it does not perform Terra-Audit accounting.</a:t>
            </a:r>
            <a:endParaRPr b="0" i="0" sz="1150" u="none" cap="none" strike="noStrike">
              <a:solidFill>
                <a:schemeClr val="dk1"/>
              </a:solidFill>
              <a:latin typeface="Arial"/>
              <a:ea typeface="Arial"/>
              <a:cs typeface="Arial"/>
              <a:sym typeface="Arial"/>
            </a:endParaRPr>
          </a:p>
        </p:txBody>
      </p:sp>
      <p:sp>
        <p:nvSpPr>
          <p:cNvPr id="170" name="Google Shape;170;p8"/>
          <p:cNvSpPr/>
          <p:nvPr/>
        </p:nvSpPr>
        <p:spPr>
          <a:xfrm>
            <a:off x="9189720" y="4434840"/>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9189720" y="4434840"/>
            <a:ext cx="50292" cy="1298448"/>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9445752" y="4617720"/>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Method split</a:t>
            </a:r>
            <a:endParaRPr b="0" i="0" sz="1500" u="none" cap="none" strike="noStrike">
              <a:solidFill>
                <a:schemeClr val="dk1"/>
              </a:solidFill>
              <a:latin typeface="Arial"/>
              <a:ea typeface="Arial"/>
              <a:cs typeface="Arial"/>
              <a:sym typeface="Arial"/>
            </a:endParaRPr>
          </a:p>
        </p:txBody>
      </p:sp>
      <p:sp>
        <p:nvSpPr>
          <p:cNvPr id="173" name="Google Shape;173;p8"/>
          <p:cNvSpPr/>
          <p:nvPr/>
        </p:nvSpPr>
        <p:spPr>
          <a:xfrm>
            <a:off x="9445752" y="5047488"/>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Rice and cropland evidence paths converge at calculation and reporting.</a:t>
            </a:r>
            <a:endParaRPr b="0" i="0" sz="1150" u="none" cap="none" strike="noStrike">
              <a:solidFill>
                <a:schemeClr val="dk1"/>
              </a:solidFill>
              <a:latin typeface="Arial"/>
              <a:ea typeface="Arial"/>
              <a:cs typeface="Arial"/>
              <a:sym typeface="Arial"/>
            </a:endParaRPr>
          </a:p>
        </p:txBody>
      </p:sp>
      <p:sp>
        <p:nvSpPr>
          <p:cNvPr id="174" name="Google Shape;174;p8">
            <a:hlinkClick r:id="rId4"/>
          </p:cNvPr>
          <p:cNvSpPr/>
          <p:nvPr/>
        </p:nvSpPr>
        <p:spPr>
          <a:xfrm>
            <a:off x="6675120" y="6236208"/>
            <a:ext cx="4892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7A68"/>
              </a:buClr>
              <a:buSzPts val="850"/>
              <a:buFont typeface="Arial"/>
              <a:buNone/>
            </a:pPr>
            <a:r>
              <a:rPr b="0" i="1" lang="en-US" sz="850" u="sng" cap="none" strike="noStrike">
                <a:solidFill>
                  <a:schemeClr val="hlink"/>
                </a:solidFill>
                <a:latin typeface="Arial"/>
                <a:ea typeface="Arial"/>
                <a:cs typeface="Arial"/>
                <a:sym typeface="Arial"/>
                <a:hlinkClick r:id="rId5"/>
              </a:rPr>
              <a:t>Open complete diagram</a:t>
            </a:r>
            <a:endParaRPr b="0" i="0" sz="850" u="none" cap="none" strike="noStrike">
              <a:solidFill>
                <a:schemeClr val="dk1"/>
              </a:solidFill>
              <a:latin typeface="Arial"/>
              <a:ea typeface="Arial"/>
              <a:cs typeface="Arial"/>
              <a:sym typeface="Arial"/>
            </a:endParaRPr>
          </a:p>
        </p:txBody>
      </p:sp>
      <p:sp>
        <p:nvSpPr>
          <p:cNvPr id="175" name="Google Shape;175;p8"/>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SYSTEM MODELING</a:t>
            </a:r>
            <a:endParaRPr b="0" i="0" sz="1000" u="none" cap="none" strike="noStrike">
              <a:solidFill>
                <a:schemeClr val="dk1"/>
              </a:solidFill>
              <a:latin typeface="Arial"/>
              <a:ea typeface="Arial"/>
              <a:cs typeface="Arial"/>
              <a:sym typeface="Arial"/>
            </a:endParaRPr>
          </a:p>
        </p:txBody>
      </p:sp>
      <p:sp>
        <p:nvSpPr>
          <p:cNvPr id="182" name="Google Shape;182;p9"/>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Activity diagram — end-to-end control flow</a:t>
            </a:r>
            <a:endParaRPr b="0" i="0" sz="2700" u="none" cap="none" strike="noStrike">
              <a:solidFill>
                <a:schemeClr val="dk1"/>
              </a:solidFill>
              <a:latin typeface="Arial"/>
              <a:ea typeface="Arial"/>
              <a:cs typeface="Arial"/>
              <a:sym typeface="Arial"/>
            </a:endParaRPr>
          </a:p>
        </p:txBody>
      </p:sp>
      <p:sp>
        <p:nvSpPr>
          <p:cNvPr id="183" name="Google Shape;183;p9"/>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Top-level flow from field selection to evidence export.</a:t>
            </a:r>
            <a:endParaRPr b="0" i="0" sz="1250" u="none" cap="none" strike="noStrike">
              <a:solidFill>
                <a:schemeClr val="dk1"/>
              </a:solidFill>
              <a:latin typeface="Arial"/>
              <a:ea typeface="Arial"/>
              <a:cs typeface="Arial"/>
              <a:sym typeface="Arial"/>
            </a:endParaRPr>
          </a:p>
        </p:txBody>
      </p:sp>
      <p:sp>
        <p:nvSpPr>
          <p:cNvPr id="184" name="Google Shape;184;p9"/>
          <p:cNvSpPr/>
          <p:nvPr/>
        </p:nvSpPr>
        <p:spPr>
          <a:xfrm>
            <a:off x="502920" y="1353312"/>
            <a:ext cx="8485632" cy="4956048"/>
          </a:xfrm>
          <a:prstGeom prst="roundRect">
            <a:avLst>
              <a:gd fmla="val 646"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2.png" id="185" name="Google Shape;185;p9"/>
          <p:cNvPicPr preferRelativeResize="0"/>
          <p:nvPr/>
        </p:nvPicPr>
        <p:blipFill rotWithShape="1">
          <a:blip r:embed="rId3">
            <a:alphaModFix/>
          </a:blip>
          <a:srcRect b="0" l="0" r="0" t="0"/>
          <a:stretch/>
        </p:blipFill>
        <p:spPr>
          <a:xfrm>
            <a:off x="3430998" y="1463040"/>
            <a:ext cx="2629477" cy="4517136"/>
          </a:xfrm>
          <a:prstGeom prst="rect">
            <a:avLst/>
          </a:prstGeom>
          <a:noFill/>
          <a:ln>
            <a:noFill/>
          </a:ln>
        </p:spPr>
      </p:pic>
      <p:sp>
        <p:nvSpPr>
          <p:cNvPr id="186" name="Google Shape;186;p9"/>
          <p:cNvSpPr/>
          <p:nvPr/>
        </p:nvSpPr>
        <p:spPr>
          <a:xfrm>
            <a:off x="649224" y="6035040"/>
            <a:ext cx="81930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Top-level activity flow</a:t>
            </a:r>
            <a:endParaRPr b="0" i="0" sz="950" u="none" cap="none" strike="noStrike">
              <a:solidFill>
                <a:schemeClr val="dk1"/>
              </a:solidFill>
              <a:latin typeface="Arial"/>
              <a:ea typeface="Arial"/>
              <a:cs typeface="Arial"/>
              <a:sym typeface="Arial"/>
            </a:endParaRPr>
          </a:p>
        </p:txBody>
      </p:sp>
      <p:sp>
        <p:nvSpPr>
          <p:cNvPr id="187" name="Google Shape;187;p9"/>
          <p:cNvSpPr/>
          <p:nvPr/>
        </p:nvSpPr>
        <p:spPr>
          <a:xfrm>
            <a:off x="9189720" y="1399032"/>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9189720" y="1399032"/>
            <a:ext cx="50292" cy="1298448"/>
          </a:xfrm>
          <a:prstGeom prst="rect">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9445752" y="1581912"/>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Start</a:t>
            </a:r>
            <a:endParaRPr b="0" i="0" sz="1500" u="none" cap="none" strike="noStrike">
              <a:solidFill>
                <a:schemeClr val="dk1"/>
              </a:solidFill>
              <a:latin typeface="Arial"/>
              <a:ea typeface="Arial"/>
              <a:cs typeface="Arial"/>
              <a:sym typeface="Arial"/>
            </a:endParaRPr>
          </a:p>
        </p:txBody>
      </p:sp>
      <p:sp>
        <p:nvSpPr>
          <p:cNvPr id="190" name="Google Shape;190;p9"/>
          <p:cNvSpPr/>
          <p:nvPr/>
        </p:nvSpPr>
        <p:spPr>
          <a:xfrm>
            <a:off x="9445752" y="2011680"/>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Register or select a field and validate its geometry.</a:t>
            </a:r>
            <a:endParaRPr b="0" i="0" sz="1150" u="none" cap="none" strike="noStrike">
              <a:solidFill>
                <a:schemeClr val="dk1"/>
              </a:solidFill>
              <a:latin typeface="Arial"/>
              <a:ea typeface="Arial"/>
              <a:cs typeface="Arial"/>
              <a:sym typeface="Arial"/>
            </a:endParaRPr>
          </a:p>
        </p:txBody>
      </p:sp>
      <p:sp>
        <p:nvSpPr>
          <p:cNvPr id="191" name="Google Shape;191;p9"/>
          <p:cNvSpPr/>
          <p:nvPr/>
        </p:nvSpPr>
        <p:spPr>
          <a:xfrm>
            <a:off x="9189720" y="2916936"/>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9189720" y="2916936"/>
            <a:ext cx="50292" cy="1298448"/>
          </a:xfrm>
          <a:prstGeom prst="rect">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9445752" y="309981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Branch</a:t>
            </a:r>
            <a:endParaRPr b="0" i="0" sz="1500" u="none" cap="none" strike="noStrike">
              <a:solidFill>
                <a:schemeClr val="dk1"/>
              </a:solidFill>
              <a:latin typeface="Arial"/>
              <a:ea typeface="Arial"/>
              <a:cs typeface="Arial"/>
              <a:sym typeface="Arial"/>
            </a:endParaRPr>
          </a:p>
        </p:txBody>
      </p:sp>
      <p:sp>
        <p:nvSpPr>
          <p:cNvPr id="194" name="Google Shape;194;p9"/>
          <p:cNvSpPr/>
          <p:nvPr/>
        </p:nvSpPr>
        <p:spPr>
          <a:xfrm>
            <a:off x="9445752" y="3529584"/>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Route by field type to SAR analytics or practice/SOC validation.</a:t>
            </a:r>
            <a:endParaRPr b="0" i="0" sz="1150" u="none" cap="none" strike="noStrike">
              <a:solidFill>
                <a:schemeClr val="dk1"/>
              </a:solidFill>
              <a:latin typeface="Arial"/>
              <a:ea typeface="Arial"/>
              <a:cs typeface="Arial"/>
              <a:sym typeface="Arial"/>
            </a:endParaRPr>
          </a:p>
        </p:txBody>
      </p:sp>
      <p:sp>
        <p:nvSpPr>
          <p:cNvPr id="195" name="Google Shape;195;p9"/>
          <p:cNvSpPr/>
          <p:nvPr/>
        </p:nvSpPr>
        <p:spPr>
          <a:xfrm>
            <a:off x="9189720" y="4434840"/>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9189720" y="4434840"/>
            <a:ext cx="50292" cy="1298448"/>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9445752" y="4617720"/>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Finish</a:t>
            </a:r>
            <a:endParaRPr b="0" i="0" sz="1500" u="none" cap="none" strike="noStrike">
              <a:solidFill>
                <a:schemeClr val="dk1"/>
              </a:solidFill>
              <a:latin typeface="Arial"/>
              <a:ea typeface="Arial"/>
              <a:cs typeface="Arial"/>
              <a:sym typeface="Arial"/>
            </a:endParaRPr>
          </a:p>
        </p:txBody>
      </p:sp>
      <p:sp>
        <p:nvSpPr>
          <p:cNvPr id="198" name="Google Shape;198;p9"/>
          <p:cNvSpPr/>
          <p:nvPr/>
        </p:nvSpPr>
        <p:spPr>
          <a:xfrm>
            <a:off x="9445752" y="5047488"/>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Calculate, disclose limitations and export evidence.</a:t>
            </a:r>
            <a:endParaRPr b="0" i="0" sz="1150" u="none" cap="none" strike="noStrike">
              <a:solidFill>
                <a:schemeClr val="dk1"/>
              </a:solidFill>
              <a:latin typeface="Arial"/>
              <a:ea typeface="Arial"/>
              <a:cs typeface="Arial"/>
              <a:sym typeface="Arial"/>
            </a:endParaRPr>
          </a:p>
        </p:txBody>
      </p:sp>
      <p:sp>
        <p:nvSpPr>
          <p:cNvPr id="199" name="Google Shape;199;p9">
            <a:hlinkClick r:id="rId4"/>
          </p:cNvPr>
          <p:cNvSpPr/>
          <p:nvPr/>
        </p:nvSpPr>
        <p:spPr>
          <a:xfrm>
            <a:off x="6675120" y="6236208"/>
            <a:ext cx="4892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7A68"/>
              </a:buClr>
              <a:buSzPts val="850"/>
              <a:buFont typeface="Arial"/>
              <a:buNone/>
            </a:pPr>
            <a:r>
              <a:rPr b="0" i="1" lang="en-US" sz="850" u="sng" cap="none" strike="noStrike">
                <a:solidFill>
                  <a:schemeClr val="hlink"/>
                </a:solidFill>
                <a:latin typeface="Arial"/>
                <a:ea typeface="Arial"/>
                <a:cs typeface="Arial"/>
                <a:sym typeface="Arial"/>
                <a:hlinkClick r:id="rId5"/>
              </a:rPr>
              <a:t>Open complete diagram</a:t>
            </a:r>
            <a:endParaRPr b="0" i="0" sz="850" u="none" cap="none" strike="noStrike">
              <a:solidFill>
                <a:schemeClr val="dk1"/>
              </a:solidFill>
              <a:latin typeface="Arial"/>
              <a:ea typeface="Arial"/>
              <a:cs typeface="Arial"/>
              <a:sym typeface="Arial"/>
            </a:endParaRPr>
          </a:p>
        </p:txBody>
      </p:sp>
      <p:sp>
        <p:nvSpPr>
          <p:cNvPr id="200" name="Google Shape;200;p9"/>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SOFTWARE DESIGN</a:t>
            </a:r>
            <a:endParaRPr b="0" i="0" sz="1000" u="none" cap="none" strike="noStrike">
              <a:solidFill>
                <a:schemeClr val="dk1"/>
              </a:solidFill>
              <a:latin typeface="Arial"/>
              <a:ea typeface="Arial"/>
              <a:cs typeface="Arial"/>
              <a:sym typeface="Arial"/>
            </a:endParaRPr>
          </a:p>
        </p:txBody>
      </p:sp>
      <p:sp>
        <p:nvSpPr>
          <p:cNvPr id="207" name="Google Shape;207;p10"/>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Component architecture — extensible by field type</a:t>
            </a:r>
            <a:endParaRPr b="0" i="0" sz="2700" u="none" cap="none" strike="noStrike">
              <a:solidFill>
                <a:schemeClr val="dk1"/>
              </a:solidFill>
              <a:latin typeface="Arial"/>
              <a:ea typeface="Arial"/>
              <a:cs typeface="Arial"/>
              <a:sym typeface="Arial"/>
            </a:endParaRPr>
          </a:p>
        </p:txBody>
      </p:sp>
      <p:sp>
        <p:nvSpPr>
          <p:cNvPr id="208" name="Google Shape;208;p10"/>
          <p:cNvSpPr/>
          <p:nvPr/>
        </p:nvSpPr>
        <p:spPr>
          <a:xfrm>
            <a:off x="502925" y="1170425"/>
            <a:ext cx="11155800" cy="5274900"/>
          </a:xfrm>
          <a:prstGeom prst="roundRect">
            <a:avLst>
              <a:gd fmla="val 61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pic>
        <p:nvPicPr>
          <p:cNvPr id="210" name="Google Shape;210;p10" title="component_architecture.png"/>
          <p:cNvPicPr preferRelativeResize="0"/>
          <p:nvPr/>
        </p:nvPicPr>
        <p:blipFill>
          <a:blip r:embed="rId3">
            <a:alphaModFix/>
          </a:blip>
          <a:stretch>
            <a:fillRect/>
          </a:stretch>
        </p:blipFill>
        <p:spPr>
          <a:xfrm>
            <a:off x="1375508" y="1170425"/>
            <a:ext cx="9377592" cy="52749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DATA MODELING</a:t>
            </a:r>
            <a:endParaRPr b="0" i="0" sz="1000" u="none" cap="none" strike="noStrike">
              <a:solidFill>
                <a:schemeClr val="dk1"/>
              </a:solidFill>
              <a:latin typeface="Arial"/>
              <a:ea typeface="Arial"/>
              <a:cs typeface="Arial"/>
              <a:sym typeface="Arial"/>
            </a:endParaRPr>
          </a:p>
        </p:txBody>
      </p:sp>
      <p:sp>
        <p:nvSpPr>
          <p:cNvPr id="217" name="Google Shape;217;p11"/>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ER diagram — evidence remains linked to each field</a:t>
            </a:r>
            <a:endParaRPr b="0" i="0" sz="2700" u="none" cap="none" strike="noStrike">
              <a:solidFill>
                <a:schemeClr val="dk1"/>
              </a:solidFill>
              <a:latin typeface="Arial"/>
              <a:ea typeface="Arial"/>
              <a:cs typeface="Arial"/>
              <a:sym typeface="Arial"/>
            </a:endParaRPr>
          </a:p>
        </p:txBody>
      </p:sp>
      <p:sp>
        <p:nvSpPr>
          <p:cNvPr id="218" name="Google Shape;218;p11"/>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Core entities preserve field identity, evidence provenance and calculation history.</a:t>
            </a:r>
            <a:endParaRPr b="0" i="0" sz="1250" u="none" cap="none" strike="noStrike">
              <a:solidFill>
                <a:schemeClr val="dk1"/>
              </a:solidFill>
              <a:latin typeface="Arial"/>
              <a:ea typeface="Arial"/>
              <a:cs typeface="Arial"/>
              <a:sym typeface="Arial"/>
            </a:endParaRPr>
          </a:p>
        </p:txBody>
      </p:sp>
      <p:sp>
        <p:nvSpPr>
          <p:cNvPr id="219" name="Google Shape;219;p11"/>
          <p:cNvSpPr/>
          <p:nvPr/>
        </p:nvSpPr>
        <p:spPr>
          <a:xfrm>
            <a:off x="502920" y="1353312"/>
            <a:ext cx="8485632" cy="4956048"/>
          </a:xfrm>
          <a:prstGeom prst="roundRect">
            <a:avLst>
              <a:gd fmla="val 646"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20.png" id="220" name="Google Shape;220;p11"/>
          <p:cNvPicPr preferRelativeResize="0"/>
          <p:nvPr/>
        </p:nvPicPr>
        <p:blipFill rotWithShape="1">
          <a:blip r:embed="rId3">
            <a:alphaModFix/>
          </a:blip>
          <a:srcRect b="0" l="0" r="0" t="0"/>
          <a:stretch/>
        </p:blipFill>
        <p:spPr>
          <a:xfrm>
            <a:off x="806239" y="1463040"/>
            <a:ext cx="7878994" cy="4517136"/>
          </a:xfrm>
          <a:prstGeom prst="rect">
            <a:avLst/>
          </a:prstGeom>
          <a:noFill/>
          <a:ln>
            <a:noFill/>
          </a:ln>
        </p:spPr>
      </p:pic>
      <p:sp>
        <p:nvSpPr>
          <p:cNvPr id="221" name="Google Shape;221;p11"/>
          <p:cNvSpPr/>
          <p:nvPr/>
        </p:nvSpPr>
        <p:spPr>
          <a:xfrm>
            <a:off x="649224" y="6035040"/>
            <a:ext cx="81930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Entity relationship diagram</a:t>
            </a:r>
            <a:endParaRPr b="0" i="0" sz="950" u="none" cap="none" strike="noStrike">
              <a:solidFill>
                <a:schemeClr val="dk1"/>
              </a:solidFill>
              <a:latin typeface="Arial"/>
              <a:ea typeface="Arial"/>
              <a:cs typeface="Arial"/>
              <a:sym typeface="Arial"/>
            </a:endParaRPr>
          </a:p>
        </p:txBody>
      </p:sp>
      <p:sp>
        <p:nvSpPr>
          <p:cNvPr id="222" name="Google Shape;222;p11"/>
          <p:cNvSpPr/>
          <p:nvPr/>
        </p:nvSpPr>
        <p:spPr>
          <a:xfrm>
            <a:off x="9189720" y="1399032"/>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9189720" y="1399032"/>
            <a:ext cx="50292" cy="1298448"/>
          </a:xfrm>
          <a:prstGeom prst="rect">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9445752" y="1581912"/>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Stable identity</a:t>
            </a:r>
            <a:endParaRPr b="0" i="0" sz="1500" u="none" cap="none" strike="noStrike">
              <a:solidFill>
                <a:schemeClr val="dk1"/>
              </a:solidFill>
              <a:latin typeface="Arial"/>
              <a:ea typeface="Arial"/>
              <a:cs typeface="Arial"/>
              <a:sym typeface="Arial"/>
            </a:endParaRPr>
          </a:p>
        </p:txBody>
      </p:sp>
      <p:sp>
        <p:nvSpPr>
          <p:cNvPr id="225" name="Google Shape;225;p11"/>
          <p:cNvSpPr/>
          <p:nvPr/>
        </p:nvSpPr>
        <p:spPr>
          <a:xfrm>
            <a:off x="9445752" y="2011680"/>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field_id connects methodology evidence and calculation history.</a:t>
            </a:r>
            <a:endParaRPr b="0" i="0" sz="1150" u="none" cap="none" strike="noStrike">
              <a:solidFill>
                <a:schemeClr val="dk1"/>
              </a:solidFill>
              <a:latin typeface="Arial"/>
              <a:ea typeface="Arial"/>
              <a:cs typeface="Arial"/>
              <a:sym typeface="Arial"/>
            </a:endParaRPr>
          </a:p>
        </p:txBody>
      </p:sp>
      <p:sp>
        <p:nvSpPr>
          <p:cNvPr id="226" name="Google Shape;226;p11"/>
          <p:cNvSpPr/>
          <p:nvPr/>
        </p:nvSpPr>
        <p:spPr>
          <a:xfrm>
            <a:off x="9189720" y="2916936"/>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9189720" y="2916936"/>
            <a:ext cx="50292" cy="1298448"/>
          </a:xfrm>
          <a:prstGeom prst="rect">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9445752" y="3099816"/>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Window-safe cache</a:t>
            </a:r>
            <a:endParaRPr b="0" i="0" sz="1500" u="none" cap="none" strike="noStrike">
              <a:solidFill>
                <a:schemeClr val="dk1"/>
              </a:solidFill>
              <a:latin typeface="Arial"/>
              <a:ea typeface="Arial"/>
              <a:cs typeface="Arial"/>
              <a:sym typeface="Arial"/>
            </a:endParaRPr>
          </a:p>
        </p:txBody>
      </p:sp>
      <p:sp>
        <p:nvSpPr>
          <p:cNvPr id="229" name="Google Shape;229;p11"/>
          <p:cNvSpPr/>
          <p:nvPr/>
        </p:nvSpPr>
        <p:spPr>
          <a:xfrm>
            <a:off x="9445752" y="3529584"/>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Rice observations are keyed by field and monitoring window.</a:t>
            </a:r>
            <a:endParaRPr b="0" i="0" sz="1150" u="none" cap="none" strike="noStrike">
              <a:solidFill>
                <a:schemeClr val="dk1"/>
              </a:solidFill>
              <a:latin typeface="Arial"/>
              <a:ea typeface="Arial"/>
              <a:cs typeface="Arial"/>
              <a:sym typeface="Arial"/>
            </a:endParaRPr>
          </a:p>
        </p:txBody>
      </p:sp>
      <p:sp>
        <p:nvSpPr>
          <p:cNvPr id="230" name="Google Shape;230;p11"/>
          <p:cNvSpPr/>
          <p:nvPr/>
        </p:nvSpPr>
        <p:spPr>
          <a:xfrm>
            <a:off x="9189720" y="4434840"/>
            <a:ext cx="2395728" cy="1298448"/>
          </a:xfrm>
          <a:prstGeom prst="roundRect">
            <a:avLst>
              <a:gd fmla="val 3169" name="adj"/>
            </a:avLst>
          </a:prstGeom>
          <a:solidFill>
            <a:srgbClr val="FAFBF7"/>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9189720" y="4434840"/>
            <a:ext cx="50292" cy="1298448"/>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9445752" y="4617720"/>
            <a:ext cx="195681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500"/>
              <a:buFont typeface="Arial"/>
              <a:buNone/>
            </a:pPr>
            <a:r>
              <a:rPr b="1" i="0" lang="en-US" sz="1500" u="none" cap="none" strike="noStrike">
                <a:solidFill>
                  <a:srgbClr val="163B27"/>
                </a:solidFill>
                <a:latin typeface="Arial"/>
                <a:ea typeface="Arial"/>
                <a:cs typeface="Arial"/>
                <a:sym typeface="Arial"/>
              </a:rPr>
              <a:t>Audit history</a:t>
            </a:r>
            <a:endParaRPr b="0" i="0" sz="1500" u="none" cap="none" strike="noStrike">
              <a:solidFill>
                <a:schemeClr val="dk1"/>
              </a:solidFill>
              <a:latin typeface="Arial"/>
              <a:ea typeface="Arial"/>
              <a:cs typeface="Arial"/>
              <a:sym typeface="Arial"/>
            </a:endParaRPr>
          </a:p>
        </p:txBody>
      </p:sp>
      <p:sp>
        <p:nvSpPr>
          <p:cNvPr id="233" name="Google Shape;233;p11"/>
          <p:cNvSpPr/>
          <p:nvPr/>
        </p:nvSpPr>
        <p:spPr>
          <a:xfrm>
            <a:off x="9445752" y="5047488"/>
            <a:ext cx="1920240" cy="539496"/>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F6D63"/>
              </a:buClr>
              <a:buSzPts val="1150"/>
              <a:buFont typeface="Arial"/>
              <a:buNone/>
            </a:pPr>
            <a:r>
              <a:rPr b="0" i="0" lang="en-US" sz="1150" u="none" cap="none" strike="noStrike">
                <a:solidFill>
                  <a:srgbClr val="5F6D63"/>
                </a:solidFill>
                <a:latin typeface="Arial"/>
                <a:ea typeface="Arial"/>
                <a:cs typeface="Arial"/>
                <a:sym typeface="Arial"/>
              </a:rPr>
              <a:t>Prior calculation runs remain available for inspection.</a:t>
            </a:r>
            <a:endParaRPr b="0" i="0" sz="1150" u="none" cap="none" strike="noStrike">
              <a:solidFill>
                <a:schemeClr val="dk1"/>
              </a:solidFill>
              <a:latin typeface="Arial"/>
              <a:ea typeface="Arial"/>
              <a:cs typeface="Arial"/>
              <a:sym typeface="Arial"/>
            </a:endParaRPr>
          </a:p>
        </p:txBody>
      </p:sp>
      <p:sp>
        <p:nvSpPr>
          <p:cNvPr id="234" name="Google Shape;234;p11">
            <a:hlinkClick r:id="rId4"/>
          </p:cNvPr>
          <p:cNvSpPr/>
          <p:nvPr/>
        </p:nvSpPr>
        <p:spPr>
          <a:xfrm>
            <a:off x="6675120" y="6236208"/>
            <a:ext cx="4892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7A68"/>
              </a:buClr>
              <a:buSzPts val="850"/>
              <a:buFont typeface="Arial"/>
              <a:buNone/>
            </a:pPr>
            <a:r>
              <a:rPr b="0" i="1" lang="en-US" sz="850" u="sng" cap="none" strike="noStrike">
                <a:solidFill>
                  <a:schemeClr val="hlink"/>
                </a:solidFill>
                <a:latin typeface="Arial"/>
                <a:ea typeface="Arial"/>
                <a:cs typeface="Arial"/>
                <a:sym typeface="Arial"/>
                <a:hlinkClick r:id="rId5"/>
              </a:rPr>
              <a:t>Open complete diagram</a:t>
            </a:r>
            <a:endParaRPr b="0" i="0" sz="850" u="none" cap="none" strike="noStrike">
              <a:solidFill>
                <a:schemeClr val="dk1"/>
              </a:solidFill>
              <a:latin typeface="Arial"/>
              <a:ea typeface="Arial"/>
              <a:cs typeface="Arial"/>
              <a:sym typeface="Arial"/>
            </a:endParaRPr>
          </a:p>
        </p:txBody>
      </p:sp>
      <p:sp>
        <p:nvSpPr>
          <p:cNvPr id="235" name="Google Shape;235;p11"/>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242" name="Google Shape;242;p12"/>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Defense roadmap — show the project as one evidence chain</a:t>
            </a:r>
            <a:endParaRPr b="0" i="0" sz="2700" u="none" cap="none" strike="noStrike">
              <a:solidFill>
                <a:schemeClr val="dk1"/>
              </a:solidFill>
              <a:latin typeface="Arial"/>
              <a:ea typeface="Arial"/>
              <a:cs typeface="Arial"/>
              <a:sym typeface="Arial"/>
            </a:endParaRPr>
          </a:p>
        </p:txBody>
      </p:sp>
      <p:sp>
        <p:nvSpPr>
          <p:cNvPr id="243" name="Google Shape;243;p12"/>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next slides use real screenshots from the running local application.</a:t>
            </a:r>
            <a:endParaRPr b="0" i="0" sz="1250" u="none" cap="none" strike="noStrike">
              <a:solidFill>
                <a:schemeClr val="dk1"/>
              </a:solidFill>
              <a:latin typeface="Arial"/>
              <a:ea typeface="Arial"/>
              <a:cs typeface="Arial"/>
              <a:sym typeface="Arial"/>
            </a:endParaRPr>
          </a:p>
        </p:txBody>
      </p:sp>
      <p:sp>
        <p:nvSpPr>
          <p:cNvPr id="244" name="Google Shape;244;p12"/>
          <p:cNvSpPr/>
          <p:nvPr/>
        </p:nvSpPr>
        <p:spPr>
          <a:xfrm>
            <a:off x="438912" y="1956816"/>
            <a:ext cx="1344168" cy="2103120"/>
          </a:xfrm>
          <a:prstGeom prst="roundRect">
            <a:avLst>
              <a:gd fmla="val 4082" name="adj"/>
            </a:avLst>
          </a:prstGeom>
          <a:solidFill>
            <a:srgbClr val="FFFFFF"/>
          </a:solidFill>
          <a:ln cap="flat" cmpd="sng" w="1395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859536" y="2258568"/>
            <a:ext cx="502920" cy="502920"/>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859536" y="2395728"/>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01</a:t>
            </a:r>
            <a:endParaRPr b="0" i="0" sz="1000" u="none" cap="none" strike="noStrike">
              <a:solidFill>
                <a:schemeClr val="dk1"/>
              </a:solidFill>
              <a:latin typeface="Arial"/>
              <a:ea typeface="Arial"/>
              <a:cs typeface="Arial"/>
              <a:sym typeface="Arial"/>
            </a:endParaRPr>
          </a:p>
        </p:txBody>
      </p:sp>
      <p:sp>
        <p:nvSpPr>
          <p:cNvPr id="247" name="Google Shape;247;p12"/>
          <p:cNvSpPr/>
          <p:nvPr/>
        </p:nvSpPr>
        <p:spPr>
          <a:xfrm>
            <a:off x="576072" y="2999232"/>
            <a:ext cx="1069848"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B27"/>
              </a:buClr>
              <a:buSzPts val="1050"/>
              <a:buFont typeface="Arial"/>
              <a:buNone/>
            </a:pPr>
            <a:r>
              <a:rPr b="1" i="0" lang="en-US" sz="1050" u="none" cap="none" strike="noStrike">
                <a:solidFill>
                  <a:srgbClr val="163B27"/>
                </a:solidFill>
                <a:latin typeface="Arial"/>
                <a:ea typeface="Arial"/>
                <a:cs typeface="Arial"/>
                <a:sym typeface="Arial"/>
              </a:rPr>
              <a:t>REGISTER</a:t>
            </a:r>
            <a:endParaRPr b="0" i="0" sz="1050" u="none" cap="none" strike="noStrike">
              <a:solidFill>
                <a:schemeClr val="dk1"/>
              </a:solidFill>
              <a:latin typeface="Arial"/>
              <a:ea typeface="Arial"/>
              <a:cs typeface="Arial"/>
              <a:sym typeface="Arial"/>
            </a:endParaRPr>
          </a:p>
        </p:txBody>
      </p:sp>
      <p:sp>
        <p:nvSpPr>
          <p:cNvPr id="248" name="Google Shape;248;p12"/>
          <p:cNvSpPr/>
          <p:nvPr/>
        </p:nvSpPr>
        <p:spPr>
          <a:xfrm>
            <a:off x="585216" y="34015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Boundary + field type</a:t>
            </a:r>
            <a:endParaRPr b="0" i="0" sz="950" u="none" cap="none" strike="noStrike">
              <a:solidFill>
                <a:schemeClr val="dk1"/>
              </a:solidFill>
              <a:latin typeface="Arial"/>
              <a:ea typeface="Arial"/>
              <a:cs typeface="Arial"/>
              <a:sym typeface="Arial"/>
            </a:endParaRPr>
          </a:p>
        </p:txBody>
      </p:sp>
      <p:sp>
        <p:nvSpPr>
          <p:cNvPr id="249" name="Google Shape;249;p12"/>
          <p:cNvSpPr/>
          <p:nvPr/>
        </p:nvSpPr>
        <p:spPr>
          <a:xfrm>
            <a:off x="1837944" y="2752344"/>
            <a:ext cx="201168" cy="384048"/>
          </a:xfrm>
          <a:prstGeom prst="chevron">
            <a:avLst>
              <a:gd fmla="val 50000" name="adj"/>
            </a:avLst>
          </a:prstGeom>
          <a:solidFill>
            <a:srgbClr val="D6DED4"/>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p:nvPr/>
        </p:nvSpPr>
        <p:spPr>
          <a:xfrm>
            <a:off x="2103120" y="1956816"/>
            <a:ext cx="1344168" cy="2103120"/>
          </a:xfrm>
          <a:prstGeom prst="roundRect">
            <a:avLst>
              <a:gd fmla="val 4082" name="adj"/>
            </a:avLst>
          </a:prstGeom>
          <a:solidFill>
            <a:srgbClr val="FFFFFF"/>
          </a:solidFill>
          <a:ln cap="flat" cmpd="sng" w="1395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2523744" y="2258568"/>
            <a:ext cx="502920" cy="502920"/>
          </a:xfrm>
          <a:prstGeom prst="ellipse">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2523744" y="2395728"/>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02</a:t>
            </a:r>
            <a:endParaRPr b="0" i="0" sz="1000" u="none" cap="none" strike="noStrike">
              <a:solidFill>
                <a:schemeClr val="dk1"/>
              </a:solidFill>
              <a:latin typeface="Arial"/>
              <a:ea typeface="Arial"/>
              <a:cs typeface="Arial"/>
              <a:sym typeface="Arial"/>
            </a:endParaRPr>
          </a:p>
        </p:txBody>
      </p:sp>
      <p:sp>
        <p:nvSpPr>
          <p:cNvPr id="253" name="Google Shape;253;p12"/>
          <p:cNvSpPr/>
          <p:nvPr/>
        </p:nvSpPr>
        <p:spPr>
          <a:xfrm>
            <a:off x="2240280" y="2999232"/>
            <a:ext cx="1069848"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B27"/>
              </a:buClr>
              <a:buSzPts val="1050"/>
              <a:buFont typeface="Arial"/>
              <a:buNone/>
            </a:pPr>
            <a:r>
              <a:rPr b="1" i="0" lang="en-US" sz="1050" u="none" cap="none" strike="noStrike">
                <a:solidFill>
                  <a:srgbClr val="163B27"/>
                </a:solidFill>
                <a:latin typeface="Arial"/>
                <a:ea typeface="Arial"/>
                <a:cs typeface="Arial"/>
                <a:sym typeface="Arial"/>
              </a:rPr>
              <a:t>COLLECT</a:t>
            </a:r>
            <a:endParaRPr b="0" i="0" sz="1050" u="none" cap="none" strike="noStrike">
              <a:solidFill>
                <a:schemeClr val="dk1"/>
              </a:solidFill>
              <a:latin typeface="Arial"/>
              <a:ea typeface="Arial"/>
              <a:cs typeface="Arial"/>
              <a:sym typeface="Arial"/>
            </a:endParaRPr>
          </a:p>
        </p:txBody>
      </p:sp>
      <p:sp>
        <p:nvSpPr>
          <p:cNvPr id="254" name="Google Shape;254;p12"/>
          <p:cNvSpPr/>
          <p:nvPr/>
        </p:nvSpPr>
        <p:spPr>
          <a:xfrm>
            <a:off x="2249424" y="34015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SAR or ALM evidence</a:t>
            </a:r>
            <a:endParaRPr b="0" i="0" sz="950" u="none" cap="none" strike="noStrike">
              <a:solidFill>
                <a:schemeClr val="dk1"/>
              </a:solidFill>
              <a:latin typeface="Arial"/>
              <a:ea typeface="Arial"/>
              <a:cs typeface="Arial"/>
              <a:sym typeface="Arial"/>
            </a:endParaRPr>
          </a:p>
        </p:txBody>
      </p:sp>
      <p:sp>
        <p:nvSpPr>
          <p:cNvPr id="255" name="Google Shape;255;p12"/>
          <p:cNvSpPr/>
          <p:nvPr/>
        </p:nvSpPr>
        <p:spPr>
          <a:xfrm>
            <a:off x="3502152" y="2752344"/>
            <a:ext cx="201168" cy="384048"/>
          </a:xfrm>
          <a:prstGeom prst="chevron">
            <a:avLst>
              <a:gd fmla="val 50000" name="adj"/>
            </a:avLst>
          </a:prstGeom>
          <a:solidFill>
            <a:srgbClr val="D6DED4"/>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
          <p:cNvSpPr/>
          <p:nvPr/>
        </p:nvSpPr>
        <p:spPr>
          <a:xfrm>
            <a:off x="3767328" y="1956816"/>
            <a:ext cx="1344168" cy="2103120"/>
          </a:xfrm>
          <a:prstGeom prst="roundRect">
            <a:avLst>
              <a:gd fmla="val 4082" name="adj"/>
            </a:avLst>
          </a:prstGeom>
          <a:solidFill>
            <a:srgbClr val="FFFFFF"/>
          </a:solidFill>
          <a:ln cap="flat" cmpd="sng" w="1395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4187952" y="2258568"/>
            <a:ext cx="502920" cy="502920"/>
          </a:xfrm>
          <a:prstGeom prst="ellipse">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4187952" y="2395728"/>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03</a:t>
            </a:r>
            <a:endParaRPr b="0" i="0" sz="1000" u="none" cap="none" strike="noStrike">
              <a:solidFill>
                <a:schemeClr val="dk1"/>
              </a:solidFill>
              <a:latin typeface="Arial"/>
              <a:ea typeface="Arial"/>
              <a:cs typeface="Arial"/>
              <a:sym typeface="Arial"/>
            </a:endParaRPr>
          </a:p>
        </p:txBody>
      </p:sp>
      <p:sp>
        <p:nvSpPr>
          <p:cNvPr id="259" name="Google Shape;259;p12"/>
          <p:cNvSpPr/>
          <p:nvPr/>
        </p:nvSpPr>
        <p:spPr>
          <a:xfrm>
            <a:off x="3904488" y="2999232"/>
            <a:ext cx="1069848"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B27"/>
              </a:buClr>
              <a:buSzPts val="1050"/>
              <a:buFont typeface="Arial"/>
              <a:buNone/>
            </a:pPr>
            <a:r>
              <a:rPr b="1" i="0" lang="en-US" sz="1050" u="none" cap="none" strike="noStrike">
                <a:solidFill>
                  <a:srgbClr val="163B27"/>
                </a:solidFill>
                <a:latin typeface="Arial"/>
                <a:ea typeface="Arial"/>
                <a:cs typeface="Arial"/>
                <a:sym typeface="Arial"/>
              </a:rPr>
              <a:t>VALIDATE</a:t>
            </a:r>
            <a:endParaRPr b="0" i="0" sz="1050" u="none" cap="none" strike="noStrike">
              <a:solidFill>
                <a:schemeClr val="dk1"/>
              </a:solidFill>
              <a:latin typeface="Arial"/>
              <a:ea typeface="Arial"/>
              <a:cs typeface="Arial"/>
              <a:sym typeface="Arial"/>
            </a:endParaRPr>
          </a:p>
        </p:txBody>
      </p:sp>
      <p:sp>
        <p:nvSpPr>
          <p:cNvPr id="260" name="Google Shape;260;p12"/>
          <p:cNvSpPr/>
          <p:nvPr/>
        </p:nvSpPr>
        <p:spPr>
          <a:xfrm>
            <a:off x="3913632" y="34015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Rules + optional AI</a:t>
            </a:r>
            <a:endParaRPr b="0" i="0" sz="950" u="none" cap="none" strike="noStrike">
              <a:solidFill>
                <a:schemeClr val="dk1"/>
              </a:solidFill>
              <a:latin typeface="Arial"/>
              <a:ea typeface="Arial"/>
              <a:cs typeface="Arial"/>
              <a:sym typeface="Arial"/>
            </a:endParaRPr>
          </a:p>
        </p:txBody>
      </p:sp>
      <p:sp>
        <p:nvSpPr>
          <p:cNvPr id="261" name="Google Shape;261;p12"/>
          <p:cNvSpPr/>
          <p:nvPr/>
        </p:nvSpPr>
        <p:spPr>
          <a:xfrm>
            <a:off x="5166360" y="2752344"/>
            <a:ext cx="201168" cy="384048"/>
          </a:xfrm>
          <a:prstGeom prst="chevron">
            <a:avLst>
              <a:gd fmla="val 50000" name="adj"/>
            </a:avLst>
          </a:prstGeom>
          <a:solidFill>
            <a:srgbClr val="D6DED4"/>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5431536" y="1956816"/>
            <a:ext cx="1344168" cy="2103120"/>
          </a:xfrm>
          <a:prstGeom prst="roundRect">
            <a:avLst>
              <a:gd fmla="val 4082" name="adj"/>
            </a:avLst>
          </a:prstGeom>
          <a:solidFill>
            <a:srgbClr val="FFFFFF"/>
          </a:solidFill>
          <a:ln cap="flat" cmpd="sng" w="1395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5852160" y="2258568"/>
            <a:ext cx="502920" cy="502920"/>
          </a:xfrm>
          <a:prstGeom prst="ellipse">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5852160" y="2395728"/>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04</a:t>
            </a:r>
            <a:endParaRPr b="0" i="0" sz="1000" u="none" cap="none" strike="noStrike">
              <a:solidFill>
                <a:schemeClr val="dk1"/>
              </a:solidFill>
              <a:latin typeface="Arial"/>
              <a:ea typeface="Arial"/>
              <a:cs typeface="Arial"/>
              <a:sym typeface="Arial"/>
            </a:endParaRPr>
          </a:p>
        </p:txBody>
      </p:sp>
      <p:sp>
        <p:nvSpPr>
          <p:cNvPr id="265" name="Google Shape;265;p12"/>
          <p:cNvSpPr/>
          <p:nvPr/>
        </p:nvSpPr>
        <p:spPr>
          <a:xfrm>
            <a:off x="5568696" y="2999232"/>
            <a:ext cx="1069848"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B27"/>
              </a:buClr>
              <a:buSzPts val="1050"/>
              <a:buFont typeface="Arial"/>
              <a:buNone/>
            </a:pPr>
            <a:r>
              <a:rPr b="1" i="0" lang="en-US" sz="1050" u="none" cap="none" strike="noStrike">
                <a:solidFill>
                  <a:srgbClr val="163B27"/>
                </a:solidFill>
                <a:latin typeface="Arial"/>
                <a:ea typeface="Arial"/>
                <a:cs typeface="Arial"/>
                <a:sym typeface="Arial"/>
              </a:rPr>
              <a:t>CALCULATE</a:t>
            </a:r>
            <a:endParaRPr b="0" i="0" sz="1050" u="none" cap="none" strike="noStrike">
              <a:solidFill>
                <a:schemeClr val="dk1"/>
              </a:solidFill>
              <a:latin typeface="Arial"/>
              <a:ea typeface="Arial"/>
              <a:cs typeface="Arial"/>
              <a:sym typeface="Arial"/>
            </a:endParaRPr>
          </a:p>
        </p:txBody>
      </p:sp>
      <p:sp>
        <p:nvSpPr>
          <p:cNvPr id="266" name="Google Shape;266;p12"/>
          <p:cNvSpPr/>
          <p:nvPr/>
        </p:nvSpPr>
        <p:spPr>
          <a:xfrm>
            <a:off x="5577840" y="34015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VM0051 / VM0042</a:t>
            </a:r>
            <a:endParaRPr b="0" i="0" sz="950" u="none" cap="none" strike="noStrike">
              <a:solidFill>
                <a:schemeClr val="dk1"/>
              </a:solidFill>
              <a:latin typeface="Arial"/>
              <a:ea typeface="Arial"/>
              <a:cs typeface="Arial"/>
              <a:sym typeface="Arial"/>
            </a:endParaRPr>
          </a:p>
        </p:txBody>
      </p:sp>
      <p:sp>
        <p:nvSpPr>
          <p:cNvPr id="267" name="Google Shape;267;p12"/>
          <p:cNvSpPr/>
          <p:nvPr/>
        </p:nvSpPr>
        <p:spPr>
          <a:xfrm>
            <a:off x="6830568" y="2752344"/>
            <a:ext cx="201168" cy="384048"/>
          </a:xfrm>
          <a:prstGeom prst="chevron">
            <a:avLst>
              <a:gd fmla="val 50000" name="adj"/>
            </a:avLst>
          </a:prstGeom>
          <a:solidFill>
            <a:srgbClr val="D6DED4"/>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7095744" y="1956816"/>
            <a:ext cx="1344168" cy="2103120"/>
          </a:xfrm>
          <a:prstGeom prst="roundRect">
            <a:avLst>
              <a:gd fmla="val 4082" name="adj"/>
            </a:avLst>
          </a:prstGeom>
          <a:solidFill>
            <a:srgbClr val="FFFFFF"/>
          </a:solidFill>
          <a:ln cap="flat" cmpd="sng" w="13950">
            <a:solidFill>
              <a:srgbClr val="9561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7516368" y="2258568"/>
            <a:ext cx="502920" cy="502920"/>
          </a:xfrm>
          <a:prstGeom prst="ellipse">
            <a:avLst/>
          </a:prstGeom>
          <a:solidFill>
            <a:srgbClr val="956156"/>
          </a:solidFill>
          <a:ln cap="flat" cmpd="sng" w="12700">
            <a:solidFill>
              <a:srgbClr val="9561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7516368" y="2395728"/>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05</a:t>
            </a:r>
            <a:endParaRPr b="0" i="0" sz="1000" u="none" cap="none" strike="noStrike">
              <a:solidFill>
                <a:schemeClr val="dk1"/>
              </a:solidFill>
              <a:latin typeface="Arial"/>
              <a:ea typeface="Arial"/>
              <a:cs typeface="Arial"/>
              <a:sym typeface="Arial"/>
            </a:endParaRPr>
          </a:p>
        </p:txBody>
      </p:sp>
      <p:sp>
        <p:nvSpPr>
          <p:cNvPr id="271" name="Google Shape;271;p12"/>
          <p:cNvSpPr/>
          <p:nvPr/>
        </p:nvSpPr>
        <p:spPr>
          <a:xfrm>
            <a:off x="7232904" y="2999232"/>
            <a:ext cx="1069848"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B27"/>
              </a:buClr>
              <a:buSzPts val="1050"/>
              <a:buFont typeface="Arial"/>
              <a:buNone/>
            </a:pPr>
            <a:r>
              <a:rPr b="1" i="0" lang="en-US" sz="1050" u="none" cap="none" strike="noStrike">
                <a:solidFill>
                  <a:srgbClr val="163B27"/>
                </a:solidFill>
                <a:latin typeface="Arial"/>
                <a:ea typeface="Arial"/>
                <a:cs typeface="Arial"/>
                <a:sym typeface="Arial"/>
              </a:rPr>
              <a:t>EXPLAIN</a:t>
            </a:r>
            <a:endParaRPr b="0" i="0" sz="1050" u="none" cap="none" strike="noStrike">
              <a:solidFill>
                <a:schemeClr val="dk1"/>
              </a:solidFill>
              <a:latin typeface="Arial"/>
              <a:ea typeface="Arial"/>
              <a:cs typeface="Arial"/>
              <a:sym typeface="Arial"/>
            </a:endParaRPr>
          </a:p>
        </p:txBody>
      </p:sp>
      <p:sp>
        <p:nvSpPr>
          <p:cNvPr id="272" name="Google Shape;272;p12"/>
          <p:cNvSpPr/>
          <p:nvPr/>
        </p:nvSpPr>
        <p:spPr>
          <a:xfrm>
            <a:off x="7242048" y="34015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Audit trail + warnings</a:t>
            </a:r>
            <a:endParaRPr b="0" i="0" sz="950" u="none" cap="none" strike="noStrike">
              <a:solidFill>
                <a:schemeClr val="dk1"/>
              </a:solidFill>
              <a:latin typeface="Arial"/>
              <a:ea typeface="Arial"/>
              <a:cs typeface="Arial"/>
              <a:sym typeface="Arial"/>
            </a:endParaRPr>
          </a:p>
        </p:txBody>
      </p:sp>
      <p:sp>
        <p:nvSpPr>
          <p:cNvPr id="273" name="Google Shape;273;p12"/>
          <p:cNvSpPr/>
          <p:nvPr/>
        </p:nvSpPr>
        <p:spPr>
          <a:xfrm>
            <a:off x="8494776" y="2752344"/>
            <a:ext cx="201168" cy="384048"/>
          </a:xfrm>
          <a:prstGeom prst="chevron">
            <a:avLst>
              <a:gd fmla="val 50000" name="adj"/>
            </a:avLst>
          </a:prstGeom>
          <a:solidFill>
            <a:srgbClr val="D6DED4"/>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8759952" y="1956816"/>
            <a:ext cx="1344168" cy="2103120"/>
          </a:xfrm>
          <a:prstGeom prst="roundRect">
            <a:avLst>
              <a:gd fmla="val 4082" name="adj"/>
            </a:avLst>
          </a:prstGeom>
          <a:solidFill>
            <a:srgbClr val="FFFFFF"/>
          </a:solidFill>
          <a:ln cap="flat" cmpd="sng" w="1395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9180576" y="2258568"/>
            <a:ext cx="502920" cy="502920"/>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9180576" y="2395728"/>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06</a:t>
            </a:r>
            <a:endParaRPr b="0" i="0" sz="1000" u="none" cap="none" strike="noStrike">
              <a:solidFill>
                <a:schemeClr val="dk1"/>
              </a:solidFill>
              <a:latin typeface="Arial"/>
              <a:ea typeface="Arial"/>
              <a:cs typeface="Arial"/>
              <a:sym typeface="Arial"/>
            </a:endParaRPr>
          </a:p>
        </p:txBody>
      </p:sp>
      <p:sp>
        <p:nvSpPr>
          <p:cNvPr id="277" name="Google Shape;277;p12"/>
          <p:cNvSpPr/>
          <p:nvPr/>
        </p:nvSpPr>
        <p:spPr>
          <a:xfrm>
            <a:off x="8897112" y="2999232"/>
            <a:ext cx="1069848"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B27"/>
              </a:buClr>
              <a:buSzPts val="1050"/>
              <a:buFont typeface="Arial"/>
              <a:buNone/>
            </a:pPr>
            <a:r>
              <a:rPr b="1" i="0" lang="en-US" sz="1050" u="none" cap="none" strike="noStrike">
                <a:solidFill>
                  <a:srgbClr val="163B27"/>
                </a:solidFill>
                <a:latin typeface="Arial"/>
                <a:ea typeface="Arial"/>
                <a:cs typeface="Arial"/>
                <a:sym typeface="Arial"/>
              </a:rPr>
              <a:t>EXPORT</a:t>
            </a:r>
            <a:endParaRPr b="0" i="0" sz="1050" u="none" cap="none" strike="noStrike">
              <a:solidFill>
                <a:schemeClr val="dk1"/>
              </a:solidFill>
              <a:latin typeface="Arial"/>
              <a:ea typeface="Arial"/>
              <a:cs typeface="Arial"/>
              <a:sym typeface="Arial"/>
            </a:endParaRPr>
          </a:p>
        </p:txBody>
      </p:sp>
      <p:sp>
        <p:nvSpPr>
          <p:cNvPr id="278" name="Google Shape;278;p12"/>
          <p:cNvSpPr/>
          <p:nvPr/>
        </p:nvSpPr>
        <p:spPr>
          <a:xfrm>
            <a:off x="8906256" y="34015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PDF • JSON • CSV</a:t>
            </a:r>
            <a:endParaRPr b="0" i="0" sz="950" u="none" cap="none" strike="noStrike">
              <a:solidFill>
                <a:schemeClr val="dk1"/>
              </a:solidFill>
              <a:latin typeface="Arial"/>
              <a:ea typeface="Arial"/>
              <a:cs typeface="Arial"/>
              <a:sym typeface="Arial"/>
            </a:endParaRPr>
          </a:p>
        </p:txBody>
      </p:sp>
      <p:sp>
        <p:nvSpPr>
          <p:cNvPr id="279" name="Google Shape;279;p12"/>
          <p:cNvSpPr/>
          <p:nvPr/>
        </p:nvSpPr>
        <p:spPr>
          <a:xfrm>
            <a:off x="10158984" y="2752344"/>
            <a:ext cx="201168" cy="384048"/>
          </a:xfrm>
          <a:prstGeom prst="chevron">
            <a:avLst>
              <a:gd fmla="val 50000" name="adj"/>
            </a:avLst>
          </a:prstGeom>
          <a:solidFill>
            <a:srgbClr val="D6DED4"/>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10424160" y="1956816"/>
            <a:ext cx="1344168" cy="2103120"/>
          </a:xfrm>
          <a:prstGeom prst="roundRect">
            <a:avLst>
              <a:gd fmla="val 4082" name="adj"/>
            </a:avLst>
          </a:prstGeom>
          <a:solidFill>
            <a:srgbClr val="FFFFFF"/>
          </a:solidFill>
          <a:ln cap="flat" cmpd="sng" w="1395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10844784" y="2258568"/>
            <a:ext cx="502920" cy="502920"/>
          </a:xfrm>
          <a:prstGeom prst="ellipse">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10844784" y="2395728"/>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07</a:t>
            </a:r>
            <a:endParaRPr b="0" i="0" sz="1000" u="none" cap="none" strike="noStrike">
              <a:solidFill>
                <a:schemeClr val="dk1"/>
              </a:solidFill>
              <a:latin typeface="Arial"/>
              <a:ea typeface="Arial"/>
              <a:cs typeface="Arial"/>
              <a:sym typeface="Arial"/>
            </a:endParaRPr>
          </a:p>
        </p:txBody>
      </p:sp>
      <p:sp>
        <p:nvSpPr>
          <p:cNvPr id="283" name="Google Shape;283;p12"/>
          <p:cNvSpPr/>
          <p:nvPr/>
        </p:nvSpPr>
        <p:spPr>
          <a:xfrm>
            <a:off x="10561320" y="2999232"/>
            <a:ext cx="1069848"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3B27"/>
              </a:buClr>
              <a:buSzPts val="1050"/>
              <a:buFont typeface="Arial"/>
              <a:buNone/>
            </a:pPr>
            <a:r>
              <a:rPr b="1" i="0" lang="en-US" sz="1050" u="none" cap="none" strike="noStrike">
                <a:solidFill>
                  <a:srgbClr val="163B27"/>
                </a:solidFill>
                <a:latin typeface="Arial"/>
                <a:ea typeface="Arial"/>
                <a:cs typeface="Arial"/>
                <a:sym typeface="Arial"/>
              </a:rPr>
              <a:t>REVIEW</a:t>
            </a:r>
            <a:endParaRPr b="0" i="0" sz="1050" u="none" cap="none" strike="noStrike">
              <a:solidFill>
                <a:schemeClr val="dk1"/>
              </a:solidFill>
              <a:latin typeface="Arial"/>
              <a:ea typeface="Arial"/>
              <a:cs typeface="Arial"/>
              <a:sym typeface="Arial"/>
            </a:endParaRPr>
          </a:p>
        </p:txBody>
      </p:sp>
      <p:sp>
        <p:nvSpPr>
          <p:cNvPr id="284" name="Google Shape;284;p12"/>
          <p:cNvSpPr/>
          <p:nvPr/>
        </p:nvSpPr>
        <p:spPr>
          <a:xfrm>
            <a:off x="10570464" y="34015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History + portfolio</a:t>
            </a:r>
            <a:endParaRPr b="0" i="0" sz="950" u="none" cap="none" strike="noStrike">
              <a:solidFill>
                <a:schemeClr val="dk1"/>
              </a:solidFill>
              <a:latin typeface="Arial"/>
              <a:ea typeface="Arial"/>
              <a:cs typeface="Arial"/>
              <a:sym typeface="Arial"/>
            </a:endParaRPr>
          </a:p>
        </p:txBody>
      </p:sp>
      <p:sp>
        <p:nvSpPr>
          <p:cNvPr id="285" name="Google Shape;285;p12"/>
          <p:cNvSpPr/>
          <p:nvPr/>
        </p:nvSpPr>
        <p:spPr>
          <a:xfrm>
            <a:off x="1298448" y="4736592"/>
            <a:ext cx="9601200" cy="621792"/>
          </a:xfrm>
          <a:prstGeom prst="roundRect">
            <a:avLst>
              <a:gd fmla="val 8824" name="adj"/>
            </a:avLst>
          </a:prstGeom>
          <a:solidFill>
            <a:srgbClr val="E2EEDF"/>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1463040" y="4855464"/>
            <a:ext cx="9272016" cy="393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150"/>
              <a:buFont typeface="Arial"/>
              <a:buNone/>
            </a:pPr>
            <a:r>
              <a:rPr b="1" i="0" lang="en-US" sz="1150" u="none" cap="none" strike="noStrike">
                <a:solidFill>
                  <a:srgbClr val="24332A"/>
                </a:solidFill>
                <a:latin typeface="Arial"/>
                <a:ea typeface="Arial"/>
                <a:cs typeface="Arial"/>
                <a:sym typeface="Arial"/>
              </a:rPr>
              <a:t>Presentation rule: for every screen, explain the user action, the software work, and the evidence or limitation produced.</a:t>
            </a:r>
            <a:endParaRPr b="0" i="0" sz="1150" u="none" cap="none" strike="noStrike">
              <a:solidFill>
                <a:schemeClr val="dk1"/>
              </a:solidFill>
              <a:latin typeface="Arial"/>
              <a:ea typeface="Arial"/>
              <a:cs typeface="Arial"/>
              <a:sym typeface="Arial"/>
            </a:endParaRPr>
          </a:p>
        </p:txBody>
      </p:sp>
      <p:sp>
        <p:nvSpPr>
          <p:cNvPr id="287" name="Google Shape;287;p12"/>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3"/>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294" name="Google Shape;294;p13"/>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Register and select a field</a:t>
            </a:r>
            <a:endParaRPr b="0" i="0" sz="2700" u="none" cap="none" strike="noStrike">
              <a:solidFill>
                <a:schemeClr val="dk1"/>
              </a:solidFill>
              <a:latin typeface="Arial"/>
              <a:ea typeface="Arial"/>
              <a:cs typeface="Arial"/>
              <a:sym typeface="Arial"/>
            </a:endParaRPr>
          </a:p>
        </p:txBody>
      </p:sp>
      <p:sp>
        <p:nvSpPr>
          <p:cNvPr id="295" name="Google Shape;295;p13"/>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sidebar is the persistent project registry and the starting point for either methodology.</a:t>
            </a:r>
            <a:endParaRPr b="0" i="0" sz="1250" u="none" cap="none" strike="noStrike">
              <a:solidFill>
                <a:schemeClr val="dk1"/>
              </a:solidFill>
              <a:latin typeface="Arial"/>
              <a:ea typeface="Arial"/>
              <a:cs typeface="Arial"/>
              <a:sym typeface="Arial"/>
            </a:endParaRPr>
          </a:p>
        </p:txBody>
      </p:sp>
      <p:sp>
        <p:nvSpPr>
          <p:cNvPr id="296" name="Google Shape;296;p13"/>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1  •  SHARED</a:t>
            </a:r>
            <a:endParaRPr b="0" i="0" sz="850" u="none" cap="none" strike="noStrike">
              <a:solidFill>
                <a:schemeClr val="dk1"/>
              </a:solidFill>
              <a:latin typeface="Arial"/>
              <a:ea typeface="Arial"/>
              <a:cs typeface="Arial"/>
              <a:sym typeface="Arial"/>
            </a:endParaRPr>
          </a:p>
        </p:txBody>
      </p:sp>
      <p:sp>
        <p:nvSpPr>
          <p:cNvPr id="298" name="Google Shape;298;p13"/>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1_field_registry.png" id="299" name="Google Shape;299;p13"/>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300" name="Google Shape;300;p13"/>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field registry and selected field</a:t>
            </a:r>
            <a:endParaRPr b="0" i="0" sz="950" u="none" cap="none" strike="noStrike">
              <a:solidFill>
                <a:schemeClr val="dk1"/>
              </a:solidFill>
              <a:latin typeface="Arial"/>
              <a:ea typeface="Arial"/>
              <a:cs typeface="Arial"/>
              <a:sym typeface="Arial"/>
            </a:endParaRPr>
          </a:p>
        </p:txBody>
      </p:sp>
      <p:sp>
        <p:nvSpPr>
          <p:cNvPr id="301" name="Google Shape;301;p13"/>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303" name="Google Shape;303;p13"/>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Choose an existing field or start registration.</a:t>
            </a:r>
            <a:endParaRPr b="0" i="0" sz="1080" u="none" cap="none" strike="noStrike">
              <a:solidFill>
                <a:schemeClr val="dk1"/>
              </a:solidFill>
              <a:latin typeface="Arial"/>
              <a:ea typeface="Arial"/>
              <a:cs typeface="Arial"/>
              <a:sym typeface="Arial"/>
            </a:endParaRPr>
          </a:p>
        </p:txBody>
      </p:sp>
      <p:sp>
        <p:nvSpPr>
          <p:cNvPr id="304" name="Google Shape;304;p13"/>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306" name="Google Shape;306;p13"/>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Load geometry, metadata, field type and stored evidence by field_id.</a:t>
            </a:r>
            <a:endParaRPr b="0" i="0" sz="1080" u="none" cap="none" strike="noStrike">
              <a:solidFill>
                <a:schemeClr val="dk1"/>
              </a:solidFill>
              <a:latin typeface="Arial"/>
              <a:ea typeface="Arial"/>
              <a:cs typeface="Arial"/>
              <a:sym typeface="Arial"/>
            </a:endParaRPr>
          </a:p>
        </p:txBody>
      </p:sp>
      <p:sp>
        <p:nvSpPr>
          <p:cNvPr id="307" name="Google Shape;307;p13"/>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4"/>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314" name="Google Shape;314;p14"/>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Create a valid spatial boundary</a:t>
            </a:r>
            <a:endParaRPr b="0" i="0" sz="2700" u="none" cap="none" strike="noStrike">
              <a:solidFill>
                <a:schemeClr val="dk1"/>
              </a:solidFill>
              <a:latin typeface="Arial"/>
              <a:ea typeface="Arial"/>
              <a:cs typeface="Arial"/>
              <a:sym typeface="Arial"/>
            </a:endParaRPr>
          </a:p>
        </p:txBody>
      </p:sp>
      <p:sp>
        <p:nvSpPr>
          <p:cNvPr id="315" name="Google Shape;315;p14"/>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Terra-Audit supports file upload and direct coordinate input; geometry is validated before persistence.</a:t>
            </a:r>
            <a:endParaRPr b="0" i="0" sz="1250" u="none" cap="none" strike="noStrike">
              <a:solidFill>
                <a:schemeClr val="dk1"/>
              </a:solidFill>
              <a:latin typeface="Arial"/>
              <a:ea typeface="Arial"/>
              <a:cs typeface="Arial"/>
              <a:sym typeface="Arial"/>
            </a:endParaRPr>
          </a:p>
        </p:txBody>
      </p:sp>
      <p:sp>
        <p:nvSpPr>
          <p:cNvPr id="316" name="Google Shape;316;p14"/>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2  •  SHARED</a:t>
            </a:r>
            <a:endParaRPr b="0" i="0" sz="850" u="none" cap="none" strike="noStrike">
              <a:solidFill>
                <a:schemeClr val="dk1"/>
              </a:solidFill>
              <a:latin typeface="Arial"/>
              <a:ea typeface="Arial"/>
              <a:cs typeface="Arial"/>
              <a:sym typeface="Arial"/>
            </a:endParaRPr>
          </a:p>
        </p:txBody>
      </p:sp>
      <p:sp>
        <p:nvSpPr>
          <p:cNvPr id="318" name="Google Shape;318;p14"/>
          <p:cNvSpPr/>
          <p:nvPr/>
        </p:nvSpPr>
        <p:spPr>
          <a:xfrm>
            <a:off x="53035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2_upload_boundary.png" id="319" name="Google Shape;319;p14"/>
          <p:cNvPicPr preferRelativeResize="0"/>
          <p:nvPr/>
        </p:nvPicPr>
        <p:blipFill rotWithShape="1">
          <a:blip r:embed="rId3">
            <a:alphaModFix/>
          </a:blip>
          <a:srcRect b="0" l="0" r="0" t="0"/>
          <a:stretch/>
        </p:blipFill>
        <p:spPr>
          <a:xfrm>
            <a:off x="640080" y="1669352"/>
            <a:ext cx="5294376" cy="3308985"/>
          </a:xfrm>
          <a:prstGeom prst="rect">
            <a:avLst/>
          </a:prstGeom>
          <a:noFill/>
          <a:ln>
            <a:noFill/>
          </a:ln>
        </p:spPr>
      </p:pic>
      <p:sp>
        <p:nvSpPr>
          <p:cNvPr id="320" name="Google Shape;320;p14"/>
          <p:cNvSpPr/>
          <p:nvPr/>
        </p:nvSpPr>
        <p:spPr>
          <a:xfrm>
            <a:off x="67665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Upload GeoJSON / KML</a:t>
            </a:r>
            <a:endParaRPr b="0" i="0" sz="950" u="none" cap="none" strike="noStrike">
              <a:solidFill>
                <a:schemeClr val="dk1"/>
              </a:solidFill>
              <a:latin typeface="Arial"/>
              <a:ea typeface="Arial"/>
              <a:cs typeface="Arial"/>
              <a:sym typeface="Arial"/>
            </a:endParaRPr>
          </a:p>
        </p:txBody>
      </p:sp>
      <p:sp>
        <p:nvSpPr>
          <p:cNvPr id="321" name="Google Shape;321;p14"/>
          <p:cNvSpPr/>
          <p:nvPr/>
        </p:nvSpPr>
        <p:spPr>
          <a:xfrm>
            <a:off x="615391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3_geometry_preview_registration.png" id="322" name="Google Shape;322;p14"/>
          <p:cNvPicPr preferRelativeResize="0"/>
          <p:nvPr/>
        </p:nvPicPr>
        <p:blipFill rotWithShape="1">
          <a:blip r:embed="rId4">
            <a:alphaModFix/>
          </a:blip>
          <a:srcRect b="0" l="0" r="0" t="0"/>
          <a:stretch/>
        </p:blipFill>
        <p:spPr>
          <a:xfrm>
            <a:off x="6263640" y="1669352"/>
            <a:ext cx="5294376" cy="3308985"/>
          </a:xfrm>
          <a:prstGeom prst="rect">
            <a:avLst/>
          </a:prstGeom>
          <a:noFill/>
          <a:ln>
            <a:noFill/>
          </a:ln>
        </p:spPr>
      </p:pic>
      <p:sp>
        <p:nvSpPr>
          <p:cNvPr id="323" name="Google Shape;323;p14"/>
          <p:cNvSpPr/>
          <p:nvPr/>
        </p:nvSpPr>
        <p:spPr>
          <a:xfrm>
            <a:off x="630021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Paste coordinates and preview the polygon</a:t>
            </a:r>
            <a:endParaRPr b="0" i="0" sz="950" u="none" cap="none" strike="noStrike">
              <a:solidFill>
                <a:schemeClr val="dk1"/>
              </a:solidFill>
              <a:latin typeface="Arial"/>
              <a:ea typeface="Arial"/>
              <a:cs typeface="Arial"/>
              <a:sym typeface="Arial"/>
            </a:endParaRPr>
          </a:p>
        </p:txBody>
      </p:sp>
      <p:sp>
        <p:nvSpPr>
          <p:cNvPr id="324" name="Google Shape;324;p14"/>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326" name="Google Shape;326;p14"/>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Upload a boundary or paste latitude/longitude pairs.</a:t>
            </a:r>
            <a:endParaRPr b="0" i="0" sz="1080" u="none" cap="none" strike="noStrike">
              <a:solidFill>
                <a:schemeClr val="dk1"/>
              </a:solidFill>
              <a:latin typeface="Arial"/>
              <a:ea typeface="Arial"/>
              <a:cs typeface="Arial"/>
              <a:sym typeface="Arial"/>
            </a:endParaRPr>
          </a:p>
        </p:txBody>
      </p:sp>
      <p:sp>
        <p:nvSpPr>
          <p:cNvPr id="327" name="Google Shape;327;p14"/>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4"/>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329" name="Google Shape;329;p14"/>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Parse safely, validate the polygon and compute area before save.</a:t>
            </a:r>
            <a:endParaRPr b="0" i="0" sz="1080" u="none" cap="none" strike="noStrike">
              <a:solidFill>
                <a:schemeClr val="dk1"/>
              </a:solidFill>
              <a:latin typeface="Arial"/>
              <a:ea typeface="Arial"/>
              <a:cs typeface="Arial"/>
              <a:sym typeface="Arial"/>
            </a:endParaRPr>
          </a:p>
        </p:txBody>
      </p:sp>
      <p:sp>
        <p:nvSpPr>
          <p:cNvPr id="330" name="Google Shape;330;p14"/>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5"/>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337" name="Google Shape;337;p15"/>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Route the workflow by agricultural project type</a:t>
            </a:r>
            <a:endParaRPr b="0" i="0" sz="2700" u="none" cap="none" strike="noStrike">
              <a:solidFill>
                <a:schemeClr val="dk1"/>
              </a:solidFill>
              <a:latin typeface="Arial"/>
              <a:ea typeface="Arial"/>
              <a:cs typeface="Arial"/>
              <a:sym typeface="Arial"/>
            </a:endParaRPr>
          </a:p>
        </p:txBody>
      </p:sp>
      <p:sp>
        <p:nvSpPr>
          <p:cNvPr id="338" name="Google Shape;338;p15"/>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Selecting Cropland ALM changes the available evidence and calculation components.</a:t>
            </a:r>
            <a:endParaRPr b="0" i="0" sz="1250" u="none" cap="none" strike="noStrike">
              <a:solidFill>
                <a:schemeClr val="dk1"/>
              </a:solidFill>
              <a:latin typeface="Arial"/>
              <a:ea typeface="Arial"/>
              <a:cs typeface="Arial"/>
              <a:sym typeface="Arial"/>
            </a:endParaRPr>
          </a:p>
        </p:txBody>
      </p:sp>
      <p:sp>
        <p:nvSpPr>
          <p:cNvPr id="339" name="Google Shape;339;p15"/>
          <p:cNvSpPr/>
          <p:nvPr/>
        </p:nvSpPr>
        <p:spPr>
          <a:xfrm>
            <a:off x="9802368" y="347472"/>
            <a:ext cx="1783080" cy="393192"/>
          </a:xfrm>
          <a:prstGeom prst="roundRect">
            <a:avLst>
              <a:gd fmla="val 11628" name="adj"/>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3  •  CROPLAND</a:t>
            </a:r>
            <a:endParaRPr b="0" i="0" sz="850" u="none" cap="none" strike="noStrike">
              <a:solidFill>
                <a:schemeClr val="dk1"/>
              </a:solidFill>
              <a:latin typeface="Arial"/>
              <a:ea typeface="Arial"/>
              <a:cs typeface="Arial"/>
              <a:sym typeface="Arial"/>
            </a:endParaRPr>
          </a:p>
        </p:txBody>
      </p:sp>
      <p:sp>
        <p:nvSpPr>
          <p:cNvPr id="341" name="Google Shape;341;p15"/>
          <p:cNvSpPr/>
          <p:nvPr/>
        </p:nvSpPr>
        <p:spPr>
          <a:xfrm>
            <a:off x="53035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1_cropland_methodology_routing.png" id="342" name="Google Shape;342;p15"/>
          <p:cNvPicPr preferRelativeResize="0"/>
          <p:nvPr/>
        </p:nvPicPr>
        <p:blipFill rotWithShape="1">
          <a:blip r:embed="rId3">
            <a:alphaModFix/>
          </a:blip>
          <a:srcRect b="0" l="0" r="0" t="0"/>
          <a:stretch/>
        </p:blipFill>
        <p:spPr>
          <a:xfrm>
            <a:off x="640080" y="1669352"/>
            <a:ext cx="5294376" cy="3308985"/>
          </a:xfrm>
          <a:prstGeom prst="rect">
            <a:avLst/>
          </a:prstGeom>
          <a:noFill/>
          <a:ln>
            <a:noFill/>
          </a:ln>
        </p:spPr>
      </p:pic>
      <p:sp>
        <p:nvSpPr>
          <p:cNvPr id="343" name="Google Shape;343;p15"/>
          <p:cNvSpPr/>
          <p:nvPr/>
        </p:nvSpPr>
        <p:spPr>
          <a:xfrm>
            <a:off x="67665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UI — Cropland ALM field selected</a:t>
            </a:r>
            <a:endParaRPr b="0" i="0" sz="950" u="none" cap="none" strike="noStrike">
              <a:solidFill>
                <a:schemeClr val="dk1"/>
              </a:solidFill>
              <a:latin typeface="Arial"/>
              <a:ea typeface="Arial"/>
              <a:cs typeface="Arial"/>
              <a:sym typeface="Arial"/>
            </a:endParaRPr>
          </a:p>
        </p:txBody>
      </p:sp>
      <p:sp>
        <p:nvSpPr>
          <p:cNvPr id="344" name="Google Shape;344;p15"/>
          <p:cNvSpPr/>
          <p:nvPr/>
        </p:nvSpPr>
        <p:spPr>
          <a:xfrm>
            <a:off x="615391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1.png" id="345" name="Google Shape;345;p15"/>
          <p:cNvPicPr preferRelativeResize="0"/>
          <p:nvPr/>
        </p:nvPicPr>
        <p:blipFill rotWithShape="1">
          <a:blip r:embed="rId4">
            <a:alphaModFix/>
          </a:blip>
          <a:srcRect b="0" l="0" r="0" t="0"/>
          <a:stretch/>
        </p:blipFill>
        <p:spPr>
          <a:xfrm>
            <a:off x="6878060" y="1499616"/>
            <a:ext cx="4065536" cy="3648456"/>
          </a:xfrm>
          <a:prstGeom prst="rect">
            <a:avLst/>
          </a:prstGeom>
          <a:noFill/>
          <a:ln>
            <a:noFill/>
          </a:ln>
        </p:spPr>
      </p:pic>
      <p:sp>
        <p:nvSpPr>
          <p:cNvPr id="346" name="Google Shape;346;p15"/>
          <p:cNvSpPr/>
          <p:nvPr/>
        </p:nvSpPr>
        <p:spPr>
          <a:xfrm>
            <a:off x="630021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Cropland ALM use case</a:t>
            </a:r>
            <a:endParaRPr b="0" i="0" sz="950" u="none" cap="none" strike="noStrike">
              <a:solidFill>
                <a:schemeClr val="dk1"/>
              </a:solidFill>
              <a:latin typeface="Arial"/>
              <a:ea typeface="Arial"/>
              <a:cs typeface="Arial"/>
              <a:sym typeface="Arial"/>
            </a:endParaRPr>
          </a:p>
        </p:txBody>
      </p:sp>
      <p:sp>
        <p:nvSpPr>
          <p:cNvPr id="347" name="Google Shape;347;p15"/>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349" name="Google Shape;349;p15"/>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Select rice_awd or cropland_alm_vm0042 during registration.</a:t>
            </a:r>
            <a:endParaRPr b="0" i="0" sz="1080" u="none" cap="none" strike="noStrike">
              <a:solidFill>
                <a:schemeClr val="dk1"/>
              </a:solidFill>
              <a:latin typeface="Arial"/>
              <a:ea typeface="Arial"/>
              <a:cs typeface="Arial"/>
              <a:sym typeface="Arial"/>
            </a:endParaRPr>
          </a:p>
        </p:txBody>
      </p:sp>
      <p:sp>
        <p:nvSpPr>
          <p:cNvPr id="350" name="Google Shape;350;p15"/>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352" name="Google Shape;352;p15"/>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Dispatch the correct tabs, validators, engine and report content.</a:t>
            </a:r>
            <a:endParaRPr b="0" i="0" sz="1080" u="none" cap="none" strike="noStrike">
              <a:solidFill>
                <a:schemeClr val="dk1"/>
              </a:solidFill>
              <a:latin typeface="Arial"/>
              <a:ea typeface="Arial"/>
              <a:cs typeface="Arial"/>
              <a:sym typeface="Arial"/>
            </a:endParaRPr>
          </a:p>
        </p:txBody>
      </p:sp>
      <p:sp>
        <p:nvSpPr>
          <p:cNvPr id="353" name="Google Shape;353;p15"/>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6"/>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360" name="Google Shape;360;p16"/>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Define the rice monitoring window</a:t>
            </a:r>
            <a:endParaRPr b="0" i="0" sz="2700" u="none" cap="none" strike="noStrike">
              <a:solidFill>
                <a:schemeClr val="dk1"/>
              </a:solidFill>
              <a:latin typeface="Arial"/>
              <a:ea typeface="Arial"/>
              <a:cs typeface="Arial"/>
              <a:sym typeface="Arial"/>
            </a:endParaRPr>
          </a:p>
        </p:txBody>
      </p:sp>
      <p:sp>
        <p:nvSpPr>
          <p:cNvPr id="361" name="Google Shape;361;p16"/>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execution scope is explicit so cached observations remain reproducible.</a:t>
            </a:r>
            <a:endParaRPr b="0" i="0" sz="1250" u="none" cap="none" strike="noStrike">
              <a:solidFill>
                <a:schemeClr val="dk1"/>
              </a:solidFill>
              <a:latin typeface="Arial"/>
              <a:ea typeface="Arial"/>
              <a:cs typeface="Arial"/>
              <a:sym typeface="Arial"/>
            </a:endParaRPr>
          </a:p>
        </p:txBody>
      </p:sp>
      <p:sp>
        <p:nvSpPr>
          <p:cNvPr id="362" name="Google Shape;362;p16"/>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4  •  RICE</a:t>
            </a:r>
            <a:endParaRPr b="0" i="0" sz="850" u="none" cap="none" strike="noStrike">
              <a:solidFill>
                <a:schemeClr val="dk1"/>
              </a:solidFill>
              <a:latin typeface="Arial"/>
              <a:ea typeface="Arial"/>
              <a:cs typeface="Arial"/>
              <a:sym typeface="Arial"/>
            </a:endParaRPr>
          </a:p>
        </p:txBody>
      </p:sp>
      <p:sp>
        <p:nvSpPr>
          <p:cNvPr id="364" name="Google Shape;364;p16"/>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4_rice_execution_scope.png" id="365" name="Google Shape;365;p16"/>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366" name="Google Shape;366;p16"/>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selected field and monitoring window</a:t>
            </a:r>
            <a:endParaRPr b="0" i="0" sz="950" u="none" cap="none" strike="noStrike">
              <a:solidFill>
                <a:schemeClr val="dk1"/>
              </a:solidFill>
              <a:latin typeface="Arial"/>
              <a:ea typeface="Arial"/>
              <a:cs typeface="Arial"/>
              <a:sym typeface="Arial"/>
            </a:endParaRPr>
          </a:p>
        </p:txBody>
      </p:sp>
      <p:sp>
        <p:nvSpPr>
          <p:cNvPr id="367" name="Google Shape;367;p16"/>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369" name="Google Shape;369;p16"/>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Select dates and run the signal analytics workflow.</a:t>
            </a:r>
            <a:endParaRPr b="0" i="0" sz="1080" u="none" cap="none" strike="noStrike">
              <a:solidFill>
                <a:schemeClr val="dk1"/>
              </a:solidFill>
              <a:latin typeface="Arial"/>
              <a:ea typeface="Arial"/>
              <a:cs typeface="Arial"/>
              <a:sym typeface="Arial"/>
            </a:endParaRPr>
          </a:p>
        </p:txBody>
      </p:sp>
      <p:sp>
        <p:nvSpPr>
          <p:cNvPr id="370" name="Google Shape;370;p16"/>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372" name="Google Shape;372;p16"/>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Check SQLite first; call Earth Engine only on a cache miss.</a:t>
            </a:r>
            <a:endParaRPr b="0" i="0" sz="1080" u="none" cap="none" strike="noStrike">
              <a:solidFill>
                <a:schemeClr val="dk1"/>
              </a:solidFill>
              <a:latin typeface="Arial"/>
              <a:ea typeface="Arial"/>
              <a:cs typeface="Arial"/>
              <a:sym typeface="Arial"/>
            </a:endParaRPr>
          </a:p>
        </p:txBody>
      </p:sp>
      <p:sp>
        <p:nvSpPr>
          <p:cNvPr id="373" name="Google Shape;373;p16"/>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7"/>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380" name="Google Shape;380;p17"/>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Interpret Sentinel-1 as auditable AWD evidence</a:t>
            </a:r>
            <a:endParaRPr b="0" i="0" sz="2700" u="none" cap="none" strike="noStrike">
              <a:solidFill>
                <a:schemeClr val="dk1"/>
              </a:solidFill>
              <a:latin typeface="Arial"/>
              <a:ea typeface="Arial"/>
              <a:cs typeface="Arial"/>
              <a:sym typeface="Arial"/>
            </a:endParaRPr>
          </a:p>
        </p:txBody>
      </p:sp>
      <p:sp>
        <p:nvSpPr>
          <p:cNvPr id="381" name="Google Shape;381;p17"/>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application turns a time series into flooded states, drydown events and an observation ledger.</a:t>
            </a:r>
            <a:endParaRPr b="0" i="0" sz="1250" u="none" cap="none" strike="noStrike">
              <a:solidFill>
                <a:schemeClr val="dk1"/>
              </a:solidFill>
              <a:latin typeface="Arial"/>
              <a:ea typeface="Arial"/>
              <a:cs typeface="Arial"/>
              <a:sym typeface="Arial"/>
            </a:endParaRPr>
          </a:p>
        </p:txBody>
      </p:sp>
      <p:sp>
        <p:nvSpPr>
          <p:cNvPr id="382" name="Google Shape;382;p17"/>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5  •  RICE</a:t>
            </a:r>
            <a:endParaRPr b="0" i="0" sz="850" u="none" cap="none" strike="noStrike">
              <a:solidFill>
                <a:schemeClr val="dk1"/>
              </a:solidFill>
              <a:latin typeface="Arial"/>
              <a:ea typeface="Arial"/>
              <a:cs typeface="Arial"/>
              <a:sym typeface="Arial"/>
            </a:endParaRPr>
          </a:p>
        </p:txBody>
      </p:sp>
      <p:sp>
        <p:nvSpPr>
          <p:cNvPr id="384" name="Google Shape;384;p17"/>
          <p:cNvSpPr/>
          <p:nvPr/>
        </p:nvSpPr>
        <p:spPr>
          <a:xfrm>
            <a:off x="53035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5_rice_analytics_results.png" id="385" name="Google Shape;385;p17"/>
          <p:cNvPicPr preferRelativeResize="0"/>
          <p:nvPr/>
        </p:nvPicPr>
        <p:blipFill rotWithShape="1">
          <a:blip r:embed="rId3">
            <a:alphaModFix/>
          </a:blip>
          <a:srcRect b="0" l="0" r="0" t="0"/>
          <a:stretch/>
        </p:blipFill>
        <p:spPr>
          <a:xfrm>
            <a:off x="640080" y="1669352"/>
            <a:ext cx="5294376" cy="3308985"/>
          </a:xfrm>
          <a:prstGeom prst="rect">
            <a:avLst/>
          </a:prstGeom>
          <a:noFill/>
          <a:ln>
            <a:noFill/>
          </a:ln>
        </p:spPr>
      </p:pic>
      <p:sp>
        <p:nvSpPr>
          <p:cNvPr id="386" name="Google Shape;386;p17"/>
          <p:cNvSpPr/>
          <p:nvPr/>
        </p:nvSpPr>
        <p:spPr>
          <a:xfrm>
            <a:off x="67665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Signal analytics and detected events</a:t>
            </a:r>
            <a:endParaRPr b="0" i="0" sz="950" u="none" cap="none" strike="noStrike">
              <a:solidFill>
                <a:schemeClr val="dk1"/>
              </a:solidFill>
              <a:latin typeface="Arial"/>
              <a:ea typeface="Arial"/>
              <a:cs typeface="Arial"/>
              <a:sym typeface="Arial"/>
            </a:endParaRPr>
          </a:p>
        </p:txBody>
      </p:sp>
      <p:sp>
        <p:nvSpPr>
          <p:cNvPr id="387" name="Google Shape;387;p17"/>
          <p:cNvSpPr/>
          <p:nvPr/>
        </p:nvSpPr>
        <p:spPr>
          <a:xfrm>
            <a:off x="615391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6_rice_observation_ledger.png" id="388" name="Google Shape;388;p17"/>
          <p:cNvPicPr preferRelativeResize="0"/>
          <p:nvPr/>
        </p:nvPicPr>
        <p:blipFill rotWithShape="1">
          <a:blip r:embed="rId4">
            <a:alphaModFix/>
          </a:blip>
          <a:srcRect b="0" l="0" r="0" t="0"/>
          <a:stretch/>
        </p:blipFill>
        <p:spPr>
          <a:xfrm>
            <a:off x="6263640" y="1669352"/>
            <a:ext cx="5294376" cy="3308985"/>
          </a:xfrm>
          <a:prstGeom prst="rect">
            <a:avLst/>
          </a:prstGeom>
          <a:noFill/>
          <a:ln>
            <a:noFill/>
          </a:ln>
        </p:spPr>
      </p:pic>
      <p:sp>
        <p:nvSpPr>
          <p:cNvPr id="389" name="Google Shape;389;p17"/>
          <p:cNvSpPr/>
          <p:nvPr/>
        </p:nvSpPr>
        <p:spPr>
          <a:xfrm>
            <a:off x="630021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Observation-level evidence ledger</a:t>
            </a:r>
            <a:endParaRPr b="0" i="0" sz="950" u="none" cap="none" strike="noStrike">
              <a:solidFill>
                <a:schemeClr val="dk1"/>
              </a:solidFill>
              <a:latin typeface="Arial"/>
              <a:ea typeface="Arial"/>
              <a:cs typeface="Arial"/>
              <a:sym typeface="Arial"/>
            </a:endParaRPr>
          </a:p>
        </p:txBody>
      </p:sp>
      <p:sp>
        <p:nvSpPr>
          <p:cNvPr id="390" name="Google Shape;390;p17"/>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7"/>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392" name="Google Shape;392;p17"/>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Review the chart, derived season and detected AWD events.</a:t>
            </a:r>
            <a:endParaRPr b="0" i="0" sz="1080" u="none" cap="none" strike="noStrike">
              <a:solidFill>
                <a:schemeClr val="dk1"/>
              </a:solidFill>
              <a:latin typeface="Arial"/>
              <a:ea typeface="Arial"/>
              <a:cs typeface="Arial"/>
              <a:sym typeface="Arial"/>
            </a:endParaRPr>
          </a:p>
        </p:txBody>
      </p:sp>
      <p:sp>
        <p:nvSpPr>
          <p:cNvPr id="393" name="Google Shape;393;p17"/>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7"/>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395" name="Google Shape;395;p17"/>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Smooth VV/VH, apply the transparent gate and retain each observation.</a:t>
            </a:r>
            <a:endParaRPr b="0" i="0" sz="1080" u="none" cap="none" strike="noStrike">
              <a:solidFill>
                <a:schemeClr val="dk1"/>
              </a:solidFill>
              <a:latin typeface="Arial"/>
              <a:ea typeface="Arial"/>
              <a:cs typeface="Arial"/>
              <a:sym typeface="Arial"/>
            </a:endParaRPr>
          </a:p>
        </p:txBody>
      </p:sp>
      <p:sp>
        <p:nvSpPr>
          <p:cNvPr id="396" name="Google Shape;396;p17"/>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8"/>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403" name="Google Shape;403;p18"/>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Calculate the VM0051 rice estimate</a:t>
            </a:r>
            <a:endParaRPr b="0" i="0" sz="2700" u="none" cap="none" strike="noStrike">
              <a:solidFill>
                <a:schemeClr val="dk1"/>
              </a:solidFill>
              <a:latin typeface="Arial"/>
              <a:ea typeface="Arial"/>
              <a:cs typeface="Arial"/>
              <a:sym typeface="Arial"/>
            </a:endParaRPr>
          </a:p>
        </p:txBody>
      </p:sp>
      <p:sp>
        <p:nvSpPr>
          <p:cNvPr id="404" name="Google Shape;404;p18"/>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Inputs and intermediate values remain visible before the final estimate.</a:t>
            </a:r>
            <a:endParaRPr b="0" i="0" sz="1250" u="none" cap="none" strike="noStrike">
              <a:solidFill>
                <a:schemeClr val="dk1"/>
              </a:solidFill>
              <a:latin typeface="Arial"/>
              <a:ea typeface="Arial"/>
              <a:cs typeface="Arial"/>
              <a:sym typeface="Arial"/>
            </a:endParaRPr>
          </a:p>
        </p:txBody>
      </p:sp>
      <p:sp>
        <p:nvSpPr>
          <p:cNvPr id="405" name="Google Shape;405;p18"/>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8"/>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6  •  RICE</a:t>
            </a:r>
            <a:endParaRPr b="0" i="0" sz="850" u="none" cap="none" strike="noStrike">
              <a:solidFill>
                <a:schemeClr val="dk1"/>
              </a:solidFill>
              <a:latin typeface="Arial"/>
              <a:ea typeface="Arial"/>
              <a:cs typeface="Arial"/>
              <a:sym typeface="Arial"/>
            </a:endParaRPr>
          </a:p>
        </p:txBody>
      </p:sp>
      <p:sp>
        <p:nvSpPr>
          <p:cNvPr id="407" name="Google Shape;407;p18"/>
          <p:cNvSpPr/>
          <p:nvPr/>
        </p:nvSpPr>
        <p:spPr>
          <a:xfrm>
            <a:off x="53035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7_vm0051_inputs.png" id="408" name="Google Shape;408;p18"/>
          <p:cNvPicPr preferRelativeResize="0"/>
          <p:nvPr/>
        </p:nvPicPr>
        <p:blipFill rotWithShape="1">
          <a:blip r:embed="rId3">
            <a:alphaModFix/>
          </a:blip>
          <a:srcRect b="0" l="0" r="0" t="0"/>
          <a:stretch/>
        </p:blipFill>
        <p:spPr>
          <a:xfrm>
            <a:off x="640080" y="1669352"/>
            <a:ext cx="5294376" cy="3308985"/>
          </a:xfrm>
          <a:prstGeom prst="rect">
            <a:avLst/>
          </a:prstGeom>
          <a:noFill/>
          <a:ln>
            <a:noFill/>
          </a:ln>
        </p:spPr>
      </p:pic>
      <p:sp>
        <p:nvSpPr>
          <p:cNvPr id="409" name="Google Shape;409;p18"/>
          <p:cNvSpPr/>
          <p:nvPr/>
        </p:nvSpPr>
        <p:spPr>
          <a:xfrm>
            <a:off x="67665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VM0051 inputs populated from field and analytics</a:t>
            </a:r>
            <a:endParaRPr b="0" i="0" sz="950" u="none" cap="none" strike="noStrike">
              <a:solidFill>
                <a:schemeClr val="dk1"/>
              </a:solidFill>
              <a:latin typeface="Arial"/>
              <a:ea typeface="Arial"/>
              <a:cs typeface="Arial"/>
              <a:sym typeface="Arial"/>
            </a:endParaRPr>
          </a:p>
        </p:txBody>
      </p:sp>
      <p:sp>
        <p:nvSpPr>
          <p:cNvPr id="410" name="Google Shape;410;p18"/>
          <p:cNvSpPr/>
          <p:nvPr/>
        </p:nvSpPr>
        <p:spPr>
          <a:xfrm>
            <a:off x="615391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8_vm0051_results.png" id="411" name="Google Shape;411;p18"/>
          <p:cNvPicPr preferRelativeResize="0"/>
          <p:nvPr/>
        </p:nvPicPr>
        <p:blipFill rotWithShape="1">
          <a:blip r:embed="rId4">
            <a:alphaModFix/>
          </a:blip>
          <a:srcRect b="0" l="0" r="0" t="0"/>
          <a:stretch/>
        </p:blipFill>
        <p:spPr>
          <a:xfrm>
            <a:off x="6263640" y="1669352"/>
            <a:ext cx="5294376" cy="3308985"/>
          </a:xfrm>
          <a:prstGeom prst="rect">
            <a:avLst/>
          </a:prstGeom>
          <a:noFill/>
          <a:ln>
            <a:noFill/>
          </a:ln>
        </p:spPr>
      </p:pic>
      <p:sp>
        <p:nvSpPr>
          <p:cNvPr id="412" name="Google Shape;412;p18"/>
          <p:cNvSpPr/>
          <p:nvPr/>
        </p:nvSpPr>
        <p:spPr>
          <a:xfrm>
            <a:off x="630021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Calculated baseline, project and deduction values</a:t>
            </a:r>
            <a:endParaRPr b="0" i="0" sz="950" u="none" cap="none" strike="noStrike">
              <a:solidFill>
                <a:schemeClr val="dk1"/>
              </a:solidFill>
              <a:latin typeface="Arial"/>
              <a:ea typeface="Arial"/>
              <a:cs typeface="Arial"/>
              <a:sym typeface="Arial"/>
            </a:endParaRPr>
          </a:p>
        </p:txBody>
      </p:sp>
      <p:sp>
        <p:nvSpPr>
          <p:cNvPr id="413" name="Google Shape;413;p18"/>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8"/>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415" name="Google Shape;415;p18"/>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Review assumptions, then run the rice accounting engine.</a:t>
            </a:r>
            <a:endParaRPr b="0" i="0" sz="1080" u="none" cap="none" strike="noStrike">
              <a:solidFill>
                <a:schemeClr val="dk1"/>
              </a:solidFill>
              <a:latin typeface="Arial"/>
              <a:ea typeface="Arial"/>
              <a:cs typeface="Arial"/>
              <a:sym typeface="Arial"/>
            </a:endParaRPr>
          </a:p>
        </p:txBody>
      </p:sp>
      <p:sp>
        <p:nvSpPr>
          <p:cNvPr id="416" name="Google Shape;416;p18"/>
          <p:cNvSpPr/>
          <p:nvPr/>
        </p:nvSpPr>
        <p:spPr>
          <a:xfrm>
            <a:off x="6199632" y="5687568"/>
            <a:ext cx="5394960" cy="594360"/>
          </a:xfrm>
          <a:prstGeom prst="roundRect">
            <a:avLst>
              <a:gd fmla="val 6154" name="adj"/>
            </a:avLst>
          </a:prstGeom>
          <a:solidFill>
            <a:srgbClr val="F2EAD9"/>
          </a:solidFill>
          <a:ln cap="flat" cmpd="sng" w="9525">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8"/>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8A4F"/>
              </a:buClr>
              <a:buSzPts val="850"/>
              <a:buFont typeface="Arial"/>
              <a:buNone/>
            </a:pPr>
            <a:r>
              <a:rPr b="1" i="0" lang="en-US" sz="850" u="none" cap="none" strike="noStrike">
                <a:solidFill>
                  <a:srgbClr val="B08A4F"/>
                </a:solidFill>
                <a:latin typeface="Arial"/>
                <a:ea typeface="Arial"/>
                <a:cs typeface="Arial"/>
                <a:sym typeface="Arial"/>
              </a:rPr>
              <a:t>DISCLOSURE</a:t>
            </a:r>
            <a:endParaRPr b="0" i="0" sz="850" u="none" cap="none" strike="noStrike">
              <a:solidFill>
                <a:schemeClr val="dk1"/>
              </a:solidFill>
              <a:latin typeface="Arial"/>
              <a:ea typeface="Arial"/>
              <a:cs typeface="Arial"/>
              <a:sym typeface="Arial"/>
            </a:endParaRPr>
          </a:p>
        </p:txBody>
      </p:sp>
      <p:sp>
        <p:nvSpPr>
          <p:cNvPr id="418" name="Google Shape;418;p18"/>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Known UI defect: the visible “Tier 2” label should read QA3 / Tier 1 regional defaults.</a:t>
            </a:r>
            <a:endParaRPr b="0" i="0" sz="1080" u="none" cap="none" strike="noStrike">
              <a:solidFill>
                <a:schemeClr val="dk1"/>
              </a:solidFill>
              <a:latin typeface="Arial"/>
              <a:ea typeface="Arial"/>
              <a:cs typeface="Arial"/>
              <a:sym typeface="Arial"/>
            </a:endParaRPr>
          </a:p>
        </p:txBody>
      </p:sp>
      <p:sp>
        <p:nvSpPr>
          <p:cNvPr id="419" name="Google Shape;419;p18"/>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9"/>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426" name="Google Shape;426;p19"/>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Expose the VM0051 audit trail</a:t>
            </a:r>
            <a:endParaRPr b="0" i="0" sz="2700" u="none" cap="none" strike="noStrike">
              <a:solidFill>
                <a:schemeClr val="dk1"/>
              </a:solidFill>
              <a:latin typeface="Arial"/>
              <a:ea typeface="Arial"/>
              <a:cs typeface="Arial"/>
              <a:sym typeface="Arial"/>
            </a:endParaRPr>
          </a:p>
        </p:txBody>
      </p:sp>
      <p:sp>
        <p:nvSpPr>
          <p:cNvPr id="427" name="Google Shape;427;p19"/>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A reviewer can reconstruct the estimate from disclosed equations and intermediate values.</a:t>
            </a:r>
            <a:endParaRPr b="0" i="0" sz="1250" u="none" cap="none" strike="noStrike">
              <a:solidFill>
                <a:schemeClr val="dk1"/>
              </a:solidFill>
              <a:latin typeface="Arial"/>
              <a:ea typeface="Arial"/>
              <a:cs typeface="Arial"/>
              <a:sym typeface="Arial"/>
            </a:endParaRPr>
          </a:p>
        </p:txBody>
      </p:sp>
      <p:sp>
        <p:nvSpPr>
          <p:cNvPr id="428" name="Google Shape;428;p19"/>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7  •  RICE</a:t>
            </a:r>
            <a:endParaRPr b="0" i="0" sz="850" u="none" cap="none" strike="noStrike">
              <a:solidFill>
                <a:schemeClr val="dk1"/>
              </a:solidFill>
              <a:latin typeface="Arial"/>
              <a:ea typeface="Arial"/>
              <a:cs typeface="Arial"/>
              <a:sym typeface="Arial"/>
            </a:endParaRPr>
          </a:p>
        </p:txBody>
      </p:sp>
      <p:sp>
        <p:nvSpPr>
          <p:cNvPr id="430" name="Google Shape;430;p19"/>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09_vm0051_audit_trail.png" id="431" name="Google Shape;431;p19"/>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432" name="Google Shape;432;p19"/>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VM0051 equations, factors and audit steps</a:t>
            </a:r>
            <a:endParaRPr b="0" i="0" sz="950" u="none" cap="none" strike="noStrike">
              <a:solidFill>
                <a:schemeClr val="dk1"/>
              </a:solidFill>
              <a:latin typeface="Arial"/>
              <a:ea typeface="Arial"/>
              <a:cs typeface="Arial"/>
              <a:sym typeface="Arial"/>
            </a:endParaRPr>
          </a:p>
        </p:txBody>
      </p:sp>
      <p:sp>
        <p:nvSpPr>
          <p:cNvPr id="433" name="Google Shape;433;p19"/>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435" name="Google Shape;435;p19"/>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Open the methodology audit section and inspect each step.</a:t>
            </a:r>
            <a:endParaRPr b="0" i="0" sz="1080" u="none" cap="none" strike="noStrike">
              <a:solidFill>
                <a:schemeClr val="dk1"/>
              </a:solidFill>
              <a:latin typeface="Arial"/>
              <a:ea typeface="Arial"/>
              <a:cs typeface="Arial"/>
              <a:sym typeface="Arial"/>
            </a:endParaRPr>
          </a:p>
        </p:txBody>
      </p:sp>
      <p:sp>
        <p:nvSpPr>
          <p:cNvPr id="436" name="Google Shape;436;p19"/>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438" name="Google Shape;438;p19"/>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Present equations, factor choices, deductions and final floor-at-zero logic.</a:t>
            </a:r>
            <a:endParaRPr b="0" i="0" sz="1080" u="none" cap="none" strike="noStrike">
              <a:solidFill>
                <a:schemeClr val="dk1"/>
              </a:solidFill>
              <a:latin typeface="Arial"/>
              <a:ea typeface="Arial"/>
              <a:cs typeface="Arial"/>
              <a:sym typeface="Arial"/>
            </a:endParaRPr>
          </a:p>
        </p:txBody>
      </p:sp>
      <p:sp>
        <p:nvSpPr>
          <p:cNvPr id="439" name="Google Shape;439;p19"/>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0"/>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446" name="Google Shape;446;p20"/>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Export the rice evidence package</a:t>
            </a:r>
            <a:endParaRPr b="0" i="0" sz="2700" u="none" cap="none" strike="noStrike">
              <a:solidFill>
                <a:schemeClr val="dk1"/>
              </a:solidFill>
              <a:latin typeface="Arial"/>
              <a:ea typeface="Arial"/>
              <a:cs typeface="Arial"/>
              <a:sym typeface="Arial"/>
            </a:endParaRPr>
          </a:p>
        </p:txBody>
      </p:sp>
      <p:sp>
        <p:nvSpPr>
          <p:cNvPr id="447" name="Google Shape;447;p20"/>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calculation can leave the dashboard as auditor-readable and machine-readable evidence.</a:t>
            </a:r>
            <a:endParaRPr b="0" i="0" sz="1250" u="none" cap="none" strike="noStrike">
              <a:solidFill>
                <a:schemeClr val="dk1"/>
              </a:solidFill>
              <a:latin typeface="Arial"/>
              <a:ea typeface="Arial"/>
              <a:cs typeface="Arial"/>
              <a:sym typeface="Arial"/>
            </a:endParaRPr>
          </a:p>
        </p:txBody>
      </p:sp>
      <p:sp>
        <p:nvSpPr>
          <p:cNvPr id="448" name="Google Shape;448;p20"/>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0"/>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8  •  RICE</a:t>
            </a:r>
            <a:endParaRPr b="0" i="0" sz="850" u="none" cap="none" strike="noStrike">
              <a:solidFill>
                <a:schemeClr val="dk1"/>
              </a:solidFill>
              <a:latin typeface="Arial"/>
              <a:ea typeface="Arial"/>
              <a:cs typeface="Arial"/>
              <a:sym typeface="Arial"/>
            </a:endParaRPr>
          </a:p>
        </p:txBody>
      </p:sp>
      <p:sp>
        <p:nvSpPr>
          <p:cNvPr id="450" name="Google Shape;450;p20"/>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0_vm0051_evidence_exports.png" id="451" name="Google Shape;451;p20"/>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452" name="Google Shape;452;p20"/>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VM0051 PDF, JSON and time-series downloads</a:t>
            </a:r>
            <a:endParaRPr b="0" i="0" sz="950" u="none" cap="none" strike="noStrike">
              <a:solidFill>
                <a:schemeClr val="dk1"/>
              </a:solidFill>
              <a:latin typeface="Arial"/>
              <a:ea typeface="Arial"/>
              <a:cs typeface="Arial"/>
              <a:sym typeface="Arial"/>
            </a:endParaRPr>
          </a:p>
        </p:txBody>
      </p:sp>
      <p:sp>
        <p:nvSpPr>
          <p:cNvPr id="453" name="Google Shape;453;p20"/>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0"/>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455" name="Google Shape;455;p20"/>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Download the report, audit JSON and observation CSV.</a:t>
            </a:r>
            <a:endParaRPr b="0" i="0" sz="1080" u="none" cap="none" strike="noStrike">
              <a:solidFill>
                <a:schemeClr val="dk1"/>
              </a:solidFill>
              <a:latin typeface="Arial"/>
              <a:ea typeface="Arial"/>
              <a:cs typeface="Arial"/>
              <a:sym typeface="Arial"/>
            </a:endParaRPr>
          </a:p>
        </p:txBody>
      </p:sp>
      <p:sp>
        <p:nvSpPr>
          <p:cNvPr id="456" name="Google Shape;456;p20"/>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0"/>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458" name="Google Shape;458;p20"/>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Bind current inputs, outputs and observation provenance into export files.</a:t>
            </a:r>
            <a:endParaRPr b="0" i="0" sz="1080" u="none" cap="none" strike="noStrike">
              <a:solidFill>
                <a:schemeClr val="dk1"/>
              </a:solidFill>
              <a:latin typeface="Arial"/>
              <a:ea typeface="Arial"/>
              <a:cs typeface="Arial"/>
              <a:sym typeface="Arial"/>
            </a:endParaRPr>
          </a:p>
        </p:txBody>
      </p:sp>
      <p:sp>
        <p:nvSpPr>
          <p:cNvPr id="459" name="Google Shape;459;p20"/>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1"/>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466" name="Google Shape;466;p21"/>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Record baseline and project management practices</a:t>
            </a:r>
            <a:endParaRPr b="0" i="0" sz="2700" u="none" cap="none" strike="noStrike">
              <a:solidFill>
                <a:schemeClr val="dk1"/>
              </a:solidFill>
              <a:latin typeface="Arial"/>
              <a:ea typeface="Arial"/>
              <a:cs typeface="Arial"/>
              <a:sym typeface="Arial"/>
            </a:endParaRPr>
          </a:p>
        </p:txBody>
      </p:sp>
      <p:sp>
        <p:nvSpPr>
          <p:cNvPr id="467" name="Google Shape;467;p21"/>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Cropland ALM uses explicit practice evidence rather than the rice SAR detector.</a:t>
            </a:r>
            <a:endParaRPr b="0" i="0" sz="1250" u="none" cap="none" strike="noStrike">
              <a:solidFill>
                <a:schemeClr val="dk1"/>
              </a:solidFill>
              <a:latin typeface="Arial"/>
              <a:ea typeface="Arial"/>
              <a:cs typeface="Arial"/>
              <a:sym typeface="Arial"/>
            </a:endParaRPr>
          </a:p>
        </p:txBody>
      </p:sp>
      <p:sp>
        <p:nvSpPr>
          <p:cNvPr id="468" name="Google Shape;468;p21"/>
          <p:cNvSpPr/>
          <p:nvPr/>
        </p:nvSpPr>
        <p:spPr>
          <a:xfrm>
            <a:off x="9802368" y="347472"/>
            <a:ext cx="1783080" cy="393192"/>
          </a:xfrm>
          <a:prstGeom prst="roundRect">
            <a:avLst>
              <a:gd fmla="val 11628" name="adj"/>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1"/>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9  •  CROPLAND</a:t>
            </a:r>
            <a:endParaRPr b="0" i="0" sz="850" u="none" cap="none" strike="noStrike">
              <a:solidFill>
                <a:schemeClr val="dk1"/>
              </a:solidFill>
              <a:latin typeface="Arial"/>
              <a:ea typeface="Arial"/>
              <a:cs typeface="Arial"/>
              <a:sym typeface="Arial"/>
            </a:endParaRPr>
          </a:p>
        </p:txBody>
      </p:sp>
      <p:sp>
        <p:nvSpPr>
          <p:cNvPr id="470" name="Google Shape;470;p21"/>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2_alm_practice_schedule.png" id="471" name="Google Shape;471;p21"/>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472" name="Google Shape;472;p21"/>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baseline/project practice schedule</a:t>
            </a:r>
            <a:endParaRPr b="0" i="0" sz="950" u="none" cap="none" strike="noStrike">
              <a:solidFill>
                <a:schemeClr val="dk1"/>
              </a:solidFill>
              <a:latin typeface="Arial"/>
              <a:ea typeface="Arial"/>
              <a:cs typeface="Arial"/>
              <a:sym typeface="Arial"/>
            </a:endParaRPr>
          </a:p>
        </p:txBody>
      </p:sp>
      <p:sp>
        <p:nvSpPr>
          <p:cNvPr id="473" name="Google Shape;473;p21"/>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1"/>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475" name="Google Shape;475;p21"/>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Enter crop, tillage, residue, fertilizer, fuel and yield data.</a:t>
            </a:r>
            <a:endParaRPr b="0" i="0" sz="1080" u="none" cap="none" strike="noStrike">
              <a:solidFill>
                <a:schemeClr val="dk1"/>
              </a:solidFill>
              <a:latin typeface="Arial"/>
              <a:ea typeface="Arial"/>
              <a:cs typeface="Arial"/>
              <a:sym typeface="Arial"/>
            </a:endParaRPr>
          </a:p>
        </p:txBody>
      </p:sp>
      <p:sp>
        <p:nvSpPr>
          <p:cNvPr id="476" name="Google Shape;476;p21"/>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1"/>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478" name="Google Shape;478;p21"/>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Validate completeness and persist evidence separately by scenario and year.</a:t>
            </a:r>
            <a:endParaRPr b="0" i="0" sz="1080" u="none" cap="none" strike="noStrike">
              <a:solidFill>
                <a:schemeClr val="dk1"/>
              </a:solidFill>
              <a:latin typeface="Arial"/>
              <a:ea typeface="Arial"/>
              <a:cs typeface="Arial"/>
              <a:sym typeface="Arial"/>
            </a:endParaRPr>
          </a:p>
        </p:txBody>
      </p:sp>
      <p:sp>
        <p:nvSpPr>
          <p:cNvPr id="479" name="Google Shape;479;p21"/>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2"/>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486" name="Google Shape;486;p22"/>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Attach laboratory SOC measurements</a:t>
            </a:r>
            <a:endParaRPr b="0" i="0" sz="2700" u="none" cap="none" strike="noStrike">
              <a:solidFill>
                <a:schemeClr val="dk1"/>
              </a:solidFill>
              <a:latin typeface="Arial"/>
              <a:ea typeface="Arial"/>
              <a:cs typeface="Arial"/>
              <a:sym typeface="Arial"/>
            </a:endParaRPr>
          </a:p>
        </p:txBody>
      </p:sp>
      <p:sp>
        <p:nvSpPr>
          <p:cNvPr id="487" name="Google Shape;487;p22"/>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SOC samples are recorded by scenario, sampling year and soil layer.</a:t>
            </a:r>
            <a:endParaRPr b="0" i="0" sz="1250" u="none" cap="none" strike="noStrike">
              <a:solidFill>
                <a:schemeClr val="dk1"/>
              </a:solidFill>
              <a:latin typeface="Arial"/>
              <a:ea typeface="Arial"/>
              <a:cs typeface="Arial"/>
              <a:sym typeface="Arial"/>
            </a:endParaRPr>
          </a:p>
        </p:txBody>
      </p:sp>
      <p:sp>
        <p:nvSpPr>
          <p:cNvPr id="488" name="Google Shape;488;p22"/>
          <p:cNvSpPr/>
          <p:nvPr/>
        </p:nvSpPr>
        <p:spPr>
          <a:xfrm>
            <a:off x="9802368" y="347472"/>
            <a:ext cx="1783080" cy="393192"/>
          </a:xfrm>
          <a:prstGeom prst="roundRect">
            <a:avLst>
              <a:gd fmla="val 11628" name="adj"/>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10  •  CROPLAND</a:t>
            </a:r>
            <a:endParaRPr b="0" i="0" sz="850" u="none" cap="none" strike="noStrike">
              <a:solidFill>
                <a:schemeClr val="dk1"/>
              </a:solidFill>
              <a:latin typeface="Arial"/>
              <a:ea typeface="Arial"/>
              <a:cs typeface="Arial"/>
              <a:sym typeface="Arial"/>
            </a:endParaRPr>
          </a:p>
        </p:txBody>
      </p:sp>
      <p:sp>
        <p:nvSpPr>
          <p:cNvPr id="490" name="Google Shape;490;p22"/>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3_alm_soc_samples.png" id="491" name="Google Shape;491;p22"/>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492" name="Google Shape;492;p22"/>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complete SOC sample cells</a:t>
            </a:r>
            <a:endParaRPr b="0" i="0" sz="950" u="none" cap="none" strike="noStrike">
              <a:solidFill>
                <a:schemeClr val="dk1"/>
              </a:solidFill>
              <a:latin typeface="Arial"/>
              <a:ea typeface="Arial"/>
              <a:cs typeface="Arial"/>
              <a:sym typeface="Arial"/>
            </a:endParaRPr>
          </a:p>
        </p:txBody>
      </p:sp>
      <p:sp>
        <p:nvSpPr>
          <p:cNvPr id="493" name="Google Shape;493;p22"/>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2"/>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495" name="Google Shape;495;p22"/>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Enter replicate SOC values for baseline and project sampling cells.</a:t>
            </a:r>
            <a:endParaRPr b="0" i="0" sz="1080" u="none" cap="none" strike="noStrike">
              <a:solidFill>
                <a:schemeClr val="dk1"/>
              </a:solidFill>
              <a:latin typeface="Arial"/>
              <a:ea typeface="Arial"/>
              <a:cs typeface="Arial"/>
              <a:sym typeface="Arial"/>
            </a:endParaRPr>
          </a:p>
        </p:txBody>
      </p:sp>
      <p:sp>
        <p:nvSpPr>
          <p:cNvPr id="496" name="Google Shape;496;p22"/>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2"/>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498" name="Google Shape;498;p22"/>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Check sample completeness and prepare soil-stock change inputs.</a:t>
            </a:r>
            <a:endParaRPr b="0" i="0" sz="1080" u="none" cap="none" strike="noStrike">
              <a:solidFill>
                <a:schemeClr val="dk1"/>
              </a:solidFill>
              <a:latin typeface="Arial"/>
              <a:ea typeface="Arial"/>
              <a:cs typeface="Arial"/>
              <a:sym typeface="Arial"/>
            </a:endParaRPr>
          </a:p>
        </p:txBody>
      </p:sp>
      <p:sp>
        <p:nvSpPr>
          <p:cNvPr id="499" name="Google Shape;499;p22"/>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3"/>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506" name="Google Shape;506;p23"/>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Calculate the scoped VM0042 estimate</a:t>
            </a:r>
            <a:endParaRPr b="0" i="0" sz="2700" u="none" cap="none" strike="noStrike">
              <a:solidFill>
                <a:schemeClr val="dk1"/>
              </a:solidFill>
              <a:latin typeface="Arial"/>
              <a:ea typeface="Arial"/>
              <a:cs typeface="Arial"/>
              <a:sym typeface="Arial"/>
            </a:endParaRPr>
          </a:p>
        </p:txBody>
      </p:sp>
      <p:sp>
        <p:nvSpPr>
          <p:cNvPr id="507" name="Google Shape;507;p23"/>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engine combines soil stock change with non-CO₂ sources and risk deductions.</a:t>
            </a:r>
            <a:endParaRPr b="0" i="0" sz="1250" u="none" cap="none" strike="noStrike">
              <a:solidFill>
                <a:schemeClr val="dk1"/>
              </a:solidFill>
              <a:latin typeface="Arial"/>
              <a:ea typeface="Arial"/>
              <a:cs typeface="Arial"/>
              <a:sym typeface="Arial"/>
            </a:endParaRPr>
          </a:p>
        </p:txBody>
      </p:sp>
      <p:sp>
        <p:nvSpPr>
          <p:cNvPr id="508" name="Google Shape;508;p23"/>
          <p:cNvSpPr/>
          <p:nvPr/>
        </p:nvSpPr>
        <p:spPr>
          <a:xfrm>
            <a:off x="9802368" y="347472"/>
            <a:ext cx="1783080" cy="393192"/>
          </a:xfrm>
          <a:prstGeom prst="roundRect">
            <a:avLst>
              <a:gd fmla="val 11628" name="adj"/>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3"/>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11  •  CROPLAND</a:t>
            </a:r>
            <a:endParaRPr b="0" i="0" sz="850" u="none" cap="none" strike="noStrike">
              <a:solidFill>
                <a:schemeClr val="dk1"/>
              </a:solidFill>
              <a:latin typeface="Arial"/>
              <a:ea typeface="Arial"/>
              <a:cs typeface="Arial"/>
              <a:sym typeface="Arial"/>
            </a:endParaRPr>
          </a:p>
        </p:txBody>
      </p:sp>
      <p:sp>
        <p:nvSpPr>
          <p:cNvPr id="510" name="Google Shape;510;p23"/>
          <p:cNvSpPr/>
          <p:nvPr/>
        </p:nvSpPr>
        <p:spPr>
          <a:xfrm>
            <a:off x="53035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4_vm0042_inputs.png" id="511" name="Google Shape;511;p23"/>
          <p:cNvPicPr preferRelativeResize="0"/>
          <p:nvPr/>
        </p:nvPicPr>
        <p:blipFill rotWithShape="1">
          <a:blip r:embed="rId3">
            <a:alphaModFix/>
          </a:blip>
          <a:srcRect b="0" l="0" r="0" t="0"/>
          <a:stretch/>
        </p:blipFill>
        <p:spPr>
          <a:xfrm>
            <a:off x="640080" y="1669352"/>
            <a:ext cx="5294376" cy="3308985"/>
          </a:xfrm>
          <a:prstGeom prst="rect">
            <a:avLst/>
          </a:prstGeom>
          <a:noFill/>
          <a:ln>
            <a:noFill/>
          </a:ln>
        </p:spPr>
      </p:pic>
      <p:sp>
        <p:nvSpPr>
          <p:cNvPr id="512" name="Google Shape;512;p23"/>
          <p:cNvSpPr/>
          <p:nvPr/>
        </p:nvSpPr>
        <p:spPr>
          <a:xfrm>
            <a:off x="67665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VM0042 verification and risk inputs</a:t>
            </a:r>
            <a:endParaRPr b="0" i="0" sz="950" u="none" cap="none" strike="noStrike">
              <a:solidFill>
                <a:schemeClr val="dk1"/>
              </a:solidFill>
              <a:latin typeface="Arial"/>
              <a:ea typeface="Arial"/>
              <a:cs typeface="Arial"/>
              <a:sym typeface="Arial"/>
            </a:endParaRPr>
          </a:p>
        </p:txBody>
      </p:sp>
      <p:sp>
        <p:nvSpPr>
          <p:cNvPr id="513" name="Google Shape;513;p23"/>
          <p:cNvSpPr/>
          <p:nvPr/>
        </p:nvSpPr>
        <p:spPr>
          <a:xfrm>
            <a:off x="615391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5_vm0042_results.png" id="514" name="Google Shape;514;p23"/>
          <p:cNvPicPr preferRelativeResize="0"/>
          <p:nvPr/>
        </p:nvPicPr>
        <p:blipFill rotWithShape="1">
          <a:blip r:embed="rId4">
            <a:alphaModFix/>
          </a:blip>
          <a:srcRect b="0" l="0" r="0" t="0"/>
          <a:stretch/>
        </p:blipFill>
        <p:spPr>
          <a:xfrm>
            <a:off x="6263640" y="1669352"/>
            <a:ext cx="5294376" cy="3308985"/>
          </a:xfrm>
          <a:prstGeom prst="rect">
            <a:avLst/>
          </a:prstGeom>
          <a:noFill/>
          <a:ln>
            <a:noFill/>
          </a:ln>
        </p:spPr>
      </p:pic>
      <p:sp>
        <p:nvSpPr>
          <p:cNvPr id="515" name="Google Shape;515;p23"/>
          <p:cNvSpPr/>
          <p:nvPr/>
        </p:nvSpPr>
        <p:spPr>
          <a:xfrm>
            <a:off x="630021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VM0042 component results and final estimate</a:t>
            </a:r>
            <a:endParaRPr b="0" i="0" sz="950" u="none" cap="none" strike="noStrike">
              <a:solidFill>
                <a:schemeClr val="dk1"/>
              </a:solidFill>
              <a:latin typeface="Arial"/>
              <a:ea typeface="Arial"/>
              <a:cs typeface="Arial"/>
              <a:sym typeface="Arial"/>
            </a:endParaRPr>
          </a:p>
        </p:txBody>
      </p:sp>
      <p:sp>
        <p:nvSpPr>
          <p:cNvPr id="516" name="Google Shape;516;p23"/>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518" name="Google Shape;518;p23"/>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Review the verification period and risk inputs, then calculate.</a:t>
            </a:r>
            <a:endParaRPr b="0" i="0" sz="1080" u="none" cap="none" strike="noStrike">
              <a:solidFill>
                <a:schemeClr val="dk1"/>
              </a:solidFill>
              <a:latin typeface="Arial"/>
              <a:ea typeface="Arial"/>
              <a:cs typeface="Arial"/>
              <a:sym typeface="Arial"/>
            </a:endParaRPr>
          </a:p>
        </p:txBody>
      </p:sp>
      <p:sp>
        <p:nvSpPr>
          <p:cNvPr id="519" name="Google Shape;519;p23"/>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521" name="Google Shape;521;p23"/>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Combine SOC, fertilizer, residue, fuel, burning and supported livestock terms.</a:t>
            </a:r>
            <a:endParaRPr b="0" i="0" sz="1080" u="none" cap="none" strike="noStrike">
              <a:solidFill>
                <a:schemeClr val="dk1"/>
              </a:solidFill>
              <a:latin typeface="Arial"/>
              <a:ea typeface="Arial"/>
              <a:cs typeface="Arial"/>
              <a:sym typeface="Arial"/>
            </a:endParaRPr>
          </a:p>
        </p:txBody>
      </p:sp>
      <p:sp>
        <p:nvSpPr>
          <p:cNvPr id="522" name="Google Shape;522;p23"/>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4"/>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529" name="Google Shape;529;p24"/>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Keep VM0042 uncertainty and gaps visible</a:t>
            </a:r>
            <a:endParaRPr b="0" i="0" sz="2700" u="none" cap="none" strike="noStrike">
              <a:solidFill>
                <a:schemeClr val="dk1"/>
              </a:solidFill>
              <a:latin typeface="Arial"/>
              <a:ea typeface="Arial"/>
              <a:cs typeface="Arial"/>
              <a:sym typeface="Arial"/>
            </a:endParaRPr>
          </a:p>
        </p:txBody>
      </p:sp>
      <p:sp>
        <p:nvSpPr>
          <p:cNvPr id="530" name="Google Shape;530;p24"/>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audit view discloses screening status and avoids silently treating missing evidence as zero.</a:t>
            </a:r>
            <a:endParaRPr b="0" i="0" sz="1250" u="none" cap="none" strike="noStrike">
              <a:solidFill>
                <a:schemeClr val="dk1"/>
              </a:solidFill>
              <a:latin typeface="Arial"/>
              <a:ea typeface="Arial"/>
              <a:cs typeface="Arial"/>
              <a:sym typeface="Arial"/>
            </a:endParaRPr>
          </a:p>
        </p:txBody>
      </p:sp>
      <p:sp>
        <p:nvSpPr>
          <p:cNvPr id="531" name="Google Shape;531;p24"/>
          <p:cNvSpPr/>
          <p:nvPr/>
        </p:nvSpPr>
        <p:spPr>
          <a:xfrm>
            <a:off x="9802368" y="347472"/>
            <a:ext cx="1783080" cy="393192"/>
          </a:xfrm>
          <a:prstGeom prst="roundRect">
            <a:avLst>
              <a:gd fmla="val 11628" name="adj"/>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4"/>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12  •  CROPLAND</a:t>
            </a:r>
            <a:endParaRPr b="0" i="0" sz="850" u="none" cap="none" strike="noStrike">
              <a:solidFill>
                <a:schemeClr val="dk1"/>
              </a:solidFill>
              <a:latin typeface="Arial"/>
              <a:ea typeface="Arial"/>
              <a:cs typeface="Arial"/>
              <a:sym typeface="Arial"/>
            </a:endParaRPr>
          </a:p>
        </p:txBody>
      </p:sp>
      <p:sp>
        <p:nvSpPr>
          <p:cNvPr id="533" name="Google Shape;533;p24"/>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6_vm0042_audit_trail.png" id="534" name="Google Shape;534;p24"/>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535" name="Google Shape;535;p24"/>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VM0042 audit trail and limitation messages</a:t>
            </a:r>
            <a:endParaRPr b="0" i="0" sz="950" u="none" cap="none" strike="noStrike">
              <a:solidFill>
                <a:schemeClr val="dk1"/>
              </a:solidFill>
              <a:latin typeface="Arial"/>
              <a:ea typeface="Arial"/>
              <a:cs typeface="Arial"/>
              <a:sym typeface="Arial"/>
            </a:endParaRPr>
          </a:p>
        </p:txBody>
      </p:sp>
      <p:sp>
        <p:nvSpPr>
          <p:cNvPr id="536" name="Google Shape;536;p24"/>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4"/>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538" name="Google Shape;538;p24"/>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Inspect component equations, uncertainty and leakage disclosures.</a:t>
            </a:r>
            <a:endParaRPr b="0" i="0" sz="1080" u="none" cap="none" strike="noStrike">
              <a:solidFill>
                <a:schemeClr val="dk1"/>
              </a:solidFill>
              <a:latin typeface="Arial"/>
              <a:ea typeface="Arial"/>
              <a:cs typeface="Arial"/>
              <a:sym typeface="Arial"/>
            </a:endParaRPr>
          </a:p>
        </p:txBody>
      </p:sp>
      <p:sp>
        <p:nvSpPr>
          <p:cNvPr id="539" name="Google Shape;539;p24"/>
          <p:cNvSpPr/>
          <p:nvPr/>
        </p:nvSpPr>
        <p:spPr>
          <a:xfrm>
            <a:off x="6199632" y="5687568"/>
            <a:ext cx="5394960" cy="594360"/>
          </a:xfrm>
          <a:prstGeom prst="roundRect">
            <a:avLst>
              <a:gd fmla="val 6154" name="adj"/>
            </a:avLst>
          </a:prstGeom>
          <a:solidFill>
            <a:srgbClr val="F2EAD9"/>
          </a:solidFill>
          <a:ln cap="flat" cmpd="sng" w="9525">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8A4F"/>
              </a:buClr>
              <a:buSzPts val="850"/>
              <a:buFont typeface="Arial"/>
              <a:buNone/>
            </a:pPr>
            <a:r>
              <a:rPr b="1" i="0" lang="en-US" sz="850" u="none" cap="none" strike="noStrike">
                <a:solidFill>
                  <a:srgbClr val="B08A4F"/>
                </a:solidFill>
                <a:latin typeface="Arial"/>
                <a:ea typeface="Arial"/>
                <a:cs typeface="Arial"/>
                <a:sym typeface="Arial"/>
              </a:rPr>
              <a:t>DISCLOSURE</a:t>
            </a:r>
            <a:endParaRPr b="0" i="0" sz="850" u="none" cap="none" strike="noStrike">
              <a:solidFill>
                <a:schemeClr val="dk1"/>
              </a:solidFill>
              <a:latin typeface="Arial"/>
              <a:ea typeface="Arial"/>
              <a:cs typeface="Arial"/>
              <a:sym typeface="Arial"/>
            </a:endParaRPr>
          </a:p>
        </p:txBody>
      </p:sp>
      <p:sp>
        <p:nvSpPr>
          <p:cNvPr id="541" name="Google Shape;541;p24"/>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A displayed estimate is not formal eligibility; incomplete leakage evidence remains disclosed.</a:t>
            </a:r>
            <a:endParaRPr b="0" i="0" sz="1080" u="none" cap="none" strike="noStrike">
              <a:solidFill>
                <a:schemeClr val="dk1"/>
              </a:solidFill>
              <a:latin typeface="Arial"/>
              <a:ea typeface="Arial"/>
              <a:cs typeface="Arial"/>
              <a:sym typeface="Arial"/>
            </a:endParaRPr>
          </a:p>
        </p:txBody>
      </p:sp>
      <p:sp>
        <p:nvSpPr>
          <p:cNvPr id="542" name="Google Shape;542;p24"/>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25"/>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549" name="Google Shape;549;p25"/>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Export the cropland evidence package</a:t>
            </a:r>
            <a:endParaRPr b="0" i="0" sz="2700" u="none" cap="none" strike="noStrike">
              <a:solidFill>
                <a:schemeClr val="dk1"/>
              </a:solidFill>
              <a:latin typeface="Arial"/>
              <a:ea typeface="Arial"/>
              <a:cs typeface="Arial"/>
              <a:sym typeface="Arial"/>
            </a:endParaRPr>
          </a:p>
        </p:txBody>
      </p:sp>
      <p:sp>
        <p:nvSpPr>
          <p:cNvPr id="550" name="Google Shape;550;p25"/>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VM0042 outputs use the same audit pattern while preserving methodology-specific evidence.</a:t>
            </a:r>
            <a:endParaRPr b="0" i="0" sz="1250" u="none" cap="none" strike="noStrike">
              <a:solidFill>
                <a:schemeClr val="dk1"/>
              </a:solidFill>
              <a:latin typeface="Arial"/>
              <a:ea typeface="Arial"/>
              <a:cs typeface="Arial"/>
              <a:sym typeface="Arial"/>
            </a:endParaRPr>
          </a:p>
        </p:txBody>
      </p:sp>
      <p:sp>
        <p:nvSpPr>
          <p:cNvPr id="551" name="Google Shape;551;p25"/>
          <p:cNvSpPr/>
          <p:nvPr/>
        </p:nvSpPr>
        <p:spPr>
          <a:xfrm>
            <a:off x="9802368" y="347472"/>
            <a:ext cx="1783080" cy="393192"/>
          </a:xfrm>
          <a:prstGeom prst="roundRect">
            <a:avLst>
              <a:gd fmla="val 11628" name="adj"/>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5"/>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13  •  CROPLAND</a:t>
            </a:r>
            <a:endParaRPr b="0" i="0" sz="850" u="none" cap="none" strike="noStrike">
              <a:solidFill>
                <a:schemeClr val="dk1"/>
              </a:solidFill>
              <a:latin typeface="Arial"/>
              <a:ea typeface="Arial"/>
              <a:cs typeface="Arial"/>
              <a:sym typeface="Arial"/>
            </a:endParaRPr>
          </a:p>
        </p:txBody>
      </p:sp>
      <p:sp>
        <p:nvSpPr>
          <p:cNvPr id="553" name="Google Shape;553;p25"/>
          <p:cNvSpPr/>
          <p:nvPr/>
        </p:nvSpPr>
        <p:spPr>
          <a:xfrm>
            <a:off x="658368" y="1389888"/>
            <a:ext cx="10881360"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7_vm0042_evidence_exports.png" id="554" name="Google Shape;554;p25"/>
          <p:cNvPicPr preferRelativeResize="0"/>
          <p:nvPr/>
        </p:nvPicPr>
        <p:blipFill rotWithShape="1">
          <a:blip r:embed="rId3">
            <a:alphaModFix/>
          </a:blip>
          <a:srcRect b="0" l="0" r="0" t="0"/>
          <a:stretch/>
        </p:blipFill>
        <p:spPr>
          <a:xfrm>
            <a:off x="3180283" y="1499616"/>
            <a:ext cx="5837530" cy="3648456"/>
          </a:xfrm>
          <a:prstGeom prst="rect">
            <a:avLst/>
          </a:prstGeom>
          <a:noFill/>
          <a:ln>
            <a:noFill/>
          </a:ln>
        </p:spPr>
      </p:pic>
      <p:sp>
        <p:nvSpPr>
          <p:cNvPr id="555" name="Google Shape;555;p25"/>
          <p:cNvSpPr/>
          <p:nvPr/>
        </p:nvSpPr>
        <p:spPr>
          <a:xfrm>
            <a:off x="804672" y="5202936"/>
            <a:ext cx="1058875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Real application screen — VM0042 evidence downloads</a:t>
            </a:r>
            <a:endParaRPr b="0" i="0" sz="950" u="none" cap="none" strike="noStrike">
              <a:solidFill>
                <a:schemeClr val="dk1"/>
              </a:solidFill>
              <a:latin typeface="Arial"/>
              <a:ea typeface="Arial"/>
              <a:cs typeface="Arial"/>
              <a:sym typeface="Arial"/>
            </a:endParaRPr>
          </a:p>
        </p:txBody>
      </p:sp>
      <p:sp>
        <p:nvSpPr>
          <p:cNvPr id="556" name="Google Shape;556;p25"/>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558" name="Google Shape;558;p25"/>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Download the PDF report, audit JSON and practice/SOC CSV.</a:t>
            </a:r>
            <a:endParaRPr b="0" i="0" sz="1080" u="none" cap="none" strike="noStrike">
              <a:solidFill>
                <a:schemeClr val="dk1"/>
              </a:solidFill>
              <a:latin typeface="Arial"/>
              <a:ea typeface="Arial"/>
              <a:cs typeface="Arial"/>
              <a:sym typeface="Arial"/>
            </a:endParaRPr>
          </a:p>
        </p:txBody>
      </p:sp>
      <p:sp>
        <p:nvSpPr>
          <p:cNvPr id="559" name="Google Shape;559;p25"/>
          <p:cNvSpPr/>
          <p:nvPr/>
        </p:nvSpPr>
        <p:spPr>
          <a:xfrm>
            <a:off x="6199632" y="5687568"/>
            <a:ext cx="5394960" cy="594360"/>
          </a:xfrm>
          <a:prstGeom prst="roundRect">
            <a:avLst>
              <a:gd fmla="val 6154" name="adj"/>
            </a:avLst>
          </a:prstGeom>
          <a:solidFill>
            <a:srgbClr val="F2EAD9"/>
          </a:solidFill>
          <a:ln cap="flat" cmpd="sng" w="9525">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5"/>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8A4F"/>
              </a:buClr>
              <a:buSzPts val="850"/>
              <a:buFont typeface="Arial"/>
              <a:buNone/>
            </a:pPr>
            <a:r>
              <a:rPr b="1" i="0" lang="en-US" sz="850" u="none" cap="none" strike="noStrike">
                <a:solidFill>
                  <a:srgbClr val="B08A4F"/>
                </a:solidFill>
                <a:latin typeface="Arial"/>
                <a:ea typeface="Arial"/>
                <a:cs typeface="Arial"/>
                <a:sym typeface="Arial"/>
              </a:rPr>
              <a:t>DISCLOSURE</a:t>
            </a:r>
            <a:endParaRPr b="0" i="0" sz="850" u="none" cap="none" strike="noStrike">
              <a:solidFill>
                <a:schemeClr val="dk1"/>
              </a:solidFill>
              <a:latin typeface="Arial"/>
              <a:ea typeface="Arial"/>
              <a:cs typeface="Arial"/>
              <a:sym typeface="Arial"/>
            </a:endParaRPr>
          </a:p>
        </p:txBody>
      </p:sp>
      <p:sp>
        <p:nvSpPr>
          <p:cNvPr id="561" name="Google Shape;561;p25"/>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Current CSV scope is practice/SOC only; livestock is included in PDF/JSON, not the CSV.</a:t>
            </a:r>
            <a:endParaRPr b="0" i="0" sz="1080" u="none" cap="none" strike="noStrike">
              <a:solidFill>
                <a:schemeClr val="dk1"/>
              </a:solidFill>
              <a:latin typeface="Arial"/>
              <a:ea typeface="Arial"/>
              <a:cs typeface="Arial"/>
              <a:sym typeface="Arial"/>
            </a:endParaRPr>
          </a:p>
        </p:txBody>
      </p:sp>
      <p:sp>
        <p:nvSpPr>
          <p:cNvPr id="562" name="Google Shape;562;p25"/>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6"/>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569" name="Google Shape;569;p26"/>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Train and compare the experimental AWD classifiers</a:t>
            </a:r>
            <a:endParaRPr b="0" i="0" sz="2700" u="none" cap="none" strike="noStrike">
              <a:solidFill>
                <a:schemeClr val="dk1"/>
              </a:solidFill>
              <a:latin typeface="Arial"/>
              <a:ea typeface="Arial"/>
              <a:cs typeface="Arial"/>
              <a:sym typeface="Arial"/>
            </a:endParaRPr>
          </a:p>
        </p:txBody>
      </p:sp>
      <p:sp>
        <p:nvSpPr>
          <p:cNvPr id="570" name="Google Shape;570;p26"/>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engineering pipeline works; the current metrics measure rule agreement, not independent field accuracy.</a:t>
            </a:r>
            <a:endParaRPr b="0" i="0" sz="1250" u="none" cap="none" strike="noStrike">
              <a:solidFill>
                <a:schemeClr val="dk1"/>
              </a:solidFill>
              <a:latin typeface="Arial"/>
              <a:ea typeface="Arial"/>
              <a:cs typeface="Arial"/>
              <a:sym typeface="Arial"/>
            </a:endParaRPr>
          </a:p>
        </p:txBody>
      </p:sp>
      <p:sp>
        <p:nvSpPr>
          <p:cNvPr id="571" name="Google Shape;571;p26"/>
          <p:cNvSpPr/>
          <p:nvPr/>
        </p:nvSpPr>
        <p:spPr>
          <a:xfrm>
            <a:off x="9802368" y="347472"/>
            <a:ext cx="1783080" cy="393192"/>
          </a:xfrm>
          <a:prstGeom prst="roundRect">
            <a:avLst>
              <a:gd fmla="val 11628" name="adj"/>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6"/>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14  •  AI</a:t>
            </a:r>
            <a:endParaRPr b="0" i="0" sz="850" u="none" cap="none" strike="noStrike">
              <a:solidFill>
                <a:schemeClr val="dk1"/>
              </a:solidFill>
              <a:latin typeface="Arial"/>
              <a:ea typeface="Arial"/>
              <a:cs typeface="Arial"/>
              <a:sym typeface="Arial"/>
            </a:endParaRPr>
          </a:p>
        </p:txBody>
      </p:sp>
      <p:sp>
        <p:nvSpPr>
          <p:cNvPr id="573" name="Google Shape;573;p26"/>
          <p:cNvSpPr/>
          <p:nvPr/>
        </p:nvSpPr>
        <p:spPr>
          <a:xfrm>
            <a:off x="53035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8_ai_training_pipeline.png" id="574" name="Google Shape;574;p26"/>
          <p:cNvPicPr preferRelativeResize="0"/>
          <p:nvPr/>
        </p:nvPicPr>
        <p:blipFill rotWithShape="1">
          <a:blip r:embed="rId3">
            <a:alphaModFix/>
          </a:blip>
          <a:srcRect b="0" l="0" r="0" t="0"/>
          <a:stretch/>
        </p:blipFill>
        <p:spPr>
          <a:xfrm>
            <a:off x="640080" y="1669352"/>
            <a:ext cx="5294376" cy="3308985"/>
          </a:xfrm>
          <a:prstGeom prst="rect">
            <a:avLst/>
          </a:prstGeom>
          <a:noFill/>
          <a:ln>
            <a:noFill/>
          </a:ln>
        </p:spPr>
      </p:pic>
      <p:sp>
        <p:nvSpPr>
          <p:cNvPr id="575" name="Google Shape;575;p26"/>
          <p:cNvSpPr/>
          <p:nvPr/>
        </p:nvSpPr>
        <p:spPr>
          <a:xfrm>
            <a:off x="67665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Training controls and saved model artifacts</a:t>
            </a:r>
            <a:endParaRPr b="0" i="0" sz="950" u="none" cap="none" strike="noStrike">
              <a:solidFill>
                <a:schemeClr val="dk1"/>
              </a:solidFill>
              <a:latin typeface="Arial"/>
              <a:ea typeface="Arial"/>
              <a:cs typeface="Arial"/>
              <a:sym typeface="Arial"/>
            </a:endParaRPr>
          </a:p>
        </p:txBody>
      </p:sp>
      <p:sp>
        <p:nvSpPr>
          <p:cNvPr id="576" name="Google Shape;576;p26"/>
          <p:cNvSpPr/>
          <p:nvPr/>
        </p:nvSpPr>
        <p:spPr>
          <a:xfrm>
            <a:off x="615391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19_ai_model_comparison.png" id="577" name="Google Shape;577;p26"/>
          <p:cNvPicPr preferRelativeResize="0"/>
          <p:nvPr/>
        </p:nvPicPr>
        <p:blipFill rotWithShape="1">
          <a:blip r:embed="rId4">
            <a:alphaModFix/>
          </a:blip>
          <a:srcRect b="0" l="0" r="0" t="0"/>
          <a:stretch/>
        </p:blipFill>
        <p:spPr>
          <a:xfrm>
            <a:off x="6263640" y="1669352"/>
            <a:ext cx="5294376" cy="3308985"/>
          </a:xfrm>
          <a:prstGeom prst="rect">
            <a:avLst/>
          </a:prstGeom>
          <a:noFill/>
          <a:ln>
            <a:noFill/>
          </a:ln>
        </p:spPr>
      </p:pic>
      <p:sp>
        <p:nvSpPr>
          <p:cNvPr id="578" name="Google Shape;578;p26"/>
          <p:cNvSpPr/>
          <p:nvPr/>
        </p:nvSpPr>
        <p:spPr>
          <a:xfrm>
            <a:off x="630021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RF/XGBoost comparison and explicit label warning</a:t>
            </a:r>
            <a:endParaRPr b="0" i="0" sz="950" u="none" cap="none" strike="noStrike">
              <a:solidFill>
                <a:schemeClr val="dk1"/>
              </a:solidFill>
              <a:latin typeface="Arial"/>
              <a:ea typeface="Arial"/>
              <a:cs typeface="Arial"/>
              <a:sym typeface="Arial"/>
            </a:endParaRPr>
          </a:p>
        </p:txBody>
      </p:sp>
      <p:sp>
        <p:nvSpPr>
          <p:cNvPr id="579" name="Google Shape;579;p26"/>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6"/>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581" name="Google Shape;581;p26"/>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Train RF/XGBoost from cached rice observations and compare metrics.</a:t>
            </a:r>
            <a:endParaRPr b="0" i="0" sz="1080" u="none" cap="none" strike="noStrike">
              <a:solidFill>
                <a:schemeClr val="dk1"/>
              </a:solidFill>
              <a:latin typeface="Arial"/>
              <a:ea typeface="Arial"/>
              <a:cs typeface="Arial"/>
              <a:sym typeface="Arial"/>
            </a:endParaRPr>
          </a:p>
        </p:txBody>
      </p:sp>
      <p:sp>
        <p:nvSpPr>
          <p:cNvPr id="582" name="Google Shape;582;p26"/>
          <p:cNvSpPr/>
          <p:nvPr/>
        </p:nvSpPr>
        <p:spPr>
          <a:xfrm>
            <a:off x="6199632" y="5687568"/>
            <a:ext cx="5394960" cy="594360"/>
          </a:xfrm>
          <a:prstGeom prst="roundRect">
            <a:avLst>
              <a:gd fmla="val 6154" name="adj"/>
            </a:avLst>
          </a:prstGeom>
          <a:solidFill>
            <a:srgbClr val="F2EAD9"/>
          </a:solidFill>
          <a:ln cap="flat" cmpd="sng" w="9525">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6"/>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8A4F"/>
              </a:buClr>
              <a:buSzPts val="850"/>
              <a:buFont typeface="Arial"/>
              <a:buNone/>
            </a:pPr>
            <a:r>
              <a:rPr b="1" i="0" lang="en-US" sz="850" u="none" cap="none" strike="noStrike">
                <a:solidFill>
                  <a:srgbClr val="B08A4F"/>
                </a:solidFill>
                <a:latin typeface="Arial"/>
                <a:ea typeface="Arial"/>
                <a:cs typeface="Arial"/>
                <a:sym typeface="Arial"/>
              </a:rPr>
              <a:t>DISCLOSURE</a:t>
            </a:r>
            <a:endParaRPr b="0" i="0" sz="850" u="none" cap="none" strike="noStrike">
              <a:solidFill>
                <a:schemeClr val="dk1"/>
              </a:solidFill>
              <a:latin typeface="Arial"/>
              <a:ea typeface="Arial"/>
              <a:cs typeface="Arial"/>
              <a:sym typeface="Arial"/>
            </a:endParaRPr>
          </a:p>
        </p:txBody>
      </p:sp>
      <p:sp>
        <p:nvSpPr>
          <p:cNvPr id="584" name="Google Shape;584;p26"/>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Labels come from the threshold gate; no independent irrigation ground truth is available yet.</a:t>
            </a:r>
            <a:endParaRPr b="0" i="0" sz="1080" u="none" cap="none" strike="noStrike">
              <a:solidFill>
                <a:schemeClr val="dk1"/>
              </a:solidFill>
              <a:latin typeface="Arial"/>
              <a:ea typeface="Arial"/>
              <a:cs typeface="Arial"/>
              <a:sym typeface="Arial"/>
            </a:endParaRPr>
          </a:p>
        </p:txBody>
      </p:sp>
      <p:sp>
        <p:nvSpPr>
          <p:cNvPr id="585" name="Google Shape;585;p26"/>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27"/>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PROTOTYPE WALKTHROUGH</a:t>
            </a:r>
            <a:endParaRPr b="0" i="0" sz="1000" u="none" cap="none" strike="noStrike">
              <a:solidFill>
                <a:schemeClr val="dk1"/>
              </a:solidFill>
              <a:latin typeface="Arial"/>
              <a:ea typeface="Arial"/>
              <a:cs typeface="Arial"/>
              <a:sym typeface="Arial"/>
            </a:endParaRPr>
          </a:p>
        </p:txBody>
      </p:sp>
      <p:sp>
        <p:nvSpPr>
          <p:cNvPr id="592" name="Google Shape;592;p27"/>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Review the project portfolio and registered assets</a:t>
            </a:r>
            <a:endParaRPr b="0" i="0" sz="2700" u="none" cap="none" strike="noStrike">
              <a:solidFill>
                <a:schemeClr val="dk1"/>
              </a:solidFill>
              <a:latin typeface="Arial"/>
              <a:ea typeface="Arial"/>
              <a:cs typeface="Arial"/>
              <a:sym typeface="Arial"/>
            </a:endParaRPr>
          </a:p>
        </p:txBody>
      </p:sp>
      <p:sp>
        <p:nvSpPr>
          <p:cNvPr id="593" name="Google Shape;593;p27"/>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The final view connects methodology results back to persistent fields and calculation history.</a:t>
            </a:r>
            <a:endParaRPr b="0" i="0" sz="1250" u="none" cap="none" strike="noStrike">
              <a:solidFill>
                <a:schemeClr val="dk1"/>
              </a:solidFill>
              <a:latin typeface="Arial"/>
              <a:ea typeface="Arial"/>
              <a:cs typeface="Arial"/>
              <a:sym typeface="Arial"/>
            </a:endParaRPr>
          </a:p>
        </p:txBody>
      </p:sp>
      <p:sp>
        <p:nvSpPr>
          <p:cNvPr id="594" name="Google Shape;594;p27"/>
          <p:cNvSpPr/>
          <p:nvPr/>
        </p:nvSpPr>
        <p:spPr>
          <a:xfrm>
            <a:off x="9802368" y="347472"/>
            <a:ext cx="1783080" cy="393192"/>
          </a:xfrm>
          <a:prstGeom prst="roundRect">
            <a:avLst>
              <a:gd fmla="val 11628"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7"/>
          <p:cNvSpPr/>
          <p:nvPr/>
        </p:nvSpPr>
        <p:spPr>
          <a:xfrm>
            <a:off x="9912096" y="457200"/>
            <a:ext cx="1572768"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US" sz="850" u="none" cap="none" strike="noStrike">
                <a:solidFill>
                  <a:srgbClr val="FFFFFF"/>
                </a:solidFill>
                <a:latin typeface="Arial"/>
                <a:ea typeface="Arial"/>
                <a:cs typeface="Arial"/>
                <a:sym typeface="Arial"/>
              </a:rPr>
              <a:t>STEP 15  •  SHARED</a:t>
            </a:r>
            <a:endParaRPr b="0" i="0" sz="850" u="none" cap="none" strike="noStrike">
              <a:solidFill>
                <a:schemeClr val="dk1"/>
              </a:solidFill>
              <a:latin typeface="Arial"/>
              <a:ea typeface="Arial"/>
              <a:cs typeface="Arial"/>
              <a:sym typeface="Arial"/>
            </a:endParaRPr>
          </a:p>
        </p:txBody>
      </p:sp>
      <p:sp>
        <p:nvSpPr>
          <p:cNvPr id="596" name="Google Shape;596;p27"/>
          <p:cNvSpPr/>
          <p:nvPr/>
        </p:nvSpPr>
        <p:spPr>
          <a:xfrm>
            <a:off x="53035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20_portfolio_overview.png" id="597" name="Google Shape;597;p27"/>
          <p:cNvPicPr preferRelativeResize="0"/>
          <p:nvPr/>
        </p:nvPicPr>
        <p:blipFill rotWithShape="1">
          <a:blip r:embed="rId3">
            <a:alphaModFix/>
          </a:blip>
          <a:srcRect b="0" l="0" r="0" t="0"/>
          <a:stretch/>
        </p:blipFill>
        <p:spPr>
          <a:xfrm>
            <a:off x="640080" y="1669352"/>
            <a:ext cx="5294376" cy="3308985"/>
          </a:xfrm>
          <a:prstGeom prst="rect">
            <a:avLst/>
          </a:prstGeom>
          <a:noFill/>
          <a:ln>
            <a:noFill/>
          </a:ln>
        </p:spPr>
      </p:pic>
      <p:sp>
        <p:nvSpPr>
          <p:cNvPr id="598" name="Google Shape;598;p27"/>
          <p:cNvSpPr/>
          <p:nvPr/>
        </p:nvSpPr>
        <p:spPr>
          <a:xfrm>
            <a:off x="67665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Portfolio summary by methodology</a:t>
            </a:r>
            <a:endParaRPr b="0" i="0" sz="950" u="none" cap="none" strike="noStrike">
              <a:solidFill>
                <a:schemeClr val="dk1"/>
              </a:solidFill>
              <a:latin typeface="Arial"/>
              <a:ea typeface="Arial"/>
              <a:cs typeface="Arial"/>
              <a:sym typeface="Arial"/>
            </a:endParaRPr>
          </a:p>
        </p:txBody>
      </p:sp>
      <p:sp>
        <p:nvSpPr>
          <p:cNvPr id="599" name="Google Shape;599;p27"/>
          <p:cNvSpPr/>
          <p:nvPr/>
        </p:nvSpPr>
        <p:spPr>
          <a:xfrm>
            <a:off x="6153912" y="1389888"/>
            <a:ext cx="5513832" cy="4087368"/>
          </a:xfrm>
          <a:prstGeom prst="roundRect">
            <a:avLst>
              <a:gd fmla="val 783"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demo_steps/step21_registered_fields.png" id="600" name="Google Shape;600;p27"/>
          <p:cNvPicPr preferRelativeResize="0"/>
          <p:nvPr/>
        </p:nvPicPr>
        <p:blipFill rotWithShape="1">
          <a:blip r:embed="rId4">
            <a:alphaModFix/>
          </a:blip>
          <a:srcRect b="0" l="0" r="0" t="0"/>
          <a:stretch/>
        </p:blipFill>
        <p:spPr>
          <a:xfrm>
            <a:off x="6263640" y="1669352"/>
            <a:ext cx="5294376" cy="3308985"/>
          </a:xfrm>
          <a:prstGeom prst="rect">
            <a:avLst/>
          </a:prstGeom>
          <a:noFill/>
          <a:ln>
            <a:noFill/>
          </a:ln>
        </p:spPr>
      </p:pic>
      <p:sp>
        <p:nvSpPr>
          <p:cNvPr id="601" name="Google Shape;601;p27"/>
          <p:cNvSpPr/>
          <p:nvPr/>
        </p:nvSpPr>
        <p:spPr>
          <a:xfrm>
            <a:off x="6300216" y="5202936"/>
            <a:ext cx="52212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Registered fields and field metadata</a:t>
            </a:r>
            <a:endParaRPr b="0" i="0" sz="950" u="none" cap="none" strike="noStrike">
              <a:solidFill>
                <a:schemeClr val="dk1"/>
              </a:solidFill>
              <a:latin typeface="Arial"/>
              <a:ea typeface="Arial"/>
              <a:cs typeface="Arial"/>
              <a:sym typeface="Arial"/>
            </a:endParaRPr>
          </a:p>
        </p:txBody>
      </p:sp>
      <p:sp>
        <p:nvSpPr>
          <p:cNvPr id="602" name="Google Shape;602;p27"/>
          <p:cNvSpPr/>
          <p:nvPr/>
        </p:nvSpPr>
        <p:spPr>
          <a:xfrm>
            <a:off x="594360" y="5687568"/>
            <a:ext cx="5394960" cy="594360"/>
          </a:xfrm>
          <a:prstGeom prst="roundRect">
            <a:avLst>
              <a:gd fmla="val 6154" name="adj"/>
            </a:avLst>
          </a:prstGeom>
          <a:solidFill>
            <a:srgbClr val="E2EEDF"/>
          </a:solidFill>
          <a:ln cap="flat" cmpd="sng" w="9525">
            <a:solidFill>
              <a:srgbClr val="B9CE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7"/>
          <p:cNvSpPr/>
          <p:nvPr/>
        </p:nvSpPr>
        <p:spPr>
          <a:xfrm>
            <a:off x="786384" y="5824728"/>
            <a:ext cx="1078992"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850"/>
              <a:buFont typeface="Arial"/>
              <a:buNone/>
            </a:pPr>
            <a:r>
              <a:rPr b="1" i="0" lang="en-US" sz="850" u="none" cap="none" strike="noStrike">
                <a:solidFill>
                  <a:srgbClr val="1F5630"/>
                </a:solidFill>
                <a:latin typeface="Arial"/>
                <a:ea typeface="Arial"/>
                <a:cs typeface="Arial"/>
                <a:sym typeface="Arial"/>
              </a:rPr>
              <a:t>USER ACTION</a:t>
            </a:r>
            <a:endParaRPr b="0" i="0" sz="850" u="none" cap="none" strike="noStrike">
              <a:solidFill>
                <a:schemeClr val="dk1"/>
              </a:solidFill>
              <a:latin typeface="Arial"/>
              <a:ea typeface="Arial"/>
              <a:cs typeface="Arial"/>
              <a:sym typeface="Arial"/>
            </a:endParaRPr>
          </a:p>
        </p:txBody>
      </p:sp>
      <p:sp>
        <p:nvSpPr>
          <p:cNvPr id="604" name="Google Shape;604;p27"/>
          <p:cNvSpPr/>
          <p:nvPr/>
        </p:nvSpPr>
        <p:spPr>
          <a:xfrm>
            <a:off x="1865376" y="5760720"/>
            <a:ext cx="388620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Compare latest field results and inspect the asset registry.</a:t>
            </a:r>
            <a:endParaRPr b="0" i="0" sz="1080" u="none" cap="none" strike="noStrike">
              <a:solidFill>
                <a:schemeClr val="dk1"/>
              </a:solidFill>
              <a:latin typeface="Arial"/>
              <a:ea typeface="Arial"/>
              <a:cs typeface="Arial"/>
              <a:sym typeface="Arial"/>
            </a:endParaRPr>
          </a:p>
        </p:txBody>
      </p:sp>
      <p:sp>
        <p:nvSpPr>
          <p:cNvPr id="605" name="Google Shape;605;p27"/>
          <p:cNvSpPr/>
          <p:nvPr/>
        </p:nvSpPr>
        <p:spPr>
          <a:xfrm>
            <a:off x="6199632" y="5687568"/>
            <a:ext cx="5394960" cy="594360"/>
          </a:xfrm>
          <a:prstGeom prst="roundRect">
            <a:avLst>
              <a:gd fmla="val 6154" name="adj"/>
            </a:avLst>
          </a:prstGeom>
          <a:solidFill>
            <a:srgbClr val="E7EFE9"/>
          </a:solidFill>
          <a:ln cap="flat" cmpd="sng" w="9525">
            <a:solidFill>
              <a:srgbClr val="BFD0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7"/>
          <p:cNvSpPr/>
          <p:nvPr/>
        </p:nvSpPr>
        <p:spPr>
          <a:xfrm>
            <a:off x="6391656" y="5824728"/>
            <a:ext cx="11887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7A68"/>
              </a:buClr>
              <a:buSzPts val="850"/>
              <a:buFont typeface="Arial"/>
              <a:buNone/>
            </a:pPr>
            <a:r>
              <a:rPr b="1" i="0" lang="en-US" sz="850" u="none" cap="none" strike="noStrike">
                <a:solidFill>
                  <a:srgbClr val="527A68"/>
                </a:solidFill>
                <a:latin typeface="Arial"/>
                <a:ea typeface="Arial"/>
                <a:cs typeface="Arial"/>
                <a:sym typeface="Arial"/>
              </a:rPr>
              <a:t>SYSTEM WORK</a:t>
            </a:r>
            <a:endParaRPr b="0" i="0" sz="850" u="none" cap="none" strike="noStrike">
              <a:solidFill>
                <a:schemeClr val="dk1"/>
              </a:solidFill>
              <a:latin typeface="Arial"/>
              <a:ea typeface="Arial"/>
              <a:cs typeface="Arial"/>
              <a:sym typeface="Arial"/>
            </a:endParaRPr>
          </a:p>
        </p:txBody>
      </p:sp>
      <p:sp>
        <p:nvSpPr>
          <p:cNvPr id="607" name="Google Shape;607;p27"/>
          <p:cNvSpPr/>
          <p:nvPr/>
        </p:nvSpPr>
        <p:spPr>
          <a:xfrm>
            <a:off x="7598664" y="5760720"/>
            <a:ext cx="374904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080"/>
              <a:buFont typeface="Arial"/>
              <a:buNone/>
            </a:pPr>
            <a:r>
              <a:rPr b="1" i="0" lang="en-US" sz="1080" u="none" cap="none" strike="noStrike">
                <a:solidFill>
                  <a:srgbClr val="24332A"/>
                </a:solidFill>
                <a:latin typeface="Arial"/>
                <a:ea typeface="Arial"/>
                <a:cs typeface="Arial"/>
                <a:sym typeface="Arial"/>
              </a:rPr>
              <a:t>Aggregate latest stored runs without replacing the underlying history.</a:t>
            </a:r>
            <a:endParaRPr b="0" i="0" sz="1080" u="none" cap="none" strike="noStrike">
              <a:solidFill>
                <a:schemeClr val="dk1"/>
              </a:solidFill>
              <a:latin typeface="Arial"/>
              <a:ea typeface="Arial"/>
              <a:cs typeface="Arial"/>
              <a:sym typeface="Arial"/>
            </a:endParaRPr>
          </a:p>
        </p:txBody>
      </p:sp>
      <p:sp>
        <p:nvSpPr>
          <p:cNvPr id="608" name="Google Shape;608;p27"/>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28"/>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IMPLEMENTATION PROGRESS</a:t>
            </a:r>
            <a:endParaRPr b="0" i="0" sz="1000" u="none" cap="none" strike="noStrike">
              <a:solidFill>
                <a:schemeClr val="dk1"/>
              </a:solidFill>
              <a:latin typeface="Arial"/>
              <a:ea typeface="Arial"/>
              <a:cs typeface="Arial"/>
              <a:sym typeface="Arial"/>
            </a:endParaRPr>
          </a:p>
        </p:txBody>
      </p:sp>
      <p:sp>
        <p:nvSpPr>
          <p:cNvPr id="615" name="Google Shape;615;p28"/>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What is working at the midterm checkpoint</a:t>
            </a:r>
            <a:endParaRPr b="0" i="0" sz="2700" u="none" cap="none" strike="noStrike">
              <a:solidFill>
                <a:schemeClr val="dk1"/>
              </a:solidFill>
              <a:latin typeface="Arial"/>
              <a:ea typeface="Arial"/>
              <a:cs typeface="Arial"/>
              <a:sym typeface="Arial"/>
            </a:endParaRPr>
          </a:p>
        </p:txBody>
      </p:sp>
      <p:sp>
        <p:nvSpPr>
          <p:cNvPr id="616" name="Google Shape;616;p28"/>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Conservative status: implemented does not automatically mean independently validated.</a:t>
            </a:r>
            <a:endParaRPr b="0" i="0" sz="1250" u="none" cap="none" strike="noStrike">
              <a:solidFill>
                <a:schemeClr val="dk1"/>
              </a:solidFill>
              <a:latin typeface="Arial"/>
              <a:ea typeface="Arial"/>
              <a:cs typeface="Arial"/>
              <a:sym typeface="Arial"/>
            </a:endParaRPr>
          </a:p>
        </p:txBody>
      </p:sp>
      <p:sp>
        <p:nvSpPr>
          <p:cNvPr id="617" name="Google Shape;617;p28"/>
          <p:cNvSpPr/>
          <p:nvPr/>
        </p:nvSpPr>
        <p:spPr>
          <a:xfrm>
            <a:off x="658368" y="1417320"/>
            <a:ext cx="10881360" cy="493776"/>
          </a:xfrm>
          <a:prstGeom prst="roundRect">
            <a:avLst>
              <a:gd fmla="val 6481" name="adj"/>
            </a:avLst>
          </a:prstGeom>
          <a:solidFill>
            <a:srgbClr val="FFFFFF"/>
          </a:solidFill>
          <a:ln cap="flat" cmpd="sng" w="12700">
            <a:solidFill>
              <a:srgbClr val="D6DED4">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8"/>
          <p:cNvSpPr/>
          <p:nvPr/>
        </p:nvSpPr>
        <p:spPr>
          <a:xfrm>
            <a:off x="914400" y="1545336"/>
            <a:ext cx="6812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280"/>
              <a:buFont typeface="Arial"/>
              <a:buNone/>
            </a:pPr>
            <a:r>
              <a:rPr b="0" i="0" lang="en-US" sz="1280" u="none" cap="none" strike="noStrike">
                <a:solidFill>
                  <a:srgbClr val="24332A"/>
                </a:solidFill>
                <a:latin typeface="Arial"/>
                <a:ea typeface="Arial"/>
                <a:cs typeface="Arial"/>
                <a:sym typeface="Arial"/>
              </a:rPr>
              <a:t>Field registry, geometry parsing and routing</a:t>
            </a:r>
            <a:endParaRPr b="0" i="0" sz="1280" u="none" cap="none" strike="noStrike">
              <a:solidFill>
                <a:schemeClr val="dk1"/>
              </a:solidFill>
              <a:latin typeface="Arial"/>
              <a:ea typeface="Arial"/>
              <a:cs typeface="Arial"/>
              <a:sym typeface="Arial"/>
            </a:endParaRPr>
          </a:p>
        </p:txBody>
      </p:sp>
      <p:sp>
        <p:nvSpPr>
          <p:cNvPr id="619" name="Google Shape;619;p28"/>
          <p:cNvSpPr/>
          <p:nvPr/>
        </p:nvSpPr>
        <p:spPr>
          <a:xfrm>
            <a:off x="8275320" y="1508760"/>
            <a:ext cx="2880360" cy="310896"/>
          </a:xfrm>
          <a:prstGeom prst="roundRect">
            <a:avLst>
              <a:gd fmla="val 11765"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8"/>
          <p:cNvSpPr/>
          <p:nvPr/>
        </p:nvSpPr>
        <p:spPr>
          <a:xfrm>
            <a:off x="8394192" y="1581912"/>
            <a:ext cx="2642616"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20"/>
              <a:buFont typeface="Arial"/>
              <a:buNone/>
            </a:pPr>
            <a:r>
              <a:rPr b="1" i="0" lang="en-US" sz="920" u="none" cap="none" strike="noStrike">
                <a:solidFill>
                  <a:srgbClr val="FFFFFF"/>
                </a:solidFill>
                <a:latin typeface="Arial"/>
                <a:ea typeface="Arial"/>
                <a:cs typeface="Arial"/>
                <a:sym typeface="Arial"/>
              </a:rPr>
              <a:t>IMPLEMENTED</a:t>
            </a:r>
            <a:endParaRPr b="0" i="0" sz="920" u="none" cap="none" strike="noStrike">
              <a:solidFill>
                <a:schemeClr val="dk1"/>
              </a:solidFill>
              <a:latin typeface="Arial"/>
              <a:ea typeface="Arial"/>
              <a:cs typeface="Arial"/>
              <a:sym typeface="Arial"/>
            </a:endParaRPr>
          </a:p>
        </p:txBody>
      </p:sp>
      <p:sp>
        <p:nvSpPr>
          <p:cNvPr id="621" name="Google Shape;621;p28"/>
          <p:cNvSpPr/>
          <p:nvPr/>
        </p:nvSpPr>
        <p:spPr>
          <a:xfrm>
            <a:off x="658368" y="2057400"/>
            <a:ext cx="10881360" cy="493776"/>
          </a:xfrm>
          <a:prstGeom prst="roundRect">
            <a:avLst>
              <a:gd fmla="val 6481" name="adj"/>
            </a:avLst>
          </a:prstGeom>
          <a:solidFill>
            <a:srgbClr val="F9FAF7"/>
          </a:solidFill>
          <a:ln cap="flat" cmpd="sng" w="12700">
            <a:solidFill>
              <a:srgbClr val="D6DED4">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8"/>
          <p:cNvSpPr/>
          <p:nvPr/>
        </p:nvSpPr>
        <p:spPr>
          <a:xfrm>
            <a:off x="914400" y="2185416"/>
            <a:ext cx="6812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280"/>
              <a:buFont typeface="Arial"/>
              <a:buNone/>
            </a:pPr>
            <a:r>
              <a:rPr b="0" i="0" lang="en-US" sz="1280" u="none" cap="none" strike="noStrike">
                <a:solidFill>
                  <a:srgbClr val="24332A"/>
                </a:solidFill>
                <a:latin typeface="Arial"/>
                <a:ea typeface="Arial"/>
                <a:cs typeface="Arial"/>
                <a:sym typeface="Arial"/>
              </a:rPr>
              <a:t>Sentinel-1 cache and transparent AWD gate</a:t>
            </a:r>
            <a:endParaRPr b="0" i="0" sz="1280" u="none" cap="none" strike="noStrike">
              <a:solidFill>
                <a:schemeClr val="dk1"/>
              </a:solidFill>
              <a:latin typeface="Arial"/>
              <a:ea typeface="Arial"/>
              <a:cs typeface="Arial"/>
              <a:sym typeface="Arial"/>
            </a:endParaRPr>
          </a:p>
        </p:txBody>
      </p:sp>
      <p:sp>
        <p:nvSpPr>
          <p:cNvPr id="623" name="Google Shape;623;p28"/>
          <p:cNvSpPr/>
          <p:nvPr/>
        </p:nvSpPr>
        <p:spPr>
          <a:xfrm>
            <a:off x="8275320" y="2148840"/>
            <a:ext cx="2880360" cy="310896"/>
          </a:xfrm>
          <a:prstGeom prst="roundRect">
            <a:avLst>
              <a:gd fmla="val 11765" name="adj"/>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8"/>
          <p:cNvSpPr/>
          <p:nvPr/>
        </p:nvSpPr>
        <p:spPr>
          <a:xfrm>
            <a:off x="8394192" y="2221992"/>
            <a:ext cx="2642616"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20"/>
              <a:buFont typeface="Arial"/>
              <a:buNone/>
            </a:pPr>
            <a:r>
              <a:rPr b="1" i="0" lang="en-US" sz="920" u="none" cap="none" strike="noStrike">
                <a:solidFill>
                  <a:srgbClr val="FFFFFF"/>
                </a:solidFill>
                <a:latin typeface="Arial"/>
                <a:ea typeface="Arial"/>
                <a:cs typeface="Arial"/>
                <a:sym typeface="Arial"/>
              </a:rPr>
              <a:t>IMPLEMENTED • MANUAL CHECK</a:t>
            </a:r>
            <a:endParaRPr b="0" i="0" sz="920" u="none" cap="none" strike="noStrike">
              <a:solidFill>
                <a:schemeClr val="dk1"/>
              </a:solidFill>
              <a:latin typeface="Arial"/>
              <a:ea typeface="Arial"/>
              <a:cs typeface="Arial"/>
              <a:sym typeface="Arial"/>
            </a:endParaRPr>
          </a:p>
        </p:txBody>
      </p:sp>
      <p:sp>
        <p:nvSpPr>
          <p:cNvPr id="625" name="Google Shape;625;p28"/>
          <p:cNvSpPr/>
          <p:nvPr/>
        </p:nvSpPr>
        <p:spPr>
          <a:xfrm>
            <a:off x="658368" y="2697480"/>
            <a:ext cx="10881360" cy="493776"/>
          </a:xfrm>
          <a:prstGeom prst="roundRect">
            <a:avLst>
              <a:gd fmla="val 6481" name="adj"/>
            </a:avLst>
          </a:prstGeom>
          <a:solidFill>
            <a:srgbClr val="FFFFFF"/>
          </a:solidFill>
          <a:ln cap="flat" cmpd="sng" w="12700">
            <a:solidFill>
              <a:srgbClr val="D6DED4">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8"/>
          <p:cNvSpPr/>
          <p:nvPr/>
        </p:nvSpPr>
        <p:spPr>
          <a:xfrm>
            <a:off x="914400" y="2825496"/>
            <a:ext cx="6812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280"/>
              <a:buFont typeface="Arial"/>
              <a:buNone/>
            </a:pPr>
            <a:r>
              <a:rPr b="0" i="0" lang="en-US" sz="1280" u="none" cap="none" strike="noStrike">
                <a:solidFill>
                  <a:srgbClr val="24332A"/>
                </a:solidFill>
                <a:latin typeface="Arial"/>
                <a:ea typeface="Arial"/>
                <a:cs typeface="Arial"/>
                <a:sym typeface="Arial"/>
              </a:rPr>
              <a:t>VM0051 and scoped VM0042 engines</a:t>
            </a:r>
            <a:endParaRPr b="0" i="0" sz="1280" u="none" cap="none" strike="noStrike">
              <a:solidFill>
                <a:schemeClr val="dk1"/>
              </a:solidFill>
              <a:latin typeface="Arial"/>
              <a:ea typeface="Arial"/>
              <a:cs typeface="Arial"/>
              <a:sym typeface="Arial"/>
            </a:endParaRPr>
          </a:p>
        </p:txBody>
      </p:sp>
      <p:sp>
        <p:nvSpPr>
          <p:cNvPr id="627" name="Google Shape;627;p28"/>
          <p:cNvSpPr/>
          <p:nvPr/>
        </p:nvSpPr>
        <p:spPr>
          <a:xfrm>
            <a:off x="8275320" y="2788920"/>
            <a:ext cx="2880360" cy="310896"/>
          </a:xfrm>
          <a:prstGeom prst="roundRect">
            <a:avLst>
              <a:gd fmla="val 11765" name="adj"/>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8"/>
          <p:cNvSpPr/>
          <p:nvPr/>
        </p:nvSpPr>
        <p:spPr>
          <a:xfrm>
            <a:off x="8394192" y="2862072"/>
            <a:ext cx="2642616"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20"/>
              <a:buFont typeface="Arial"/>
              <a:buNone/>
            </a:pPr>
            <a:r>
              <a:rPr b="1" i="0" lang="en-US" sz="920" u="none" cap="none" strike="noStrike">
                <a:solidFill>
                  <a:srgbClr val="FFFFFF"/>
                </a:solidFill>
                <a:latin typeface="Arial"/>
                <a:ea typeface="Arial"/>
                <a:cs typeface="Arial"/>
                <a:sym typeface="Arial"/>
              </a:rPr>
              <a:t>AUTOMATED TESTS</a:t>
            </a:r>
            <a:endParaRPr b="0" i="0" sz="920" u="none" cap="none" strike="noStrike">
              <a:solidFill>
                <a:schemeClr val="dk1"/>
              </a:solidFill>
              <a:latin typeface="Arial"/>
              <a:ea typeface="Arial"/>
              <a:cs typeface="Arial"/>
              <a:sym typeface="Arial"/>
            </a:endParaRPr>
          </a:p>
        </p:txBody>
      </p:sp>
      <p:sp>
        <p:nvSpPr>
          <p:cNvPr id="629" name="Google Shape;629;p28"/>
          <p:cNvSpPr/>
          <p:nvPr/>
        </p:nvSpPr>
        <p:spPr>
          <a:xfrm>
            <a:off x="658368" y="3337560"/>
            <a:ext cx="10881360" cy="493776"/>
          </a:xfrm>
          <a:prstGeom prst="roundRect">
            <a:avLst>
              <a:gd fmla="val 6481" name="adj"/>
            </a:avLst>
          </a:prstGeom>
          <a:solidFill>
            <a:srgbClr val="F9FAF7"/>
          </a:solidFill>
          <a:ln cap="flat" cmpd="sng" w="12700">
            <a:solidFill>
              <a:srgbClr val="D6DED4">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8"/>
          <p:cNvSpPr/>
          <p:nvPr/>
        </p:nvSpPr>
        <p:spPr>
          <a:xfrm>
            <a:off x="914400" y="3465576"/>
            <a:ext cx="6812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280"/>
              <a:buFont typeface="Arial"/>
              <a:buNone/>
            </a:pPr>
            <a:r>
              <a:rPr b="0" i="0" lang="en-US" sz="1280" u="none" cap="none" strike="noStrike">
                <a:solidFill>
                  <a:srgbClr val="24332A"/>
                </a:solidFill>
                <a:latin typeface="Arial"/>
                <a:ea typeface="Arial"/>
                <a:cs typeface="Arial"/>
                <a:sym typeface="Arial"/>
              </a:rPr>
              <a:t>PDF/JSON evidence and methodology CSVs</a:t>
            </a:r>
            <a:endParaRPr b="0" i="0" sz="1280" u="none" cap="none" strike="noStrike">
              <a:solidFill>
                <a:schemeClr val="dk1"/>
              </a:solidFill>
              <a:latin typeface="Arial"/>
              <a:ea typeface="Arial"/>
              <a:cs typeface="Arial"/>
              <a:sym typeface="Arial"/>
            </a:endParaRPr>
          </a:p>
        </p:txBody>
      </p:sp>
      <p:sp>
        <p:nvSpPr>
          <p:cNvPr id="631" name="Google Shape;631;p28"/>
          <p:cNvSpPr/>
          <p:nvPr/>
        </p:nvSpPr>
        <p:spPr>
          <a:xfrm>
            <a:off x="8275320" y="3429000"/>
            <a:ext cx="2880360" cy="310896"/>
          </a:xfrm>
          <a:prstGeom prst="roundRect">
            <a:avLst>
              <a:gd fmla="val 11765" name="adj"/>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8"/>
          <p:cNvSpPr/>
          <p:nvPr/>
        </p:nvSpPr>
        <p:spPr>
          <a:xfrm>
            <a:off x="8394192" y="3502152"/>
            <a:ext cx="2642616"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20"/>
              <a:buFont typeface="Arial"/>
              <a:buNone/>
            </a:pPr>
            <a:r>
              <a:rPr b="1" i="0" lang="en-US" sz="920" u="none" cap="none" strike="noStrike">
                <a:solidFill>
                  <a:srgbClr val="FFFFFF"/>
                </a:solidFill>
                <a:latin typeface="Arial"/>
                <a:ea typeface="Arial"/>
                <a:cs typeface="Arial"/>
                <a:sym typeface="Arial"/>
              </a:rPr>
              <a:t>PARTIAL CSV SCOPE</a:t>
            </a:r>
            <a:endParaRPr b="0" i="0" sz="920" u="none" cap="none" strike="noStrike">
              <a:solidFill>
                <a:schemeClr val="dk1"/>
              </a:solidFill>
              <a:latin typeface="Arial"/>
              <a:ea typeface="Arial"/>
              <a:cs typeface="Arial"/>
              <a:sym typeface="Arial"/>
            </a:endParaRPr>
          </a:p>
        </p:txBody>
      </p:sp>
      <p:sp>
        <p:nvSpPr>
          <p:cNvPr id="633" name="Google Shape;633;p28"/>
          <p:cNvSpPr/>
          <p:nvPr/>
        </p:nvSpPr>
        <p:spPr>
          <a:xfrm>
            <a:off x="658368" y="3977640"/>
            <a:ext cx="10881360" cy="493776"/>
          </a:xfrm>
          <a:prstGeom prst="roundRect">
            <a:avLst>
              <a:gd fmla="val 6481" name="adj"/>
            </a:avLst>
          </a:prstGeom>
          <a:solidFill>
            <a:srgbClr val="FFFFFF"/>
          </a:solidFill>
          <a:ln cap="flat" cmpd="sng" w="12700">
            <a:solidFill>
              <a:srgbClr val="D6DED4">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8"/>
          <p:cNvSpPr/>
          <p:nvPr/>
        </p:nvSpPr>
        <p:spPr>
          <a:xfrm>
            <a:off x="914400" y="4105656"/>
            <a:ext cx="6812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280"/>
              <a:buFont typeface="Arial"/>
              <a:buNone/>
            </a:pPr>
            <a:r>
              <a:rPr b="0" i="0" lang="en-US" sz="1280" u="none" cap="none" strike="noStrike">
                <a:solidFill>
                  <a:srgbClr val="24332A"/>
                </a:solidFill>
                <a:latin typeface="Arial"/>
                <a:ea typeface="Arial"/>
                <a:cs typeface="Arial"/>
                <a:sym typeface="Arial"/>
              </a:rPr>
              <a:t>Calculation history and portfolio</a:t>
            </a:r>
            <a:endParaRPr b="0" i="0" sz="1280" u="none" cap="none" strike="noStrike">
              <a:solidFill>
                <a:schemeClr val="dk1"/>
              </a:solidFill>
              <a:latin typeface="Arial"/>
              <a:ea typeface="Arial"/>
              <a:cs typeface="Arial"/>
              <a:sym typeface="Arial"/>
            </a:endParaRPr>
          </a:p>
        </p:txBody>
      </p:sp>
      <p:sp>
        <p:nvSpPr>
          <p:cNvPr id="635" name="Google Shape;635;p28"/>
          <p:cNvSpPr/>
          <p:nvPr/>
        </p:nvSpPr>
        <p:spPr>
          <a:xfrm>
            <a:off x="8275320" y="4069080"/>
            <a:ext cx="2880360" cy="310896"/>
          </a:xfrm>
          <a:prstGeom prst="roundRect">
            <a:avLst>
              <a:gd fmla="val 11765" name="adj"/>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8"/>
          <p:cNvSpPr/>
          <p:nvPr/>
        </p:nvSpPr>
        <p:spPr>
          <a:xfrm>
            <a:off x="8394192" y="4142232"/>
            <a:ext cx="2642616"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20"/>
              <a:buFont typeface="Arial"/>
              <a:buNone/>
            </a:pPr>
            <a:r>
              <a:rPr b="1" i="0" lang="en-US" sz="920" u="none" cap="none" strike="noStrike">
                <a:solidFill>
                  <a:srgbClr val="FFFFFF"/>
                </a:solidFill>
                <a:latin typeface="Arial"/>
                <a:ea typeface="Arial"/>
                <a:cs typeface="Arial"/>
                <a:sym typeface="Arial"/>
              </a:rPr>
              <a:t>IMPLEMENTED • TESTS PENDING</a:t>
            </a:r>
            <a:endParaRPr b="0" i="0" sz="920" u="none" cap="none" strike="noStrike">
              <a:solidFill>
                <a:schemeClr val="dk1"/>
              </a:solidFill>
              <a:latin typeface="Arial"/>
              <a:ea typeface="Arial"/>
              <a:cs typeface="Arial"/>
              <a:sym typeface="Arial"/>
            </a:endParaRPr>
          </a:p>
        </p:txBody>
      </p:sp>
      <p:sp>
        <p:nvSpPr>
          <p:cNvPr id="637" name="Google Shape;637;p28"/>
          <p:cNvSpPr/>
          <p:nvPr/>
        </p:nvSpPr>
        <p:spPr>
          <a:xfrm>
            <a:off x="658368" y="4617720"/>
            <a:ext cx="10881360" cy="493776"/>
          </a:xfrm>
          <a:prstGeom prst="roundRect">
            <a:avLst>
              <a:gd fmla="val 6481" name="adj"/>
            </a:avLst>
          </a:prstGeom>
          <a:solidFill>
            <a:srgbClr val="F9FAF7"/>
          </a:solidFill>
          <a:ln cap="flat" cmpd="sng" w="12700">
            <a:solidFill>
              <a:srgbClr val="D6DED4">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8"/>
          <p:cNvSpPr/>
          <p:nvPr/>
        </p:nvSpPr>
        <p:spPr>
          <a:xfrm>
            <a:off x="914400" y="4745736"/>
            <a:ext cx="6812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280"/>
              <a:buFont typeface="Arial"/>
              <a:buNone/>
            </a:pPr>
            <a:r>
              <a:rPr b="0" i="0" lang="en-US" sz="1280" u="none" cap="none" strike="noStrike">
                <a:solidFill>
                  <a:srgbClr val="24332A"/>
                </a:solidFill>
                <a:latin typeface="Arial"/>
                <a:ea typeface="Arial"/>
                <a:cs typeface="Arial"/>
                <a:sym typeface="Arial"/>
              </a:rPr>
              <a:t>RF/XGBoost pipeline and saved artifacts</a:t>
            </a:r>
            <a:endParaRPr b="0" i="0" sz="1280" u="none" cap="none" strike="noStrike">
              <a:solidFill>
                <a:schemeClr val="dk1"/>
              </a:solidFill>
              <a:latin typeface="Arial"/>
              <a:ea typeface="Arial"/>
              <a:cs typeface="Arial"/>
              <a:sym typeface="Arial"/>
            </a:endParaRPr>
          </a:p>
        </p:txBody>
      </p:sp>
      <p:sp>
        <p:nvSpPr>
          <p:cNvPr id="639" name="Google Shape;639;p28"/>
          <p:cNvSpPr/>
          <p:nvPr/>
        </p:nvSpPr>
        <p:spPr>
          <a:xfrm>
            <a:off x="8275320" y="4709160"/>
            <a:ext cx="2880360" cy="310896"/>
          </a:xfrm>
          <a:prstGeom prst="roundRect">
            <a:avLst>
              <a:gd fmla="val 11765" name="adj"/>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8"/>
          <p:cNvSpPr/>
          <p:nvPr/>
        </p:nvSpPr>
        <p:spPr>
          <a:xfrm>
            <a:off x="8394192" y="4782312"/>
            <a:ext cx="2642616"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20"/>
              <a:buFont typeface="Arial"/>
              <a:buNone/>
            </a:pPr>
            <a:r>
              <a:rPr b="1" i="0" lang="en-US" sz="920" u="none" cap="none" strike="noStrike">
                <a:solidFill>
                  <a:srgbClr val="FFFFFF"/>
                </a:solidFill>
                <a:latin typeface="Arial"/>
                <a:ea typeface="Arial"/>
                <a:cs typeface="Arial"/>
                <a:sym typeface="Arial"/>
              </a:rPr>
              <a:t>EXPERIMENTAL</a:t>
            </a:r>
            <a:endParaRPr b="0" i="0" sz="920" u="none" cap="none" strike="noStrike">
              <a:solidFill>
                <a:schemeClr val="dk1"/>
              </a:solidFill>
              <a:latin typeface="Arial"/>
              <a:ea typeface="Arial"/>
              <a:cs typeface="Arial"/>
              <a:sym typeface="Arial"/>
            </a:endParaRPr>
          </a:p>
        </p:txBody>
      </p:sp>
      <p:sp>
        <p:nvSpPr>
          <p:cNvPr id="641" name="Google Shape;641;p28"/>
          <p:cNvSpPr/>
          <p:nvPr/>
        </p:nvSpPr>
        <p:spPr>
          <a:xfrm>
            <a:off x="658368" y="5257800"/>
            <a:ext cx="10881360" cy="493776"/>
          </a:xfrm>
          <a:prstGeom prst="roundRect">
            <a:avLst>
              <a:gd fmla="val 6481" name="adj"/>
            </a:avLst>
          </a:prstGeom>
          <a:solidFill>
            <a:srgbClr val="FFFFFF"/>
          </a:solidFill>
          <a:ln cap="flat" cmpd="sng" w="12700">
            <a:solidFill>
              <a:srgbClr val="D6DED4">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8"/>
          <p:cNvSpPr/>
          <p:nvPr/>
        </p:nvSpPr>
        <p:spPr>
          <a:xfrm>
            <a:off x="914400" y="5385816"/>
            <a:ext cx="6812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280"/>
              <a:buFont typeface="Arial"/>
              <a:buNone/>
            </a:pPr>
            <a:r>
              <a:rPr b="0" i="0" lang="en-US" sz="1280" u="none" cap="none" strike="noStrike">
                <a:solidFill>
                  <a:srgbClr val="24332A"/>
                </a:solidFill>
                <a:latin typeface="Arial"/>
                <a:ea typeface="Arial"/>
                <a:cs typeface="Arial"/>
                <a:sym typeface="Arial"/>
              </a:rPr>
              <a:t>Independent AWD ground-truth validation</a:t>
            </a:r>
            <a:endParaRPr b="0" i="0" sz="1280" u="none" cap="none" strike="noStrike">
              <a:solidFill>
                <a:schemeClr val="dk1"/>
              </a:solidFill>
              <a:latin typeface="Arial"/>
              <a:ea typeface="Arial"/>
              <a:cs typeface="Arial"/>
              <a:sym typeface="Arial"/>
            </a:endParaRPr>
          </a:p>
        </p:txBody>
      </p:sp>
      <p:sp>
        <p:nvSpPr>
          <p:cNvPr id="643" name="Google Shape;643;p28"/>
          <p:cNvSpPr/>
          <p:nvPr/>
        </p:nvSpPr>
        <p:spPr>
          <a:xfrm>
            <a:off x="8275320" y="5349240"/>
            <a:ext cx="2880360" cy="310896"/>
          </a:xfrm>
          <a:prstGeom prst="roundRect">
            <a:avLst>
              <a:gd fmla="val 11765" name="adj"/>
            </a:avLst>
          </a:prstGeom>
          <a:solidFill>
            <a:srgbClr val="956156"/>
          </a:solidFill>
          <a:ln cap="flat" cmpd="sng" w="12700">
            <a:solidFill>
              <a:srgbClr val="9561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8"/>
          <p:cNvSpPr/>
          <p:nvPr/>
        </p:nvSpPr>
        <p:spPr>
          <a:xfrm>
            <a:off x="8394192" y="5422392"/>
            <a:ext cx="2642616" cy="1280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20"/>
              <a:buFont typeface="Arial"/>
              <a:buNone/>
            </a:pPr>
            <a:r>
              <a:rPr b="1" i="0" lang="en-US" sz="920" u="none" cap="none" strike="noStrike">
                <a:solidFill>
                  <a:srgbClr val="FFFFFF"/>
                </a:solidFill>
                <a:latin typeface="Arial"/>
                <a:ea typeface="Arial"/>
                <a:cs typeface="Arial"/>
                <a:sym typeface="Arial"/>
              </a:rPr>
              <a:t>NOT COMPLETED</a:t>
            </a:r>
            <a:endParaRPr b="0" i="0" sz="920" u="none" cap="none" strike="noStrike">
              <a:solidFill>
                <a:schemeClr val="dk1"/>
              </a:solidFill>
              <a:latin typeface="Arial"/>
              <a:ea typeface="Arial"/>
              <a:cs typeface="Arial"/>
              <a:sym typeface="Arial"/>
            </a:endParaRPr>
          </a:p>
        </p:txBody>
      </p:sp>
      <p:sp>
        <p:nvSpPr>
          <p:cNvPr id="645" name="Google Shape;645;p28"/>
          <p:cNvSpPr/>
          <p:nvPr/>
        </p:nvSpPr>
        <p:spPr>
          <a:xfrm>
            <a:off x="1143000" y="6099048"/>
            <a:ext cx="9921240" cy="347472"/>
          </a:xfrm>
          <a:prstGeom prst="roundRect">
            <a:avLst>
              <a:gd fmla="val 15789" name="adj"/>
            </a:avLst>
          </a:prstGeom>
          <a:solidFill>
            <a:srgbClr val="E2EEDF"/>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8"/>
          <p:cNvSpPr/>
          <p:nvPr/>
        </p:nvSpPr>
        <p:spPr>
          <a:xfrm>
            <a:off x="1307592" y="6217920"/>
            <a:ext cx="9592056" cy="1188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32A"/>
              </a:buClr>
              <a:buSzPts val="1150"/>
              <a:buFont typeface="Arial"/>
              <a:buNone/>
            </a:pPr>
            <a:r>
              <a:rPr b="1" i="0" lang="en-US" sz="1150" u="none" cap="none" strike="noStrike">
                <a:solidFill>
                  <a:srgbClr val="24332A"/>
                </a:solidFill>
                <a:latin typeface="Arial"/>
                <a:ea typeface="Arial"/>
                <a:cs typeface="Arial"/>
                <a:sym typeface="Arial"/>
              </a:rPr>
              <a:t>Strongest verified area: accounting-engine regression tests. Largest evidence gap: independent AWD ground truth.</a:t>
            </a:r>
            <a:endParaRPr b="0" i="0" sz="1150" u="none" cap="none" strike="noStrike">
              <a:solidFill>
                <a:schemeClr val="dk1"/>
              </a:solidFill>
              <a:latin typeface="Arial"/>
              <a:ea typeface="Arial"/>
              <a:cs typeface="Arial"/>
              <a:sym typeface="Arial"/>
            </a:endParaRPr>
          </a:p>
        </p:txBody>
      </p:sp>
      <p:sp>
        <p:nvSpPr>
          <p:cNvPr id="647" name="Google Shape;647;p28"/>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29"/>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CHALLENGES AND NEXT WORK</a:t>
            </a:r>
            <a:endParaRPr b="0" i="0" sz="1000" u="none" cap="none" strike="noStrike">
              <a:solidFill>
                <a:schemeClr val="dk1"/>
              </a:solidFill>
              <a:latin typeface="Arial"/>
              <a:ea typeface="Arial"/>
              <a:cs typeface="Arial"/>
              <a:sym typeface="Arial"/>
            </a:endParaRPr>
          </a:p>
        </p:txBody>
      </p:sp>
      <p:sp>
        <p:nvSpPr>
          <p:cNvPr id="654" name="Google Shape;654;p29"/>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Known risks — and the engineering response</a:t>
            </a:r>
            <a:endParaRPr b="0" i="0" sz="2700" u="none" cap="none" strike="noStrike">
              <a:solidFill>
                <a:schemeClr val="dk1"/>
              </a:solidFill>
              <a:latin typeface="Arial"/>
              <a:ea typeface="Arial"/>
              <a:cs typeface="Arial"/>
              <a:sym typeface="Arial"/>
            </a:endParaRPr>
          </a:p>
        </p:txBody>
      </p:sp>
      <p:sp>
        <p:nvSpPr>
          <p:cNvPr id="655" name="Google Shape;655;p29"/>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A credible capstone makes uncertainty visible and testable.</a:t>
            </a:r>
            <a:endParaRPr b="0" i="0" sz="1250" u="none" cap="none" strike="noStrike">
              <a:solidFill>
                <a:schemeClr val="dk1"/>
              </a:solidFill>
              <a:latin typeface="Arial"/>
              <a:ea typeface="Arial"/>
              <a:cs typeface="Arial"/>
              <a:sym typeface="Arial"/>
            </a:endParaRPr>
          </a:p>
        </p:txBody>
      </p:sp>
      <p:sp>
        <p:nvSpPr>
          <p:cNvPr id="656" name="Google Shape;656;p29"/>
          <p:cNvSpPr/>
          <p:nvPr/>
        </p:nvSpPr>
        <p:spPr>
          <a:xfrm>
            <a:off x="612648" y="1417320"/>
            <a:ext cx="5321808" cy="1261872"/>
          </a:xfrm>
          <a:prstGeom prst="roundRect">
            <a:avLst>
              <a:gd fmla="val 4348"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9"/>
          <p:cNvSpPr/>
          <p:nvPr/>
        </p:nvSpPr>
        <p:spPr>
          <a:xfrm>
            <a:off x="612648" y="1417320"/>
            <a:ext cx="82296" cy="1261872"/>
          </a:xfrm>
          <a:prstGeom prst="rect">
            <a:avLst/>
          </a:prstGeom>
          <a:solidFill>
            <a:srgbClr val="956156"/>
          </a:solidFill>
          <a:ln cap="flat" cmpd="sng" w="12700">
            <a:solidFill>
              <a:srgbClr val="9561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9"/>
          <p:cNvSpPr/>
          <p:nvPr/>
        </p:nvSpPr>
        <p:spPr>
          <a:xfrm>
            <a:off x="886968" y="1618488"/>
            <a:ext cx="473659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400"/>
              <a:buFont typeface="Arial"/>
              <a:buNone/>
            </a:pPr>
            <a:r>
              <a:rPr b="1" i="0" lang="en-US" sz="1400" u="none" cap="none" strike="noStrike">
                <a:solidFill>
                  <a:srgbClr val="163B27"/>
                </a:solidFill>
                <a:latin typeface="Arial"/>
                <a:ea typeface="Arial"/>
                <a:cs typeface="Arial"/>
                <a:sym typeface="Arial"/>
              </a:rPr>
              <a:t>Independent AWD truth</a:t>
            </a:r>
            <a:endParaRPr b="0" i="0" sz="1400" u="none" cap="none" strike="noStrike">
              <a:solidFill>
                <a:schemeClr val="dk1"/>
              </a:solidFill>
              <a:latin typeface="Arial"/>
              <a:ea typeface="Arial"/>
              <a:cs typeface="Arial"/>
              <a:sym typeface="Arial"/>
            </a:endParaRPr>
          </a:p>
        </p:txBody>
      </p:sp>
      <p:sp>
        <p:nvSpPr>
          <p:cNvPr id="659" name="Google Shape;659;p29"/>
          <p:cNvSpPr/>
          <p:nvPr/>
        </p:nvSpPr>
        <p:spPr>
          <a:xfrm>
            <a:off x="886968" y="1984248"/>
            <a:ext cx="47365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Collect irrigation/field observations and validate by field and season.</a:t>
            </a:r>
            <a:endParaRPr b="0" i="0" sz="1120" u="none" cap="none" strike="noStrike">
              <a:solidFill>
                <a:schemeClr val="dk1"/>
              </a:solidFill>
              <a:latin typeface="Arial"/>
              <a:ea typeface="Arial"/>
              <a:cs typeface="Arial"/>
              <a:sym typeface="Arial"/>
            </a:endParaRPr>
          </a:p>
        </p:txBody>
      </p:sp>
      <p:sp>
        <p:nvSpPr>
          <p:cNvPr id="660" name="Google Shape;660;p29"/>
          <p:cNvSpPr/>
          <p:nvPr/>
        </p:nvSpPr>
        <p:spPr>
          <a:xfrm>
            <a:off x="6236208" y="1417320"/>
            <a:ext cx="5321808" cy="1261872"/>
          </a:xfrm>
          <a:prstGeom prst="roundRect">
            <a:avLst>
              <a:gd fmla="val 4348"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9"/>
          <p:cNvSpPr/>
          <p:nvPr/>
        </p:nvSpPr>
        <p:spPr>
          <a:xfrm>
            <a:off x="6236208" y="1417320"/>
            <a:ext cx="82296" cy="1261872"/>
          </a:xfrm>
          <a:prstGeom prst="rect">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9"/>
          <p:cNvSpPr/>
          <p:nvPr/>
        </p:nvSpPr>
        <p:spPr>
          <a:xfrm>
            <a:off x="6510528" y="1618488"/>
            <a:ext cx="473659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400"/>
              <a:buFont typeface="Arial"/>
              <a:buNone/>
            </a:pPr>
            <a:r>
              <a:rPr b="1" i="0" lang="en-US" sz="1400" u="none" cap="none" strike="noStrike">
                <a:solidFill>
                  <a:srgbClr val="163B27"/>
                </a:solidFill>
                <a:latin typeface="Arial"/>
                <a:ea typeface="Arial"/>
                <a:cs typeface="Arial"/>
                <a:sym typeface="Arial"/>
              </a:rPr>
              <a:t>Small drydown class</a:t>
            </a:r>
            <a:endParaRPr b="0" i="0" sz="1400" u="none" cap="none" strike="noStrike">
              <a:solidFill>
                <a:schemeClr val="dk1"/>
              </a:solidFill>
              <a:latin typeface="Arial"/>
              <a:ea typeface="Arial"/>
              <a:cs typeface="Arial"/>
              <a:sym typeface="Arial"/>
            </a:endParaRPr>
          </a:p>
        </p:txBody>
      </p:sp>
      <p:sp>
        <p:nvSpPr>
          <p:cNvPr id="663" name="Google Shape;663;p29"/>
          <p:cNvSpPr/>
          <p:nvPr/>
        </p:nvSpPr>
        <p:spPr>
          <a:xfrm>
            <a:off x="6510528" y="1984248"/>
            <a:ext cx="47365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Expand seasons and use grouped validation to prevent leakage.</a:t>
            </a:r>
            <a:endParaRPr b="0" i="0" sz="1120" u="none" cap="none" strike="noStrike">
              <a:solidFill>
                <a:schemeClr val="dk1"/>
              </a:solidFill>
              <a:latin typeface="Arial"/>
              <a:ea typeface="Arial"/>
              <a:cs typeface="Arial"/>
              <a:sym typeface="Arial"/>
            </a:endParaRPr>
          </a:p>
        </p:txBody>
      </p:sp>
      <p:sp>
        <p:nvSpPr>
          <p:cNvPr id="664" name="Google Shape;664;p29"/>
          <p:cNvSpPr/>
          <p:nvPr/>
        </p:nvSpPr>
        <p:spPr>
          <a:xfrm>
            <a:off x="612648" y="2935224"/>
            <a:ext cx="5321808" cy="1261872"/>
          </a:xfrm>
          <a:prstGeom prst="roundRect">
            <a:avLst>
              <a:gd fmla="val 4348"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9"/>
          <p:cNvSpPr/>
          <p:nvPr/>
        </p:nvSpPr>
        <p:spPr>
          <a:xfrm>
            <a:off x="612648" y="2935224"/>
            <a:ext cx="82296" cy="1261872"/>
          </a:xfrm>
          <a:prstGeom prst="rect">
            <a:avLst/>
          </a:prstGeom>
          <a:solidFill>
            <a:srgbClr val="527A68"/>
          </a:solidFill>
          <a:ln cap="flat" cmpd="sng" w="12700">
            <a:solidFill>
              <a:srgbClr val="527A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9"/>
          <p:cNvSpPr/>
          <p:nvPr/>
        </p:nvSpPr>
        <p:spPr>
          <a:xfrm>
            <a:off x="886968" y="3136392"/>
            <a:ext cx="473659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400"/>
              <a:buFont typeface="Arial"/>
              <a:buNone/>
            </a:pPr>
            <a:r>
              <a:rPr b="1" i="0" lang="en-US" sz="1400" u="none" cap="none" strike="noStrike">
                <a:solidFill>
                  <a:srgbClr val="163B27"/>
                </a:solidFill>
                <a:latin typeface="Arial"/>
                <a:ea typeface="Arial"/>
                <a:cs typeface="Arial"/>
                <a:sym typeface="Arial"/>
              </a:rPr>
              <a:t>Earth Engine dependency</a:t>
            </a:r>
            <a:endParaRPr b="0" i="0" sz="1400" u="none" cap="none" strike="noStrike">
              <a:solidFill>
                <a:schemeClr val="dk1"/>
              </a:solidFill>
              <a:latin typeface="Arial"/>
              <a:ea typeface="Arial"/>
              <a:cs typeface="Arial"/>
              <a:sym typeface="Arial"/>
            </a:endParaRPr>
          </a:p>
        </p:txBody>
      </p:sp>
      <p:sp>
        <p:nvSpPr>
          <p:cNvPr id="667" name="Google Shape;667;p29"/>
          <p:cNvSpPr/>
          <p:nvPr/>
        </p:nvSpPr>
        <p:spPr>
          <a:xfrm>
            <a:off x="886968" y="3502152"/>
            <a:ext cx="47365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Cache-first operation, readable errors and documented authentication.</a:t>
            </a:r>
            <a:endParaRPr b="0" i="0" sz="1120" u="none" cap="none" strike="noStrike">
              <a:solidFill>
                <a:schemeClr val="dk1"/>
              </a:solidFill>
              <a:latin typeface="Arial"/>
              <a:ea typeface="Arial"/>
              <a:cs typeface="Arial"/>
              <a:sym typeface="Arial"/>
            </a:endParaRPr>
          </a:p>
        </p:txBody>
      </p:sp>
      <p:sp>
        <p:nvSpPr>
          <p:cNvPr id="668" name="Google Shape;668;p29"/>
          <p:cNvSpPr/>
          <p:nvPr/>
        </p:nvSpPr>
        <p:spPr>
          <a:xfrm>
            <a:off x="6236208" y="2935224"/>
            <a:ext cx="5321808" cy="1261872"/>
          </a:xfrm>
          <a:prstGeom prst="roundRect">
            <a:avLst>
              <a:gd fmla="val 4348"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9"/>
          <p:cNvSpPr/>
          <p:nvPr/>
        </p:nvSpPr>
        <p:spPr>
          <a:xfrm>
            <a:off x="6236208" y="2935224"/>
            <a:ext cx="82296" cy="1261872"/>
          </a:xfrm>
          <a:prstGeom prst="rect">
            <a:avLst/>
          </a:prstGeom>
          <a:solidFill>
            <a:srgbClr val="6F7D43"/>
          </a:solidFill>
          <a:ln cap="flat" cmpd="sng" w="12700">
            <a:solidFill>
              <a:srgbClr val="6F7D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9"/>
          <p:cNvSpPr/>
          <p:nvPr/>
        </p:nvSpPr>
        <p:spPr>
          <a:xfrm>
            <a:off x="6510528" y="3136392"/>
            <a:ext cx="473659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400"/>
              <a:buFont typeface="Arial"/>
              <a:buNone/>
            </a:pPr>
            <a:r>
              <a:rPr b="1" i="0" lang="en-US" sz="1400" u="none" cap="none" strike="noStrike">
                <a:solidFill>
                  <a:srgbClr val="163B27"/>
                </a:solidFill>
                <a:latin typeface="Arial"/>
                <a:ea typeface="Arial"/>
                <a:cs typeface="Arial"/>
                <a:sym typeface="Arial"/>
              </a:rPr>
              <a:t>VM0042 scope gaps</a:t>
            </a:r>
            <a:endParaRPr b="0" i="0" sz="1400" u="none" cap="none" strike="noStrike">
              <a:solidFill>
                <a:schemeClr val="dk1"/>
              </a:solidFill>
              <a:latin typeface="Arial"/>
              <a:ea typeface="Arial"/>
              <a:cs typeface="Arial"/>
              <a:sym typeface="Arial"/>
            </a:endParaRPr>
          </a:p>
        </p:txBody>
      </p:sp>
      <p:sp>
        <p:nvSpPr>
          <p:cNvPr id="671" name="Google Shape;671;p29"/>
          <p:cNvSpPr/>
          <p:nvPr/>
        </p:nvSpPr>
        <p:spPr>
          <a:xfrm>
            <a:off x="6510528" y="3502152"/>
            <a:ext cx="47365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Implement, quantify or explicitly block each applicable leakage category.</a:t>
            </a:r>
            <a:endParaRPr b="0" i="0" sz="1120" u="none" cap="none" strike="noStrike">
              <a:solidFill>
                <a:schemeClr val="dk1"/>
              </a:solidFill>
              <a:latin typeface="Arial"/>
              <a:ea typeface="Arial"/>
              <a:cs typeface="Arial"/>
              <a:sym typeface="Arial"/>
            </a:endParaRPr>
          </a:p>
        </p:txBody>
      </p:sp>
      <p:sp>
        <p:nvSpPr>
          <p:cNvPr id="672" name="Google Shape;672;p29"/>
          <p:cNvSpPr/>
          <p:nvPr/>
        </p:nvSpPr>
        <p:spPr>
          <a:xfrm>
            <a:off x="612648" y="4453128"/>
            <a:ext cx="5321808" cy="1261872"/>
          </a:xfrm>
          <a:prstGeom prst="roundRect">
            <a:avLst>
              <a:gd fmla="val 4348"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9"/>
          <p:cNvSpPr/>
          <p:nvPr/>
        </p:nvSpPr>
        <p:spPr>
          <a:xfrm>
            <a:off x="612648" y="4453128"/>
            <a:ext cx="82296" cy="1261872"/>
          </a:xfrm>
          <a:prstGeom prst="rect">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9"/>
          <p:cNvSpPr/>
          <p:nvPr/>
        </p:nvSpPr>
        <p:spPr>
          <a:xfrm>
            <a:off x="886968" y="4654296"/>
            <a:ext cx="473659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400"/>
              <a:buFont typeface="Arial"/>
              <a:buNone/>
            </a:pPr>
            <a:r>
              <a:rPr b="1" i="0" lang="en-US" sz="1400" u="none" cap="none" strike="noStrike">
                <a:solidFill>
                  <a:srgbClr val="163B27"/>
                </a:solidFill>
                <a:latin typeface="Arial"/>
                <a:ea typeface="Arial"/>
                <a:cs typeface="Arial"/>
                <a:sym typeface="Arial"/>
              </a:rPr>
              <a:t>Local-only deployment</a:t>
            </a:r>
            <a:endParaRPr b="0" i="0" sz="1400" u="none" cap="none" strike="noStrike">
              <a:solidFill>
                <a:schemeClr val="dk1"/>
              </a:solidFill>
              <a:latin typeface="Arial"/>
              <a:ea typeface="Arial"/>
              <a:cs typeface="Arial"/>
              <a:sym typeface="Arial"/>
            </a:endParaRPr>
          </a:p>
        </p:txBody>
      </p:sp>
      <p:sp>
        <p:nvSpPr>
          <p:cNvPr id="675" name="Google Shape;675;p29"/>
          <p:cNvSpPr/>
          <p:nvPr/>
        </p:nvSpPr>
        <p:spPr>
          <a:xfrm>
            <a:off x="886968" y="5020056"/>
            <a:ext cx="47365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Add authentication, backups and hosted persistence before deployment.</a:t>
            </a:r>
            <a:endParaRPr b="0" i="0" sz="1120" u="none" cap="none" strike="noStrike">
              <a:solidFill>
                <a:schemeClr val="dk1"/>
              </a:solidFill>
              <a:latin typeface="Arial"/>
              <a:ea typeface="Arial"/>
              <a:cs typeface="Arial"/>
              <a:sym typeface="Arial"/>
            </a:endParaRPr>
          </a:p>
        </p:txBody>
      </p:sp>
      <p:sp>
        <p:nvSpPr>
          <p:cNvPr id="676" name="Google Shape;676;p29"/>
          <p:cNvSpPr/>
          <p:nvPr/>
        </p:nvSpPr>
        <p:spPr>
          <a:xfrm>
            <a:off x="6236208" y="4453128"/>
            <a:ext cx="5321808" cy="1261872"/>
          </a:xfrm>
          <a:prstGeom prst="roundRect">
            <a:avLst>
              <a:gd fmla="val 4348" name="adj"/>
            </a:avLst>
          </a:prstGeom>
          <a:solidFill>
            <a:srgbClr val="FFFFFF"/>
          </a:solidFill>
          <a:ln cap="flat" cmpd="sng" w="12700">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9"/>
          <p:cNvSpPr/>
          <p:nvPr/>
        </p:nvSpPr>
        <p:spPr>
          <a:xfrm>
            <a:off x="6236208" y="4453128"/>
            <a:ext cx="82296" cy="1261872"/>
          </a:xfrm>
          <a:prstGeom prst="rect">
            <a:avLst/>
          </a:prstGeom>
          <a:solidFill>
            <a:srgbClr val="956156"/>
          </a:solidFill>
          <a:ln cap="flat" cmpd="sng" w="12700">
            <a:solidFill>
              <a:srgbClr val="9561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9"/>
          <p:cNvSpPr/>
          <p:nvPr/>
        </p:nvSpPr>
        <p:spPr>
          <a:xfrm>
            <a:off x="6510528" y="4654296"/>
            <a:ext cx="473659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1400"/>
              <a:buFont typeface="Arial"/>
              <a:buNone/>
            </a:pPr>
            <a:r>
              <a:rPr b="1" i="0" lang="en-US" sz="1400" u="none" cap="none" strike="noStrike">
                <a:solidFill>
                  <a:srgbClr val="163B27"/>
                </a:solidFill>
                <a:latin typeface="Arial"/>
                <a:ea typeface="Arial"/>
                <a:cs typeface="Arial"/>
                <a:sym typeface="Arial"/>
              </a:rPr>
              <a:t>Known label/export defects</a:t>
            </a:r>
            <a:endParaRPr b="0" i="0" sz="1400" u="none" cap="none" strike="noStrike">
              <a:solidFill>
                <a:schemeClr val="dk1"/>
              </a:solidFill>
              <a:latin typeface="Arial"/>
              <a:ea typeface="Arial"/>
              <a:cs typeface="Arial"/>
              <a:sym typeface="Arial"/>
            </a:endParaRPr>
          </a:p>
        </p:txBody>
      </p:sp>
      <p:sp>
        <p:nvSpPr>
          <p:cNvPr id="679" name="Google Shape;679;p29"/>
          <p:cNvSpPr/>
          <p:nvPr/>
        </p:nvSpPr>
        <p:spPr>
          <a:xfrm>
            <a:off x="6510528" y="5020056"/>
            <a:ext cx="47365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120"/>
              <a:buFont typeface="Arial"/>
              <a:buNone/>
            </a:pPr>
            <a:r>
              <a:rPr b="0" i="0" lang="en-US" sz="1120" u="none" cap="none" strike="noStrike">
                <a:solidFill>
                  <a:srgbClr val="5F6D63"/>
                </a:solidFill>
                <a:latin typeface="Arial"/>
                <a:ea typeface="Arial"/>
                <a:cs typeface="Arial"/>
                <a:sym typeface="Arial"/>
              </a:rPr>
              <a:t>Correct VM0051 wording and complete livestock CSV coverage.</a:t>
            </a:r>
            <a:endParaRPr b="0" i="0" sz="1120" u="none" cap="none" strike="noStrike">
              <a:solidFill>
                <a:schemeClr val="dk1"/>
              </a:solidFill>
              <a:latin typeface="Arial"/>
              <a:ea typeface="Arial"/>
              <a:cs typeface="Arial"/>
              <a:sym typeface="Arial"/>
            </a:endParaRPr>
          </a:p>
        </p:txBody>
      </p:sp>
      <p:sp>
        <p:nvSpPr>
          <p:cNvPr id="680" name="Google Shape;680;p29"/>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30"/>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TIMELINE</a:t>
            </a:r>
            <a:endParaRPr b="0" i="0" sz="1000" u="none" cap="none" strike="noStrike">
              <a:solidFill>
                <a:schemeClr val="dk1"/>
              </a:solidFill>
              <a:latin typeface="Arial"/>
              <a:ea typeface="Arial"/>
              <a:cs typeface="Arial"/>
              <a:sym typeface="Arial"/>
            </a:endParaRPr>
          </a:p>
        </p:txBody>
      </p:sp>
      <p:sp>
        <p:nvSpPr>
          <p:cNvPr id="687" name="Google Shape;687;p30"/>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Progress against the project plan</a:t>
            </a:r>
            <a:endParaRPr b="0" i="0" sz="2700" u="none" cap="none" strike="noStrike">
              <a:solidFill>
                <a:schemeClr val="dk1"/>
              </a:solidFill>
              <a:latin typeface="Arial"/>
              <a:ea typeface="Arial"/>
              <a:cs typeface="Arial"/>
              <a:sym typeface="Arial"/>
            </a:endParaRPr>
          </a:p>
        </p:txBody>
      </p:sp>
      <p:sp>
        <p:nvSpPr>
          <p:cNvPr id="688" name="Google Shape;688;p30"/>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Corrected Gantt chart with the 2 August 2026 midterm checkpoint.</a:t>
            </a:r>
            <a:endParaRPr b="0" i="0" sz="1250" u="none" cap="none" strike="noStrike">
              <a:solidFill>
                <a:schemeClr val="dk1"/>
              </a:solidFill>
              <a:latin typeface="Arial"/>
              <a:ea typeface="Arial"/>
              <a:cs typeface="Arial"/>
              <a:sym typeface="Arial"/>
            </a:endParaRPr>
          </a:p>
        </p:txBody>
      </p:sp>
      <p:sp>
        <p:nvSpPr>
          <p:cNvPr id="689" name="Google Shape;689;p30"/>
          <p:cNvSpPr/>
          <p:nvPr/>
        </p:nvSpPr>
        <p:spPr>
          <a:xfrm>
            <a:off x="512064" y="1325880"/>
            <a:ext cx="11155680" cy="5001768"/>
          </a:xfrm>
          <a:prstGeom prst="roundRect">
            <a:avLst>
              <a:gd fmla="val 640"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diagrams/fig22_gantt_serial_fixed.png" id="690" name="Google Shape;690;p30"/>
          <p:cNvPicPr preferRelativeResize="0"/>
          <p:nvPr/>
        </p:nvPicPr>
        <p:blipFill rotWithShape="1">
          <a:blip r:embed="rId3">
            <a:alphaModFix/>
          </a:blip>
          <a:srcRect b="0" l="0" r="0" t="0"/>
          <a:stretch/>
        </p:blipFill>
        <p:spPr>
          <a:xfrm>
            <a:off x="2425792" y="1435608"/>
            <a:ext cx="7328223" cy="4562856"/>
          </a:xfrm>
          <a:prstGeom prst="rect">
            <a:avLst/>
          </a:prstGeom>
          <a:noFill/>
          <a:ln>
            <a:noFill/>
          </a:ln>
        </p:spPr>
      </p:pic>
      <p:sp>
        <p:nvSpPr>
          <p:cNvPr id="691" name="Google Shape;691;p30"/>
          <p:cNvSpPr/>
          <p:nvPr/>
        </p:nvSpPr>
        <p:spPr>
          <a:xfrm>
            <a:off x="658368" y="6053328"/>
            <a:ext cx="1086307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Corrected project Gantt chart</a:t>
            </a:r>
            <a:endParaRPr b="0" i="0" sz="950" u="none" cap="none" strike="noStrike">
              <a:solidFill>
                <a:schemeClr val="dk1"/>
              </a:solidFill>
              <a:latin typeface="Arial"/>
              <a:ea typeface="Arial"/>
              <a:cs typeface="Arial"/>
              <a:sym typeface="Arial"/>
            </a:endParaRPr>
          </a:p>
        </p:txBody>
      </p:sp>
      <p:sp>
        <p:nvSpPr>
          <p:cNvPr id="692" name="Google Shape;692;p30">
            <a:hlinkClick r:id="rId4"/>
          </p:cNvPr>
          <p:cNvSpPr/>
          <p:nvPr/>
        </p:nvSpPr>
        <p:spPr>
          <a:xfrm>
            <a:off x="6675120" y="6236208"/>
            <a:ext cx="4892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7A68"/>
              </a:buClr>
              <a:buSzPts val="850"/>
              <a:buFont typeface="Arial"/>
              <a:buNone/>
            </a:pPr>
            <a:r>
              <a:rPr b="0" i="1" lang="en-US" sz="850" u="sng" cap="none" strike="noStrike">
                <a:solidFill>
                  <a:schemeClr val="hlink"/>
                </a:solidFill>
                <a:latin typeface="Arial"/>
                <a:ea typeface="Arial"/>
                <a:cs typeface="Arial"/>
                <a:sym typeface="Arial"/>
                <a:hlinkClick r:id="rId5"/>
              </a:rPr>
              <a:t>Open corrected Gantt chart</a:t>
            </a:r>
            <a:endParaRPr b="0" i="0" sz="850" u="none" cap="none" strike="noStrike">
              <a:solidFill>
                <a:schemeClr val="dk1"/>
              </a:solidFill>
              <a:latin typeface="Arial"/>
              <a:ea typeface="Arial"/>
              <a:cs typeface="Arial"/>
              <a:sym typeface="Arial"/>
            </a:endParaRPr>
          </a:p>
        </p:txBody>
      </p:sp>
      <p:sp>
        <p:nvSpPr>
          <p:cNvPr id="693" name="Google Shape;693;p30"/>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pic>
        <p:nvPicPr>
          <p:cNvPr descr="/home/nahid/Desktop/my_project/terra-audit/docs/presentation/assets/rice_fields_cover_v2.png" id="699" name="Google Shape;699;p31"/>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700" name="Google Shape;700;p31"/>
          <p:cNvSpPr/>
          <p:nvPr/>
        </p:nvSpPr>
        <p:spPr>
          <a:xfrm>
            <a:off x="0" y="0"/>
            <a:ext cx="12191695" cy="6858000"/>
          </a:xfrm>
          <a:prstGeom prst="rect">
            <a:avLst/>
          </a:prstGeom>
          <a:solidFill>
            <a:srgbClr val="163B27">
              <a:alpha val="78039"/>
            </a:srgbClr>
          </a:solidFill>
          <a:ln cap="flat" cmpd="sng" w="12700">
            <a:solidFill>
              <a:srgbClr val="163B2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1"/>
          <p:cNvSpPr/>
          <p:nvPr/>
        </p:nvSpPr>
        <p:spPr>
          <a:xfrm>
            <a:off x="0" y="0"/>
            <a:ext cx="7955280" cy="6858000"/>
          </a:xfrm>
          <a:prstGeom prst="rect">
            <a:avLst/>
          </a:prstGeom>
          <a:solidFill>
            <a:srgbClr val="102F20">
              <a:alpha val="94902"/>
            </a:srgbClr>
          </a:solidFill>
          <a:ln cap="flat" cmpd="sng" w="12700">
            <a:solidFill>
              <a:srgbClr val="102F2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1"/>
          <p:cNvSpPr/>
          <p:nvPr/>
        </p:nvSpPr>
        <p:spPr>
          <a:xfrm>
            <a:off x="676656" y="941832"/>
            <a:ext cx="52120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27B"/>
              </a:buClr>
              <a:buSzPts val="1050"/>
              <a:buFont typeface="Arial"/>
              <a:buNone/>
            </a:pPr>
            <a:r>
              <a:rPr b="1" i="0" lang="en-US" sz="1050" u="none" cap="none" strike="noStrike">
                <a:solidFill>
                  <a:srgbClr val="D8C27B"/>
                </a:solidFill>
                <a:latin typeface="Arial"/>
                <a:ea typeface="Arial"/>
                <a:cs typeface="Arial"/>
                <a:sym typeface="Arial"/>
              </a:rPr>
              <a:t>FIELD  →  EVIDENCE  →  ACCOUNTING</a:t>
            </a:r>
            <a:endParaRPr b="0" i="0" sz="1050" u="none" cap="none" strike="noStrike">
              <a:solidFill>
                <a:schemeClr val="dk1"/>
              </a:solidFill>
              <a:latin typeface="Arial"/>
              <a:ea typeface="Arial"/>
              <a:cs typeface="Arial"/>
              <a:sym typeface="Arial"/>
            </a:endParaRPr>
          </a:p>
        </p:txBody>
      </p:sp>
      <p:sp>
        <p:nvSpPr>
          <p:cNvPr id="703" name="Google Shape;703;p31"/>
          <p:cNvSpPr/>
          <p:nvPr/>
        </p:nvSpPr>
        <p:spPr>
          <a:xfrm>
            <a:off x="658368" y="1371600"/>
            <a:ext cx="6812280"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Terra-Audit turns agricultural evidence into a reproducible carbon estimate.</a:t>
            </a:r>
            <a:endParaRPr b="0" i="0" sz="3000" u="none" cap="none" strike="noStrike">
              <a:solidFill>
                <a:schemeClr val="dk1"/>
              </a:solidFill>
              <a:latin typeface="Arial"/>
              <a:ea typeface="Arial"/>
              <a:cs typeface="Arial"/>
              <a:sym typeface="Arial"/>
            </a:endParaRPr>
          </a:p>
        </p:txBody>
      </p:sp>
      <p:sp>
        <p:nvSpPr>
          <p:cNvPr id="704" name="Google Shape;704;p31"/>
          <p:cNvSpPr/>
          <p:nvPr/>
        </p:nvSpPr>
        <p:spPr>
          <a:xfrm>
            <a:off x="685800" y="3063240"/>
            <a:ext cx="5989320" cy="512064"/>
          </a:xfrm>
          <a:prstGeom prst="roundRect">
            <a:avLst>
              <a:gd fmla="val 8929" name="adj"/>
            </a:avLst>
          </a:prstGeom>
          <a:solidFill>
            <a:srgbClr val="214A32">
              <a:alpha val="92157"/>
            </a:srgbClr>
          </a:solidFill>
          <a:ln cap="flat" cmpd="sng" w="12700">
            <a:solidFill>
              <a:srgbClr val="A8C39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1"/>
          <p:cNvSpPr/>
          <p:nvPr/>
        </p:nvSpPr>
        <p:spPr>
          <a:xfrm>
            <a:off x="914400" y="3218688"/>
            <a:ext cx="201168" cy="201168"/>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1"/>
          <p:cNvSpPr/>
          <p:nvPr/>
        </p:nvSpPr>
        <p:spPr>
          <a:xfrm>
            <a:off x="1325880" y="3191256"/>
            <a:ext cx="495604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Arial"/>
              <a:buNone/>
            </a:pPr>
            <a:r>
              <a:rPr b="1" i="0" lang="en-US" sz="1450" u="none" cap="none" strike="noStrike">
                <a:solidFill>
                  <a:srgbClr val="FFFFFF"/>
                </a:solidFill>
                <a:latin typeface="Arial"/>
                <a:ea typeface="Arial"/>
                <a:cs typeface="Arial"/>
                <a:sym typeface="Arial"/>
              </a:rPr>
              <a:t>Field-specific evidence processing</a:t>
            </a:r>
            <a:endParaRPr b="0" i="0" sz="1450" u="none" cap="none" strike="noStrike">
              <a:solidFill>
                <a:schemeClr val="dk1"/>
              </a:solidFill>
              <a:latin typeface="Arial"/>
              <a:ea typeface="Arial"/>
              <a:cs typeface="Arial"/>
              <a:sym typeface="Arial"/>
            </a:endParaRPr>
          </a:p>
        </p:txBody>
      </p:sp>
      <p:sp>
        <p:nvSpPr>
          <p:cNvPr id="707" name="Google Shape;707;p31"/>
          <p:cNvSpPr/>
          <p:nvPr/>
        </p:nvSpPr>
        <p:spPr>
          <a:xfrm>
            <a:off x="685800" y="3749040"/>
            <a:ext cx="5989320" cy="512064"/>
          </a:xfrm>
          <a:prstGeom prst="roundRect">
            <a:avLst>
              <a:gd fmla="val 8929" name="adj"/>
            </a:avLst>
          </a:prstGeom>
          <a:solidFill>
            <a:srgbClr val="214A32">
              <a:alpha val="92157"/>
            </a:srgbClr>
          </a:solidFill>
          <a:ln cap="flat" cmpd="sng" w="12700">
            <a:solidFill>
              <a:srgbClr val="A8C39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1"/>
          <p:cNvSpPr/>
          <p:nvPr/>
        </p:nvSpPr>
        <p:spPr>
          <a:xfrm>
            <a:off x="914400" y="3904488"/>
            <a:ext cx="201168" cy="201168"/>
          </a:xfrm>
          <a:prstGeom prst="ellipse">
            <a:avLst/>
          </a:prstGeom>
          <a:solidFill>
            <a:srgbClr val="B08A4F"/>
          </a:solidFill>
          <a:ln cap="flat" cmpd="sng" w="12700">
            <a:solidFill>
              <a:srgbClr val="B08A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1"/>
          <p:cNvSpPr/>
          <p:nvPr/>
        </p:nvSpPr>
        <p:spPr>
          <a:xfrm>
            <a:off x="1325880" y="3877056"/>
            <a:ext cx="495604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Arial"/>
              <a:buNone/>
            </a:pPr>
            <a:r>
              <a:rPr b="1" i="0" lang="en-US" sz="1450" u="none" cap="none" strike="noStrike">
                <a:solidFill>
                  <a:srgbClr val="FFFFFF"/>
                </a:solidFill>
                <a:latin typeface="Arial"/>
                <a:ea typeface="Arial"/>
                <a:cs typeface="Arial"/>
                <a:sym typeface="Arial"/>
              </a:rPr>
              <a:t>Transparent methodology calculations</a:t>
            </a:r>
            <a:endParaRPr b="0" i="0" sz="1450" u="none" cap="none" strike="noStrike">
              <a:solidFill>
                <a:schemeClr val="dk1"/>
              </a:solidFill>
              <a:latin typeface="Arial"/>
              <a:ea typeface="Arial"/>
              <a:cs typeface="Arial"/>
              <a:sym typeface="Arial"/>
            </a:endParaRPr>
          </a:p>
        </p:txBody>
      </p:sp>
      <p:sp>
        <p:nvSpPr>
          <p:cNvPr id="710" name="Google Shape;710;p31"/>
          <p:cNvSpPr/>
          <p:nvPr/>
        </p:nvSpPr>
        <p:spPr>
          <a:xfrm>
            <a:off x="685800" y="4434840"/>
            <a:ext cx="5989320" cy="512064"/>
          </a:xfrm>
          <a:prstGeom prst="roundRect">
            <a:avLst>
              <a:gd fmla="val 8929" name="adj"/>
            </a:avLst>
          </a:prstGeom>
          <a:solidFill>
            <a:srgbClr val="214A32">
              <a:alpha val="92157"/>
            </a:srgbClr>
          </a:solidFill>
          <a:ln cap="flat" cmpd="sng" w="12700">
            <a:solidFill>
              <a:srgbClr val="A8C39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1"/>
          <p:cNvSpPr/>
          <p:nvPr/>
        </p:nvSpPr>
        <p:spPr>
          <a:xfrm>
            <a:off x="914400" y="4590288"/>
            <a:ext cx="201168" cy="201168"/>
          </a:xfrm>
          <a:prstGeom prst="ellipse">
            <a:avLst/>
          </a:prstGeom>
          <a:solidFill>
            <a:srgbClr val="2F6B3B"/>
          </a:solidFill>
          <a:ln cap="flat" cmpd="sng" w="12700">
            <a:solidFill>
              <a:srgbClr val="2F6B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1"/>
          <p:cNvSpPr/>
          <p:nvPr/>
        </p:nvSpPr>
        <p:spPr>
          <a:xfrm>
            <a:off x="1325880" y="4562856"/>
            <a:ext cx="495604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Arial"/>
              <a:buNone/>
            </a:pPr>
            <a:r>
              <a:rPr b="1" i="0" lang="en-US" sz="1450" u="none" cap="none" strike="noStrike">
                <a:solidFill>
                  <a:srgbClr val="FFFFFF"/>
                </a:solidFill>
                <a:latin typeface="Arial"/>
                <a:ea typeface="Arial"/>
                <a:cs typeface="Arial"/>
                <a:sym typeface="Arial"/>
              </a:rPr>
              <a:t>Persistent audit trail and exports</a:t>
            </a:r>
            <a:endParaRPr b="0" i="0" sz="1450" u="none" cap="none" strike="noStrike">
              <a:solidFill>
                <a:schemeClr val="dk1"/>
              </a:solidFill>
              <a:latin typeface="Arial"/>
              <a:ea typeface="Arial"/>
              <a:cs typeface="Arial"/>
              <a:sym typeface="Arial"/>
            </a:endParaRPr>
          </a:p>
        </p:txBody>
      </p:sp>
      <p:sp>
        <p:nvSpPr>
          <p:cNvPr id="713" name="Google Shape;713;p31"/>
          <p:cNvSpPr/>
          <p:nvPr/>
        </p:nvSpPr>
        <p:spPr>
          <a:xfrm>
            <a:off x="694944" y="53492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ECE0"/>
              </a:buClr>
              <a:buSzPts val="1550"/>
              <a:buFont typeface="Arial"/>
              <a:buNone/>
            </a:pPr>
            <a:r>
              <a:rPr b="0" i="1" lang="en-US" sz="1550" u="none" cap="none" strike="noStrike">
                <a:solidFill>
                  <a:srgbClr val="E3ECE0"/>
                </a:solidFill>
                <a:latin typeface="Arial"/>
                <a:ea typeface="Arial"/>
                <a:cs typeface="Arial"/>
                <a:sym typeface="Arial"/>
              </a:rPr>
              <a:t>AI remains experimental. The core contribution is the modular, auditable MRV workflow.</a:t>
            </a:r>
            <a:endParaRPr b="0" i="0" sz="1550" u="none" cap="none" strike="noStrike">
              <a:solidFill>
                <a:schemeClr val="dk1"/>
              </a:solidFill>
              <a:latin typeface="Arial"/>
              <a:ea typeface="Arial"/>
              <a:cs typeface="Arial"/>
              <a:sym typeface="Arial"/>
            </a:endParaRPr>
          </a:p>
        </p:txBody>
      </p:sp>
      <p:sp>
        <p:nvSpPr>
          <p:cNvPr id="714" name="Google Shape;714;p31"/>
          <p:cNvSpPr/>
          <p:nvPr/>
        </p:nvSpPr>
        <p:spPr>
          <a:xfrm>
            <a:off x="658368" y="5989320"/>
            <a:ext cx="3840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27B"/>
              </a:buClr>
              <a:buSzPts val="2800"/>
              <a:buFont typeface="Arial"/>
              <a:buNone/>
            </a:pPr>
            <a:r>
              <a:rPr b="1" i="0" lang="en-US" sz="2800" u="none" cap="none" strike="noStrike">
                <a:solidFill>
                  <a:srgbClr val="D8C27B"/>
                </a:solidFill>
                <a:latin typeface="Arial"/>
                <a:ea typeface="Arial"/>
                <a:cs typeface="Arial"/>
                <a:sym typeface="Arial"/>
              </a:rPr>
              <a:t>QUESTIONS?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32"/>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APPENDIX • DETAILED DIAGRAMS</a:t>
            </a:r>
            <a:endParaRPr b="0" i="0" sz="1000" u="none" cap="none" strike="noStrike">
              <a:solidFill>
                <a:schemeClr val="dk1"/>
              </a:solidFill>
              <a:latin typeface="Arial"/>
              <a:ea typeface="Arial"/>
              <a:cs typeface="Arial"/>
              <a:sym typeface="Arial"/>
            </a:endParaRPr>
          </a:p>
        </p:txBody>
      </p:sp>
      <p:sp>
        <p:nvSpPr>
          <p:cNvPr id="721" name="Google Shape;721;p32"/>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System scope diagrams</a:t>
            </a:r>
            <a:endParaRPr b="0" i="0" sz="2700" u="none" cap="none" strike="noStrike">
              <a:solidFill>
                <a:schemeClr val="dk1"/>
              </a:solidFill>
              <a:latin typeface="Arial"/>
              <a:ea typeface="Arial"/>
              <a:cs typeface="Arial"/>
              <a:sym typeface="Arial"/>
            </a:endParaRPr>
          </a:p>
        </p:txBody>
      </p:sp>
      <p:sp>
        <p:nvSpPr>
          <p:cNvPr id="722" name="Google Shape;722;p32"/>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Use these only if the examiner asks for the less-detailed system boundary.</a:t>
            </a:r>
            <a:endParaRPr b="0" i="0" sz="1250" u="none" cap="none" strike="noStrike">
              <a:solidFill>
                <a:schemeClr val="dk1"/>
              </a:solidFill>
              <a:latin typeface="Arial"/>
              <a:ea typeface="Arial"/>
              <a:cs typeface="Arial"/>
              <a:sym typeface="Arial"/>
            </a:endParaRPr>
          </a:p>
        </p:txBody>
      </p:sp>
      <p:sp>
        <p:nvSpPr>
          <p:cNvPr id="723" name="Google Shape;723;p32"/>
          <p:cNvSpPr/>
          <p:nvPr/>
        </p:nvSpPr>
        <p:spPr>
          <a:xfrm>
            <a:off x="512064" y="1371600"/>
            <a:ext cx="5486400" cy="4892040"/>
          </a:xfrm>
          <a:prstGeom prst="roundRect">
            <a:avLst>
              <a:gd fmla="val 6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1.png" id="724" name="Google Shape;724;p32"/>
          <p:cNvPicPr preferRelativeResize="0"/>
          <p:nvPr/>
        </p:nvPicPr>
        <p:blipFill rotWithShape="1">
          <a:blip r:embed="rId3">
            <a:alphaModFix/>
          </a:blip>
          <a:srcRect b="0" l="0" r="0" t="0"/>
          <a:stretch/>
        </p:blipFill>
        <p:spPr>
          <a:xfrm>
            <a:off x="621792" y="2396945"/>
            <a:ext cx="5266944" cy="2621893"/>
          </a:xfrm>
          <a:prstGeom prst="rect">
            <a:avLst/>
          </a:prstGeom>
          <a:noFill/>
          <a:ln>
            <a:noFill/>
          </a:ln>
        </p:spPr>
      </p:pic>
      <p:sp>
        <p:nvSpPr>
          <p:cNvPr id="725" name="Google Shape;725;p32"/>
          <p:cNvSpPr/>
          <p:nvPr/>
        </p:nvSpPr>
        <p:spPr>
          <a:xfrm>
            <a:off x="65836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 — Level-0 use case</a:t>
            </a:r>
            <a:endParaRPr b="0" i="0" sz="950" u="none" cap="none" strike="noStrike">
              <a:solidFill>
                <a:schemeClr val="dk1"/>
              </a:solidFill>
              <a:latin typeface="Arial"/>
              <a:ea typeface="Arial"/>
              <a:cs typeface="Arial"/>
              <a:sym typeface="Arial"/>
            </a:endParaRPr>
          </a:p>
        </p:txBody>
      </p:sp>
      <p:sp>
        <p:nvSpPr>
          <p:cNvPr id="726" name="Google Shape;726;p32"/>
          <p:cNvSpPr/>
          <p:nvPr/>
        </p:nvSpPr>
        <p:spPr>
          <a:xfrm>
            <a:off x="6181344" y="1371600"/>
            <a:ext cx="5486400" cy="4892040"/>
          </a:xfrm>
          <a:prstGeom prst="roundRect">
            <a:avLst>
              <a:gd fmla="val 6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2.png" id="727" name="Google Shape;727;p32"/>
          <p:cNvPicPr preferRelativeResize="0"/>
          <p:nvPr/>
        </p:nvPicPr>
        <p:blipFill rotWithShape="1">
          <a:blip r:embed="rId4">
            <a:alphaModFix/>
          </a:blip>
          <a:srcRect b="0" l="0" r="0" t="0"/>
          <a:stretch/>
        </p:blipFill>
        <p:spPr>
          <a:xfrm>
            <a:off x="6291072" y="1575114"/>
            <a:ext cx="5266944" cy="4265555"/>
          </a:xfrm>
          <a:prstGeom prst="rect">
            <a:avLst/>
          </a:prstGeom>
          <a:noFill/>
          <a:ln>
            <a:noFill/>
          </a:ln>
        </p:spPr>
      </p:pic>
      <p:sp>
        <p:nvSpPr>
          <p:cNvPr id="728" name="Google Shape;728;p32"/>
          <p:cNvSpPr/>
          <p:nvPr/>
        </p:nvSpPr>
        <p:spPr>
          <a:xfrm>
            <a:off x="632764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2 — Level-1 use case</a:t>
            </a:r>
            <a:endParaRPr b="0" i="0" sz="950" u="none" cap="none" strike="noStrike">
              <a:solidFill>
                <a:schemeClr val="dk1"/>
              </a:solidFill>
              <a:latin typeface="Arial"/>
              <a:ea typeface="Arial"/>
              <a:cs typeface="Arial"/>
              <a:sym typeface="Arial"/>
            </a:endParaRPr>
          </a:p>
        </p:txBody>
      </p:sp>
      <p:sp>
        <p:nvSpPr>
          <p:cNvPr id="729" name="Google Shape;729;p32"/>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33"/>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APPENDIX • DETAILED DIAGRAMS</a:t>
            </a:r>
            <a:endParaRPr b="0" i="0" sz="1000" u="none" cap="none" strike="noStrike">
              <a:solidFill>
                <a:schemeClr val="dk1"/>
              </a:solidFill>
              <a:latin typeface="Arial"/>
              <a:ea typeface="Arial"/>
              <a:cs typeface="Arial"/>
              <a:sym typeface="Arial"/>
            </a:endParaRPr>
          </a:p>
        </p:txBody>
      </p:sp>
      <p:sp>
        <p:nvSpPr>
          <p:cNvPr id="736" name="Google Shape;736;p33"/>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Field-management diagrams</a:t>
            </a:r>
            <a:endParaRPr b="0" i="0" sz="2700" u="none" cap="none" strike="noStrike">
              <a:solidFill>
                <a:schemeClr val="dk1"/>
              </a:solidFill>
              <a:latin typeface="Arial"/>
              <a:ea typeface="Arial"/>
              <a:cs typeface="Arial"/>
              <a:sym typeface="Arial"/>
            </a:endParaRPr>
          </a:p>
        </p:txBody>
      </p:sp>
      <p:sp>
        <p:nvSpPr>
          <p:cNvPr id="737" name="Google Shape;737;p33"/>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Registration is decomposed into field management, geometry input and persistence.</a:t>
            </a:r>
            <a:endParaRPr b="0" i="0" sz="1250" u="none" cap="none" strike="noStrike">
              <a:solidFill>
                <a:schemeClr val="dk1"/>
              </a:solidFill>
              <a:latin typeface="Arial"/>
              <a:ea typeface="Arial"/>
              <a:cs typeface="Arial"/>
              <a:sym typeface="Arial"/>
            </a:endParaRPr>
          </a:p>
        </p:txBody>
      </p:sp>
      <p:sp>
        <p:nvSpPr>
          <p:cNvPr id="738" name="Google Shape;738;p33"/>
          <p:cNvSpPr/>
          <p:nvPr/>
        </p:nvSpPr>
        <p:spPr>
          <a:xfrm>
            <a:off x="512064" y="1371600"/>
            <a:ext cx="3596640" cy="4892040"/>
          </a:xfrm>
          <a:prstGeom prst="roundRect">
            <a:avLst>
              <a:gd fmla="val 890"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3.png" id="739" name="Google Shape;739;p33"/>
          <p:cNvPicPr preferRelativeResize="0"/>
          <p:nvPr/>
        </p:nvPicPr>
        <p:blipFill rotWithShape="1">
          <a:blip r:embed="rId3">
            <a:alphaModFix/>
          </a:blip>
          <a:srcRect b="0" l="0" r="0" t="0"/>
          <a:stretch/>
        </p:blipFill>
        <p:spPr>
          <a:xfrm>
            <a:off x="621792" y="2863596"/>
            <a:ext cx="3377184" cy="1688592"/>
          </a:xfrm>
          <a:prstGeom prst="rect">
            <a:avLst/>
          </a:prstGeom>
          <a:noFill/>
          <a:ln>
            <a:noFill/>
          </a:ln>
        </p:spPr>
      </p:pic>
      <p:sp>
        <p:nvSpPr>
          <p:cNvPr id="740" name="Google Shape;740;p33"/>
          <p:cNvSpPr/>
          <p:nvPr/>
        </p:nvSpPr>
        <p:spPr>
          <a:xfrm>
            <a:off x="658368" y="5989320"/>
            <a:ext cx="330403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3 — Field management</a:t>
            </a:r>
            <a:endParaRPr b="0" i="0" sz="950" u="none" cap="none" strike="noStrike">
              <a:solidFill>
                <a:schemeClr val="dk1"/>
              </a:solidFill>
              <a:latin typeface="Arial"/>
              <a:ea typeface="Arial"/>
              <a:cs typeface="Arial"/>
              <a:sym typeface="Arial"/>
            </a:endParaRPr>
          </a:p>
        </p:txBody>
      </p:sp>
      <p:sp>
        <p:nvSpPr>
          <p:cNvPr id="741" name="Google Shape;741;p33"/>
          <p:cNvSpPr/>
          <p:nvPr/>
        </p:nvSpPr>
        <p:spPr>
          <a:xfrm>
            <a:off x="4291584" y="1371600"/>
            <a:ext cx="3596640" cy="4892040"/>
          </a:xfrm>
          <a:prstGeom prst="roundRect">
            <a:avLst>
              <a:gd fmla="val 890"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4.png" id="742" name="Google Shape;742;p33"/>
          <p:cNvPicPr preferRelativeResize="0"/>
          <p:nvPr/>
        </p:nvPicPr>
        <p:blipFill rotWithShape="1">
          <a:blip r:embed="rId4">
            <a:alphaModFix/>
          </a:blip>
          <a:srcRect b="0" l="0" r="0" t="0"/>
          <a:stretch/>
        </p:blipFill>
        <p:spPr>
          <a:xfrm>
            <a:off x="4401312" y="3062812"/>
            <a:ext cx="3377184" cy="1290160"/>
          </a:xfrm>
          <a:prstGeom prst="rect">
            <a:avLst/>
          </a:prstGeom>
          <a:noFill/>
          <a:ln>
            <a:noFill/>
          </a:ln>
        </p:spPr>
      </p:pic>
      <p:sp>
        <p:nvSpPr>
          <p:cNvPr id="743" name="Google Shape;743;p33"/>
          <p:cNvSpPr/>
          <p:nvPr/>
        </p:nvSpPr>
        <p:spPr>
          <a:xfrm>
            <a:off x="4437888" y="5989320"/>
            <a:ext cx="330403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4 — Geometry input</a:t>
            </a:r>
            <a:endParaRPr b="0" i="0" sz="950" u="none" cap="none" strike="noStrike">
              <a:solidFill>
                <a:schemeClr val="dk1"/>
              </a:solidFill>
              <a:latin typeface="Arial"/>
              <a:ea typeface="Arial"/>
              <a:cs typeface="Arial"/>
              <a:sym typeface="Arial"/>
            </a:endParaRPr>
          </a:p>
        </p:txBody>
      </p:sp>
      <p:sp>
        <p:nvSpPr>
          <p:cNvPr id="744" name="Google Shape;744;p33"/>
          <p:cNvSpPr/>
          <p:nvPr/>
        </p:nvSpPr>
        <p:spPr>
          <a:xfrm>
            <a:off x="8071104" y="1371600"/>
            <a:ext cx="3596640" cy="4892040"/>
          </a:xfrm>
          <a:prstGeom prst="roundRect">
            <a:avLst>
              <a:gd fmla="val 890"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5.png" id="745" name="Google Shape;745;p33"/>
          <p:cNvPicPr preferRelativeResize="0"/>
          <p:nvPr/>
        </p:nvPicPr>
        <p:blipFill rotWithShape="1">
          <a:blip r:embed="rId5">
            <a:alphaModFix/>
          </a:blip>
          <a:srcRect b="0" l="0" r="0" t="0"/>
          <a:stretch/>
        </p:blipFill>
        <p:spPr>
          <a:xfrm>
            <a:off x="8180832" y="2934573"/>
            <a:ext cx="3377184" cy="1546638"/>
          </a:xfrm>
          <a:prstGeom prst="rect">
            <a:avLst/>
          </a:prstGeom>
          <a:noFill/>
          <a:ln>
            <a:noFill/>
          </a:ln>
        </p:spPr>
      </p:pic>
      <p:sp>
        <p:nvSpPr>
          <p:cNvPr id="746" name="Google Shape;746;p33"/>
          <p:cNvSpPr/>
          <p:nvPr/>
        </p:nvSpPr>
        <p:spPr>
          <a:xfrm>
            <a:off x="8217408" y="5989320"/>
            <a:ext cx="330403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5 — Field registration</a:t>
            </a:r>
            <a:endParaRPr b="0" i="0" sz="950" u="none" cap="none" strike="noStrike">
              <a:solidFill>
                <a:schemeClr val="dk1"/>
              </a:solidFill>
              <a:latin typeface="Arial"/>
              <a:ea typeface="Arial"/>
              <a:cs typeface="Arial"/>
              <a:sym typeface="Arial"/>
            </a:endParaRPr>
          </a:p>
        </p:txBody>
      </p:sp>
      <p:sp>
        <p:nvSpPr>
          <p:cNvPr id="747" name="Google Shape;747;p33"/>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34"/>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APPENDIX • DETAILED DIAGRAMS</a:t>
            </a:r>
            <a:endParaRPr b="0" i="0" sz="1000" u="none" cap="none" strike="noStrike">
              <a:solidFill>
                <a:schemeClr val="dk1"/>
              </a:solidFill>
              <a:latin typeface="Arial"/>
              <a:ea typeface="Arial"/>
              <a:cs typeface="Arial"/>
              <a:sym typeface="Arial"/>
            </a:endParaRPr>
          </a:p>
        </p:txBody>
      </p:sp>
      <p:sp>
        <p:nvSpPr>
          <p:cNvPr id="754" name="Google Shape;754;p34"/>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Rice evidence-engine diagrams</a:t>
            </a:r>
            <a:endParaRPr b="0" i="0" sz="2700" u="none" cap="none" strike="noStrike">
              <a:solidFill>
                <a:schemeClr val="dk1"/>
              </a:solidFill>
              <a:latin typeface="Arial"/>
              <a:ea typeface="Arial"/>
              <a:cs typeface="Arial"/>
              <a:sym typeface="Arial"/>
            </a:endParaRPr>
          </a:p>
        </p:txBody>
      </p:sp>
      <p:sp>
        <p:nvSpPr>
          <p:cNvPr id="755" name="Google Shape;755;p34"/>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Satellite acquisition and signal interpretation are separate responsibilities.</a:t>
            </a:r>
            <a:endParaRPr b="0" i="0" sz="1250" u="none" cap="none" strike="noStrike">
              <a:solidFill>
                <a:schemeClr val="dk1"/>
              </a:solidFill>
              <a:latin typeface="Arial"/>
              <a:ea typeface="Arial"/>
              <a:cs typeface="Arial"/>
              <a:sym typeface="Arial"/>
            </a:endParaRPr>
          </a:p>
        </p:txBody>
      </p:sp>
      <p:sp>
        <p:nvSpPr>
          <p:cNvPr id="756" name="Google Shape;756;p34"/>
          <p:cNvSpPr/>
          <p:nvPr/>
        </p:nvSpPr>
        <p:spPr>
          <a:xfrm>
            <a:off x="512064" y="1371600"/>
            <a:ext cx="5486400" cy="4892040"/>
          </a:xfrm>
          <a:prstGeom prst="roundRect">
            <a:avLst>
              <a:gd fmla="val 6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6.png" id="757" name="Google Shape;757;p34"/>
          <p:cNvPicPr preferRelativeResize="0"/>
          <p:nvPr/>
        </p:nvPicPr>
        <p:blipFill rotWithShape="1">
          <a:blip r:embed="rId3">
            <a:alphaModFix/>
          </a:blip>
          <a:srcRect b="0" l="0" r="0" t="0"/>
          <a:stretch/>
        </p:blipFill>
        <p:spPr>
          <a:xfrm>
            <a:off x="621792" y="2846380"/>
            <a:ext cx="5266944" cy="1723025"/>
          </a:xfrm>
          <a:prstGeom prst="rect">
            <a:avLst/>
          </a:prstGeom>
          <a:noFill/>
          <a:ln>
            <a:noFill/>
          </a:ln>
        </p:spPr>
      </p:pic>
      <p:sp>
        <p:nvSpPr>
          <p:cNvPr id="758" name="Google Shape;758;p34"/>
          <p:cNvSpPr/>
          <p:nvPr/>
        </p:nvSpPr>
        <p:spPr>
          <a:xfrm>
            <a:off x="65836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6 — Satellite data engine</a:t>
            </a:r>
            <a:endParaRPr b="0" i="0" sz="950" u="none" cap="none" strike="noStrike">
              <a:solidFill>
                <a:schemeClr val="dk1"/>
              </a:solidFill>
              <a:latin typeface="Arial"/>
              <a:ea typeface="Arial"/>
              <a:cs typeface="Arial"/>
              <a:sym typeface="Arial"/>
            </a:endParaRPr>
          </a:p>
        </p:txBody>
      </p:sp>
      <p:sp>
        <p:nvSpPr>
          <p:cNvPr id="759" name="Google Shape;759;p34"/>
          <p:cNvSpPr/>
          <p:nvPr/>
        </p:nvSpPr>
        <p:spPr>
          <a:xfrm>
            <a:off x="6181344" y="1371600"/>
            <a:ext cx="5486400" cy="4892040"/>
          </a:xfrm>
          <a:prstGeom prst="roundRect">
            <a:avLst>
              <a:gd fmla="val 6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7.png" id="760" name="Google Shape;760;p34"/>
          <p:cNvPicPr preferRelativeResize="0"/>
          <p:nvPr/>
        </p:nvPicPr>
        <p:blipFill rotWithShape="1">
          <a:blip r:embed="rId4">
            <a:alphaModFix/>
          </a:blip>
          <a:srcRect b="0" l="0" r="0" t="0"/>
          <a:stretch/>
        </p:blipFill>
        <p:spPr>
          <a:xfrm>
            <a:off x="6291072" y="2477394"/>
            <a:ext cx="5266944" cy="2460996"/>
          </a:xfrm>
          <a:prstGeom prst="rect">
            <a:avLst/>
          </a:prstGeom>
          <a:noFill/>
          <a:ln>
            <a:noFill/>
          </a:ln>
        </p:spPr>
      </p:pic>
      <p:sp>
        <p:nvSpPr>
          <p:cNvPr id="761" name="Google Shape;761;p34"/>
          <p:cNvSpPr/>
          <p:nvPr/>
        </p:nvSpPr>
        <p:spPr>
          <a:xfrm>
            <a:off x="632764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7 — Signal analytics</a:t>
            </a:r>
            <a:endParaRPr b="0" i="0" sz="950" u="none" cap="none" strike="noStrike">
              <a:solidFill>
                <a:schemeClr val="dk1"/>
              </a:solidFill>
              <a:latin typeface="Arial"/>
              <a:ea typeface="Arial"/>
              <a:cs typeface="Arial"/>
              <a:sym typeface="Arial"/>
            </a:endParaRPr>
          </a:p>
        </p:txBody>
      </p:sp>
      <p:sp>
        <p:nvSpPr>
          <p:cNvPr id="762" name="Google Shape;762;p34"/>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35"/>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APPENDIX • DETAILED DIAGRAMS</a:t>
            </a:r>
            <a:endParaRPr b="0" i="0" sz="1000" u="none" cap="none" strike="noStrike">
              <a:solidFill>
                <a:schemeClr val="dk1"/>
              </a:solidFill>
              <a:latin typeface="Arial"/>
              <a:ea typeface="Arial"/>
              <a:cs typeface="Arial"/>
              <a:sym typeface="Arial"/>
            </a:endParaRPr>
          </a:p>
        </p:txBody>
      </p:sp>
      <p:sp>
        <p:nvSpPr>
          <p:cNvPr id="769" name="Google Shape;769;p35"/>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Calculation, reporting and AI diagrams</a:t>
            </a:r>
            <a:endParaRPr b="0" i="0" sz="2700" u="none" cap="none" strike="noStrike">
              <a:solidFill>
                <a:schemeClr val="dk1"/>
              </a:solidFill>
              <a:latin typeface="Arial"/>
              <a:ea typeface="Arial"/>
              <a:cs typeface="Arial"/>
              <a:sym typeface="Arial"/>
            </a:endParaRPr>
          </a:p>
        </p:txBody>
      </p:sp>
      <p:sp>
        <p:nvSpPr>
          <p:cNvPr id="770" name="Google Shape;770;p35"/>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Detailed use cases for the calculation, reporting, AI and cropland subsystems.</a:t>
            </a:r>
            <a:endParaRPr b="0" i="0" sz="1250" u="none" cap="none" strike="noStrike">
              <a:solidFill>
                <a:schemeClr val="dk1"/>
              </a:solidFill>
              <a:latin typeface="Arial"/>
              <a:ea typeface="Arial"/>
              <a:cs typeface="Arial"/>
              <a:sym typeface="Arial"/>
            </a:endParaRPr>
          </a:p>
        </p:txBody>
      </p:sp>
      <p:sp>
        <p:nvSpPr>
          <p:cNvPr id="771" name="Google Shape;771;p35"/>
          <p:cNvSpPr/>
          <p:nvPr/>
        </p:nvSpPr>
        <p:spPr>
          <a:xfrm>
            <a:off x="512064" y="1371600"/>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8.png" id="772" name="Google Shape;772;p35"/>
          <p:cNvPicPr preferRelativeResize="0"/>
          <p:nvPr/>
        </p:nvPicPr>
        <p:blipFill rotWithShape="1">
          <a:blip r:embed="rId3">
            <a:alphaModFix/>
          </a:blip>
          <a:srcRect b="0" l="0" r="0" t="0"/>
          <a:stretch/>
        </p:blipFill>
        <p:spPr>
          <a:xfrm>
            <a:off x="2335162" y="1481328"/>
            <a:ext cx="1840205" cy="1924812"/>
          </a:xfrm>
          <a:prstGeom prst="rect">
            <a:avLst/>
          </a:prstGeom>
          <a:noFill/>
          <a:ln>
            <a:noFill/>
          </a:ln>
        </p:spPr>
      </p:pic>
      <p:sp>
        <p:nvSpPr>
          <p:cNvPr id="773" name="Google Shape;773;p35"/>
          <p:cNvSpPr/>
          <p:nvPr/>
        </p:nvSpPr>
        <p:spPr>
          <a:xfrm>
            <a:off x="658368" y="3461004"/>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8 — Carbon estimation</a:t>
            </a:r>
            <a:endParaRPr b="0" i="0" sz="950" u="none" cap="none" strike="noStrike">
              <a:solidFill>
                <a:schemeClr val="dk1"/>
              </a:solidFill>
              <a:latin typeface="Arial"/>
              <a:ea typeface="Arial"/>
              <a:cs typeface="Arial"/>
              <a:sym typeface="Arial"/>
            </a:endParaRPr>
          </a:p>
        </p:txBody>
      </p:sp>
      <p:sp>
        <p:nvSpPr>
          <p:cNvPr id="774" name="Google Shape;774;p35"/>
          <p:cNvSpPr/>
          <p:nvPr/>
        </p:nvSpPr>
        <p:spPr>
          <a:xfrm>
            <a:off x="6181344" y="1371600"/>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09.png" id="775" name="Google Shape;775;p35"/>
          <p:cNvPicPr preferRelativeResize="0"/>
          <p:nvPr/>
        </p:nvPicPr>
        <p:blipFill rotWithShape="1">
          <a:blip r:embed="rId4">
            <a:alphaModFix/>
          </a:blip>
          <a:srcRect b="0" l="0" r="0" t="0"/>
          <a:stretch/>
        </p:blipFill>
        <p:spPr>
          <a:xfrm>
            <a:off x="7265929" y="1481328"/>
            <a:ext cx="3317229" cy="1924812"/>
          </a:xfrm>
          <a:prstGeom prst="rect">
            <a:avLst/>
          </a:prstGeom>
          <a:noFill/>
          <a:ln>
            <a:noFill/>
          </a:ln>
        </p:spPr>
      </p:pic>
      <p:sp>
        <p:nvSpPr>
          <p:cNvPr id="776" name="Google Shape;776;p35"/>
          <p:cNvSpPr/>
          <p:nvPr/>
        </p:nvSpPr>
        <p:spPr>
          <a:xfrm>
            <a:off x="6327648" y="3461004"/>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9 — Evidence reporting</a:t>
            </a:r>
            <a:endParaRPr b="0" i="0" sz="950" u="none" cap="none" strike="noStrike">
              <a:solidFill>
                <a:schemeClr val="dk1"/>
              </a:solidFill>
              <a:latin typeface="Arial"/>
              <a:ea typeface="Arial"/>
              <a:cs typeface="Arial"/>
              <a:sym typeface="Arial"/>
            </a:endParaRPr>
          </a:p>
        </p:txBody>
      </p:sp>
      <p:sp>
        <p:nvSpPr>
          <p:cNvPr id="777" name="Google Shape;777;p35"/>
          <p:cNvSpPr/>
          <p:nvPr/>
        </p:nvSpPr>
        <p:spPr>
          <a:xfrm>
            <a:off x="512064" y="3899916"/>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0.png" id="778" name="Google Shape;778;p35"/>
          <p:cNvPicPr preferRelativeResize="0"/>
          <p:nvPr/>
        </p:nvPicPr>
        <p:blipFill rotWithShape="1">
          <a:blip r:embed="rId5">
            <a:alphaModFix/>
          </a:blip>
          <a:srcRect b="0" l="0" r="0" t="0"/>
          <a:stretch/>
        </p:blipFill>
        <p:spPr>
          <a:xfrm>
            <a:off x="1526482" y="4009644"/>
            <a:ext cx="3457564" cy="1924812"/>
          </a:xfrm>
          <a:prstGeom prst="rect">
            <a:avLst/>
          </a:prstGeom>
          <a:noFill/>
          <a:ln>
            <a:noFill/>
          </a:ln>
        </p:spPr>
      </p:pic>
      <p:sp>
        <p:nvSpPr>
          <p:cNvPr id="779" name="Google Shape;779;p35"/>
          <p:cNvSpPr/>
          <p:nvPr/>
        </p:nvSpPr>
        <p:spPr>
          <a:xfrm>
            <a:off x="65836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10 — AI validation</a:t>
            </a:r>
            <a:endParaRPr b="0" i="0" sz="950" u="none" cap="none" strike="noStrike">
              <a:solidFill>
                <a:schemeClr val="dk1"/>
              </a:solidFill>
              <a:latin typeface="Arial"/>
              <a:ea typeface="Arial"/>
              <a:cs typeface="Arial"/>
              <a:sym typeface="Arial"/>
            </a:endParaRPr>
          </a:p>
        </p:txBody>
      </p:sp>
      <p:sp>
        <p:nvSpPr>
          <p:cNvPr id="780" name="Google Shape;780;p35"/>
          <p:cNvSpPr/>
          <p:nvPr/>
        </p:nvSpPr>
        <p:spPr>
          <a:xfrm>
            <a:off x="6181344" y="3899916"/>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1.png" id="781" name="Google Shape;781;p35"/>
          <p:cNvPicPr preferRelativeResize="0"/>
          <p:nvPr/>
        </p:nvPicPr>
        <p:blipFill rotWithShape="1">
          <a:blip r:embed="rId6">
            <a:alphaModFix/>
          </a:blip>
          <a:srcRect b="0" l="0" r="0" t="0"/>
          <a:stretch/>
        </p:blipFill>
        <p:spPr>
          <a:xfrm>
            <a:off x="7852119" y="4009644"/>
            <a:ext cx="2144850" cy="1924812"/>
          </a:xfrm>
          <a:prstGeom prst="rect">
            <a:avLst/>
          </a:prstGeom>
          <a:noFill/>
          <a:ln>
            <a:noFill/>
          </a:ln>
        </p:spPr>
      </p:pic>
      <p:sp>
        <p:nvSpPr>
          <p:cNvPr id="782" name="Google Shape;782;p35"/>
          <p:cNvSpPr/>
          <p:nvPr/>
        </p:nvSpPr>
        <p:spPr>
          <a:xfrm>
            <a:off x="632764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11 — Cropland ALM</a:t>
            </a:r>
            <a:endParaRPr b="0" i="0" sz="950" u="none" cap="none" strike="noStrike">
              <a:solidFill>
                <a:schemeClr val="dk1"/>
              </a:solidFill>
              <a:latin typeface="Arial"/>
              <a:ea typeface="Arial"/>
              <a:cs typeface="Arial"/>
              <a:sym typeface="Arial"/>
            </a:endParaRPr>
          </a:p>
        </p:txBody>
      </p:sp>
      <p:sp>
        <p:nvSpPr>
          <p:cNvPr id="783" name="Google Shape;783;p35"/>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36"/>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APPENDIX • DETAILED DIAGRAMS</a:t>
            </a:r>
            <a:endParaRPr b="0" i="0" sz="1000" u="none" cap="none" strike="noStrike">
              <a:solidFill>
                <a:schemeClr val="dk1"/>
              </a:solidFill>
              <a:latin typeface="Arial"/>
              <a:ea typeface="Arial"/>
              <a:cs typeface="Arial"/>
              <a:sym typeface="Arial"/>
            </a:endParaRPr>
          </a:p>
        </p:txBody>
      </p:sp>
      <p:sp>
        <p:nvSpPr>
          <p:cNvPr id="790" name="Google Shape;790;p36"/>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Detailed activity diagrams — evidence collection</a:t>
            </a:r>
            <a:endParaRPr b="0" i="0" sz="2700" u="none" cap="none" strike="noStrike">
              <a:solidFill>
                <a:schemeClr val="dk1"/>
              </a:solidFill>
              <a:latin typeface="Arial"/>
              <a:ea typeface="Arial"/>
              <a:cs typeface="Arial"/>
              <a:sym typeface="Arial"/>
            </a:endParaRPr>
          </a:p>
        </p:txBody>
      </p:sp>
      <p:sp>
        <p:nvSpPr>
          <p:cNvPr id="791" name="Google Shape;791;p36"/>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Subsystem flows for field management, geometry, satellite and signal analytics.</a:t>
            </a:r>
            <a:endParaRPr b="0" i="0" sz="1250" u="none" cap="none" strike="noStrike">
              <a:solidFill>
                <a:schemeClr val="dk1"/>
              </a:solidFill>
              <a:latin typeface="Arial"/>
              <a:ea typeface="Arial"/>
              <a:cs typeface="Arial"/>
              <a:sym typeface="Arial"/>
            </a:endParaRPr>
          </a:p>
        </p:txBody>
      </p:sp>
      <p:sp>
        <p:nvSpPr>
          <p:cNvPr id="792" name="Google Shape;792;p36"/>
          <p:cNvSpPr/>
          <p:nvPr/>
        </p:nvSpPr>
        <p:spPr>
          <a:xfrm>
            <a:off x="512064" y="1371600"/>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3.png" id="793" name="Google Shape;793;p36"/>
          <p:cNvPicPr preferRelativeResize="0"/>
          <p:nvPr/>
        </p:nvPicPr>
        <p:blipFill rotWithShape="1">
          <a:blip r:embed="rId3">
            <a:alphaModFix/>
          </a:blip>
          <a:srcRect b="0" l="0" r="0" t="0"/>
          <a:stretch/>
        </p:blipFill>
        <p:spPr>
          <a:xfrm>
            <a:off x="2797496" y="1481328"/>
            <a:ext cx="915536" cy="1924812"/>
          </a:xfrm>
          <a:prstGeom prst="rect">
            <a:avLst/>
          </a:prstGeom>
          <a:noFill/>
          <a:ln>
            <a:noFill/>
          </a:ln>
        </p:spPr>
      </p:pic>
      <p:sp>
        <p:nvSpPr>
          <p:cNvPr id="794" name="Google Shape;794;p36"/>
          <p:cNvSpPr/>
          <p:nvPr/>
        </p:nvSpPr>
        <p:spPr>
          <a:xfrm>
            <a:off x="658368" y="3461004"/>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13 — Field management activity</a:t>
            </a:r>
            <a:endParaRPr b="0" i="0" sz="950" u="none" cap="none" strike="noStrike">
              <a:solidFill>
                <a:schemeClr val="dk1"/>
              </a:solidFill>
              <a:latin typeface="Arial"/>
              <a:ea typeface="Arial"/>
              <a:cs typeface="Arial"/>
              <a:sym typeface="Arial"/>
            </a:endParaRPr>
          </a:p>
        </p:txBody>
      </p:sp>
      <p:sp>
        <p:nvSpPr>
          <p:cNvPr id="795" name="Google Shape;795;p36"/>
          <p:cNvSpPr/>
          <p:nvPr/>
        </p:nvSpPr>
        <p:spPr>
          <a:xfrm>
            <a:off x="6181344" y="1371600"/>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4.png" id="796" name="Google Shape;796;p36"/>
          <p:cNvPicPr preferRelativeResize="0"/>
          <p:nvPr/>
        </p:nvPicPr>
        <p:blipFill rotWithShape="1">
          <a:blip r:embed="rId4">
            <a:alphaModFix/>
          </a:blip>
          <a:srcRect b="0" l="0" r="0" t="0"/>
          <a:stretch/>
        </p:blipFill>
        <p:spPr>
          <a:xfrm>
            <a:off x="8396773" y="1481328"/>
            <a:ext cx="1055542" cy="1924812"/>
          </a:xfrm>
          <a:prstGeom prst="rect">
            <a:avLst/>
          </a:prstGeom>
          <a:noFill/>
          <a:ln>
            <a:noFill/>
          </a:ln>
        </p:spPr>
      </p:pic>
      <p:sp>
        <p:nvSpPr>
          <p:cNvPr id="797" name="Google Shape;797;p36"/>
          <p:cNvSpPr/>
          <p:nvPr/>
        </p:nvSpPr>
        <p:spPr>
          <a:xfrm>
            <a:off x="6327648" y="3461004"/>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14 — Geometry activity</a:t>
            </a:r>
            <a:endParaRPr b="0" i="0" sz="950" u="none" cap="none" strike="noStrike">
              <a:solidFill>
                <a:schemeClr val="dk1"/>
              </a:solidFill>
              <a:latin typeface="Arial"/>
              <a:ea typeface="Arial"/>
              <a:cs typeface="Arial"/>
              <a:sym typeface="Arial"/>
            </a:endParaRPr>
          </a:p>
        </p:txBody>
      </p:sp>
      <p:sp>
        <p:nvSpPr>
          <p:cNvPr id="798" name="Google Shape;798;p36"/>
          <p:cNvSpPr/>
          <p:nvPr/>
        </p:nvSpPr>
        <p:spPr>
          <a:xfrm>
            <a:off x="512064" y="3899916"/>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5.png" id="799" name="Google Shape;799;p36"/>
          <p:cNvPicPr preferRelativeResize="0"/>
          <p:nvPr/>
        </p:nvPicPr>
        <p:blipFill rotWithShape="1">
          <a:blip r:embed="rId5">
            <a:alphaModFix/>
          </a:blip>
          <a:srcRect b="0" l="0" r="0" t="0"/>
          <a:stretch/>
        </p:blipFill>
        <p:spPr>
          <a:xfrm>
            <a:off x="2736901" y="4009644"/>
            <a:ext cx="1036727" cy="1924812"/>
          </a:xfrm>
          <a:prstGeom prst="rect">
            <a:avLst/>
          </a:prstGeom>
          <a:noFill/>
          <a:ln>
            <a:noFill/>
          </a:ln>
        </p:spPr>
      </p:pic>
      <p:sp>
        <p:nvSpPr>
          <p:cNvPr id="800" name="Google Shape;800;p36"/>
          <p:cNvSpPr/>
          <p:nvPr/>
        </p:nvSpPr>
        <p:spPr>
          <a:xfrm>
            <a:off x="65836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15 — Satellite activity</a:t>
            </a:r>
            <a:endParaRPr b="0" i="0" sz="950" u="none" cap="none" strike="noStrike">
              <a:solidFill>
                <a:schemeClr val="dk1"/>
              </a:solidFill>
              <a:latin typeface="Arial"/>
              <a:ea typeface="Arial"/>
              <a:cs typeface="Arial"/>
              <a:sym typeface="Arial"/>
            </a:endParaRPr>
          </a:p>
        </p:txBody>
      </p:sp>
      <p:sp>
        <p:nvSpPr>
          <p:cNvPr id="801" name="Google Shape;801;p36"/>
          <p:cNvSpPr/>
          <p:nvPr/>
        </p:nvSpPr>
        <p:spPr>
          <a:xfrm>
            <a:off x="6181344" y="3899916"/>
            <a:ext cx="5486400" cy="2363724"/>
          </a:xfrm>
          <a:prstGeom prst="roundRect">
            <a:avLst>
              <a:gd fmla="val 1354"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6.png" id="802" name="Google Shape;802;p36"/>
          <p:cNvPicPr preferRelativeResize="0"/>
          <p:nvPr/>
        </p:nvPicPr>
        <p:blipFill rotWithShape="1">
          <a:blip r:embed="rId6">
            <a:alphaModFix/>
          </a:blip>
          <a:srcRect b="0" l="0" r="0" t="0"/>
          <a:stretch/>
        </p:blipFill>
        <p:spPr>
          <a:xfrm>
            <a:off x="8501875" y="4009644"/>
            <a:ext cx="845338" cy="1924812"/>
          </a:xfrm>
          <a:prstGeom prst="rect">
            <a:avLst/>
          </a:prstGeom>
          <a:noFill/>
          <a:ln>
            <a:noFill/>
          </a:ln>
        </p:spPr>
      </p:pic>
      <p:sp>
        <p:nvSpPr>
          <p:cNvPr id="803" name="Google Shape;803;p36"/>
          <p:cNvSpPr/>
          <p:nvPr/>
        </p:nvSpPr>
        <p:spPr>
          <a:xfrm>
            <a:off x="6327648" y="5989320"/>
            <a:ext cx="51937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16 — Signal analytics activity</a:t>
            </a:r>
            <a:endParaRPr b="0" i="0" sz="950" u="none" cap="none" strike="noStrike">
              <a:solidFill>
                <a:schemeClr val="dk1"/>
              </a:solidFill>
              <a:latin typeface="Arial"/>
              <a:ea typeface="Arial"/>
              <a:cs typeface="Arial"/>
              <a:sym typeface="Arial"/>
            </a:endParaRPr>
          </a:p>
        </p:txBody>
      </p:sp>
      <p:sp>
        <p:nvSpPr>
          <p:cNvPr id="804" name="Google Shape;804;p36"/>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37"/>
          <p:cNvSpPr/>
          <p:nvPr/>
        </p:nvSpPr>
        <p:spPr>
          <a:xfrm>
            <a:off x="548640" y="310896"/>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630"/>
              </a:buClr>
              <a:buSzPts val="1000"/>
              <a:buFont typeface="Arial"/>
              <a:buNone/>
            </a:pPr>
            <a:r>
              <a:rPr b="1" i="0" lang="en-US" sz="1000" u="none" cap="none" strike="noStrike">
                <a:solidFill>
                  <a:srgbClr val="1F5630"/>
                </a:solidFill>
                <a:latin typeface="Arial"/>
                <a:ea typeface="Arial"/>
                <a:cs typeface="Arial"/>
                <a:sym typeface="Arial"/>
              </a:rPr>
              <a:t>APPENDIX • DETAILED DIAGRAMS</a:t>
            </a:r>
            <a:endParaRPr b="0" i="0" sz="1000" u="none" cap="none" strike="noStrike">
              <a:solidFill>
                <a:schemeClr val="dk1"/>
              </a:solidFill>
              <a:latin typeface="Arial"/>
              <a:ea typeface="Arial"/>
              <a:cs typeface="Arial"/>
              <a:sym typeface="Arial"/>
            </a:endParaRPr>
          </a:p>
        </p:txBody>
      </p:sp>
      <p:sp>
        <p:nvSpPr>
          <p:cNvPr id="811" name="Google Shape;811;p37"/>
          <p:cNvSpPr/>
          <p:nvPr/>
        </p:nvSpPr>
        <p:spPr>
          <a:xfrm>
            <a:off x="548640" y="566928"/>
            <a:ext cx="11018520" cy="4846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3B27"/>
              </a:buClr>
              <a:buSzPts val="2700"/>
              <a:buFont typeface="Arial"/>
              <a:buNone/>
            </a:pPr>
            <a:r>
              <a:rPr b="1" i="0" lang="en-US" sz="2700" u="none" cap="none" strike="noStrike">
                <a:solidFill>
                  <a:srgbClr val="163B27"/>
                </a:solidFill>
                <a:latin typeface="Arial"/>
                <a:ea typeface="Arial"/>
                <a:cs typeface="Arial"/>
                <a:sym typeface="Arial"/>
              </a:rPr>
              <a:t>Detailed activity diagrams — calculation and audit</a:t>
            </a:r>
            <a:endParaRPr b="0" i="0" sz="2700" u="none" cap="none" strike="noStrike">
              <a:solidFill>
                <a:schemeClr val="dk1"/>
              </a:solidFill>
              <a:latin typeface="Arial"/>
              <a:ea typeface="Arial"/>
              <a:cs typeface="Arial"/>
              <a:sym typeface="Arial"/>
            </a:endParaRPr>
          </a:p>
        </p:txBody>
      </p:sp>
      <p:sp>
        <p:nvSpPr>
          <p:cNvPr id="812" name="Google Shape;812;p37"/>
          <p:cNvSpPr/>
          <p:nvPr/>
        </p:nvSpPr>
        <p:spPr>
          <a:xfrm>
            <a:off x="566928" y="1069848"/>
            <a:ext cx="10744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D63"/>
              </a:buClr>
              <a:buSzPts val="1250"/>
              <a:buFont typeface="Arial"/>
              <a:buNone/>
            </a:pPr>
            <a:r>
              <a:rPr b="0" i="0" lang="en-US" sz="1250" u="none" cap="none" strike="noStrike">
                <a:solidFill>
                  <a:srgbClr val="5F6D63"/>
                </a:solidFill>
                <a:latin typeface="Arial"/>
                <a:ea typeface="Arial"/>
                <a:cs typeface="Arial"/>
                <a:sym typeface="Arial"/>
              </a:rPr>
              <a:t>Subsystem flows for carbon estimation, evidence reporting and AI validation.</a:t>
            </a:r>
            <a:endParaRPr b="0" i="0" sz="1250" u="none" cap="none" strike="noStrike">
              <a:solidFill>
                <a:schemeClr val="dk1"/>
              </a:solidFill>
              <a:latin typeface="Arial"/>
              <a:ea typeface="Arial"/>
              <a:cs typeface="Arial"/>
              <a:sym typeface="Arial"/>
            </a:endParaRPr>
          </a:p>
        </p:txBody>
      </p:sp>
      <p:sp>
        <p:nvSpPr>
          <p:cNvPr id="813" name="Google Shape;813;p37"/>
          <p:cNvSpPr/>
          <p:nvPr/>
        </p:nvSpPr>
        <p:spPr>
          <a:xfrm>
            <a:off x="512064" y="1371600"/>
            <a:ext cx="3596640" cy="4892040"/>
          </a:xfrm>
          <a:prstGeom prst="roundRect">
            <a:avLst>
              <a:gd fmla="val 890"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7.png" id="814" name="Google Shape;814;p37"/>
          <p:cNvPicPr preferRelativeResize="0"/>
          <p:nvPr/>
        </p:nvPicPr>
        <p:blipFill rotWithShape="1">
          <a:blip r:embed="rId3">
            <a:alphaModFix/>
          </a:blip>
          <a:srcRect b="0" l="0" r="0" t="0"/>
          <a:stretch/>
        </p:blipFill>
        <p:spPr>
          <a:xfrm>
            <a:off x="1573637" y="1481328"/>
            <a:ext cx="1473493" cy="4453128"/>
          </a:xfrm>
          <a:prstGeom prst="rect">
            <a:avLst/>
          </a:prstGeom>
          <a:noFill/>
          <a:ln>
            <a:noFill/>
          </a:ln>
        </p:spPr>
      </p:pic>
      <p:sp>
        <p:nvSpPr>
          <p:cNvPr id="815" name="Google Shape;815;p37"/>
          <p:cNvSpPr/>
          <p:nvPr/>
        </p:nvSpPr>
        <p:spPr>
          <a:xfrm>
            <a:off x="658368" y="5989320"/>
            <a:ext cx="330403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17 — Carbon estimation activity</a:t>
            </a:r>
            <a:endParaRPr b="0" i="0" sz="950" u="none" cap="none" strike="noStrike">
              <a:solidFill>
                <a:schemeClr val="dk1"/>
              </a:solidFill>
              <a:latin typeface="Arial"/>
              <a:ea typeface="Arial"/>
              <a:cs typeface="Arial"/>
              <a:sym typeface="Arial"/>
            </a:endParaRPr>
          </a:p>
        </p:txBody>
      </p:sp>
      <p:sp>
        <p:nvSpPr>
          <p:cNvPr id="816" name="Google Shape;816;p37"/>
          <p:cNvSpPr/>
          <p:nvPr/>
        </p:nvSpPr>
        <p:spPr>
          <a:xfrm>
            <a:off x="4291584" y="1371600"/>
            <a:ext cx="3596640" cy="4892040"/>
          </a:xfrm>
          <a:prstGeom prst="roundRect">
            <a:avLst>
              <a:gd fmla="val 890"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8.png" id="817" name="Google Shape;817;p37"/>
          <p:cNvPicPr preferRelativeResize="0"/>
          <p:nvPr/>
        </p:nvPicPr>
        <p:blipFill rotWithShape="1">
          <a:blip r:embed="rId4">
            <a:alphaModFix/>
          </a:blip>
          <a:srcRect b="0" l="0" r="0" t="0"/>
          <a:stretch/>
        </p:blipFill>
        <p:spPr>
          <a:xfrm>
            <a:off x="4401312" y="1510144"/>
            <a:ext cx="3377184" cy="4395495"/>
          </a:xfrm>
          <a:prstGeom prst="rect">
            <a:avLst/>
          </a:prstGeom>
          <a:noFill/>
          <a:ln>
            <a:noFill/>
          </a:ln>
        </p:spPr>
      </p:pic>
      <p:sp>
        <p:nvSpPr>
          <p:cNvPr id="818" name="Google Shape;818;p37"/>
          <p:cNvSpPr/>
          <p:nvPr/>
        </p:nvSpPr>
        <p:spPr>
          <a:xfrm>
            <a:off x="4437888" y="5989320"/>
            <a:ext cx="330403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18 — Evidence reporting activity</a:t>
            </a:r>
            <a:endParaRPr b="0" i="0" sz="950" u="none" cap="none" strike="noStrike">
              <a:solidFill>
                <a:schemeClr val="dk1"/>
              </a:solidFill>
              <a:latin typeface="Arial"/>
              <a:ea typeface="Arial"/>
              <a:cs typeface="Arial"/>
              <a:sym typeface="Arial"/>
            </a:endParaRPr>
          </a:p>
        </p:txBody>
      </p:sp>
      <p:sp>
        <p:nvSpPr>
          <p:cNvPr id="819" name="Google Shape;819;p37"/>
          <p:cNvSpPr/>
          <p:nvPr/>
        </p:nvSpPr>
        <p:spPr>
          <a:xfrm>
            <a:off x="8071104" y="1371600"/>
            <a:ext cx="3596640" cy="4892040"/>
          </a:xfrm>
          <a:prstGeom prst="roundRect">
            <a:avLst>
              <a:gd fmla="val 890" name="adj"/>
            </a:avLst>
          </a:prstGeom>
          <a:solidFill>
            <a:srgbClr val="FFFFFF"/>
          </a:solidFill>
          <a:ln cap="flat" cmpd="sng" w="9525">
            <a:solidFill>
              <a:srgbClr val="D6DE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nahid/Desktop/my_project/terra-audit/docs/presentation/assets/report_v3/fig19.png" id="820" name="Google Shape;820;p37"/>
          <p:cNvPicPr preferRelativeResize="0"/>
          <p:nvPr/>
        </p:nvPicPr>
        <p:blipFill rotWithShape="1">
          <a:blip r:embed="rId5">
            <a:alphaModFix/>
          </a:blip>
          <a:srcRect b="0" l="0" r="0" t="0"/>
          <a:stretch/>
        </p:blipFill>
        <p:spPr>
          <a:xfrm>
            <a:off x="8180832" y="1651428"/>
            <a:ext cx="3377184" cy="4112928"/>
          </a:xfrm>
          <a:prstGeom prst="rect">
            <a:avLst/>
          </a:prstGeom>
          <a:noFill/>
          <a:ln>
            <a:noFill/>
          </a:ln>
        </p:spPr>
      </p:pic>
      <p:sp>
        <p:nvSpPr>
          <p:cNvPr id="821" name="Google Shape;821;p37"/>
          <p:cNvSpPr/>
          <p:nvPr/>
        </p:nvSpPr>
        <p:spPr>
          <a:xfrm>
            <a:off x="8217408" y="5989320"/>
            <a:ext cx="330403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D63"/>
              </a:buClr>
              <a:buSzPts val="950"/>
              <a:buFont typeface="Arial"/>
              <a:buNone/>
            </a:pPr>
            <a:r>
              <a:rPr b="0" i="0" lang="en-US" sz="950" u="none" cap="none" strike="noStrike">
                <a:solidFill>
                  <a:srgbClr val="5F6D63"/>
                </a:solidFill>
                <a:latin typeface="Arial"/>
                <a:ea typeface="Arial"/>
                <a:cs typeface="Arial"/>
                <a:sym typeface="Arial"/>
              </a:rPr>
              <a:t>Figure 19 — AI validation activity</a:t>
            </a:r>
            <a:endParaRPr b="0" i="0" sz="950" u="none" cap="none" strike="noStrike">
              <a:solidFill>
                <a:schemeClr val="dk1"/>
              </a:solidFill>
              <a:latin typeface="Arial"/>
              <a:ea typeface="Arial"/>
              <a:cs typeface="Arial"/>
              <a:sym typeface="Arial"/>
            </a:endParaRPr>
          </a:p>
        </p:txBody>
      </p:sp>
      <p:sp>
        <p:nvSpPr>
          <p:cNvPr id="822" name="Google Shape;822;p37"/>
          <p:cNvSpPr txBox="1"/>
          <p:nvPr>
            <p:ph idx="4294967295" type="sldNum"/>
          </p:nvPr>
        </p:nvSpPr>
        <p:spPr>
          <a:xfrm>
            <a:off x="11411712" y="6528816"/>
            <a:ext cx="475488"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3E7C42"/>
                </a:solidFill>
                <a:latin typeface="Arial"/>
                <a:ea typeface="Arial"/>
                <a:cs typeface="Arial"/>
                <a:sym typeface="Arial"/>
              </a:rPr>
              <a:t>‹#›</a:t>
            </a:fld>
            <a:endParaRPr b="0" i="0" sz="900" u="none" cap="none" strike="noStrike">
              <a:solidFill>
                <a:srgbClr val="3E7C4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