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77" r:id="rId29"/>
    <p:sldId id="278" r:id="rId30"/>
    <p:sldId id="274" r:id="rId26"/>
    <p:sldId id="259" r:id="rId11"/>
    <p:sldId id="260" r:id="rId12"/>
    <p:sldId id="261" r:id="rId13"/>
    <p:sldId id="262" r:id="rId14"/>
    <p:sldId id="275" r:id="rId27"/>
    <p:sldId id="273" r:id="rId25"/>
    <p:sldId id="263" r:id="rId15"/>
    <p:sldId id="264" r:id="rId16"/>
    <p:sldId id="276" r:id="rId28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141468E-353B-4899-A33C-40920B95AB61}">
          <p14:sldIdLst>
            <p14:sldId id="256"/>
          </p14:sldIdLst>
        </p14:section>
        <p14:section name="Introduction" id="{B7FF5504-4B35-4462-802C-8A655E73C578}">
          <p14:sldIdLst>
            <p14:sldId id="257"/>
            <p14:sldId id="258"/>
          </p14:sldIdLst>
        </p14:section>
        <p14:section name="System" id="{074DCF68-8D68-45B6-B95F-2DA5676C48FB}">
          <p14:sldIdLst>
            <p14:sldId id="259"/>
            <p14:sldId id="260"/>
            <p14:sldId id="261"/>
            <p14:sldId id="262"/>
            <p14:sldId id="263"/>
          </p14:sldIdLst>
        </p14:section>
        <p14:section name="Design" id="{DF2B1458-8183-434C-A230-F0859EB71162}">
          <p14:sldIdLst>
            <p14:sldId id="264"/>
            <p14:sldId id="265"/>
            <p14:sldId id="266"/>
          </p14:sldIdLst>
        </p14:section>
        <p14:section name="Code &amp; tests" id="{9A54FB48-1EBC-4132-B3F5-A2A56A5630E6}">
          <p14:sldIdLst>
            <p14:sldId id="267"/>
            <p14:sldId id="268"/>
            <p14:sldId id="269"/>
            <p14:sldId id="270"/>
          </p14:sldIdLst>
        </p14:section>
        <p14:section name="Reflection" id="{179C8A50-55EE-459D-96B5-33DC0D46AC31}">
          <p14:sldIdLst>
            <p14:sldId id="271"/>
          </p14:sldIdLst>
        </p14:section>
        <p14:section name="Closing" id="{346BDD3D-65AA-4AAC-9410-E489DCC81EF6}">
          <p14:sldIdLst>
            <p14:sldId id="27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VV z-score (smoothed backscatter)</c:v>
                </c:pt>
              </c:strCache>
            </c:strRef>
          </c:tx>
          <c:spPr>
            <a:ln w="34925">
              <a:solidFill>
                <a:srgbClr val="1E5B3F"/>
              </a:solidFill>
            </a:ln>
          </c:spPr>
          <c:marker>
            <c:symbol val="circle"/>
            <c:size val="6"/>
            <c:spPr>
              <a:solidFill>
                <a:srgbClr val="1E5B3F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09 Jan</c:v>
                </c:pt>
                <c:pt idx="1">
                  <c:v>21 Jan</c:v>
                </c:pt>
                <c:pt idx="2">
                  <c:v>02 Feb</c:v>
                </c:pt>
                <c:pt idx="3">
                  <c:v>14 Feb</c:v>
                </c:pt>
                <c:pt idx="4">
                  <c:v>26 Feb</c:v>
                </c:pt>
                <c:pt idx="5">
                  <c:v>10 Mar</c:v>
                </c:pt>
                <c:pt idx="6">
                  <c:v>22 Mar</c:v>
                </c:pt>
                <c:pt idx="7">
                  <c:v>03 Apr</c:v>
                </c:pt>
                <c:pt idx="8">
                  <c:v>15 Apr</c:v>
                </c:pt>
                <c:pt idx="9">
                  <c:v>27 Apr</c:v>
                </c:pt>
                <c:pt idx="10">
                  <c:v>09 May</c:v>
                </c:pt>
                <c:pt idx="11">
                  <c:v>21 May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1.023</c:v>
                </c:pt>
                <c:pt idx="1">
                  <c:v>0.441</c:v>
                </c:pt>
                <c:pt idx="2">
                  <c:v>-0.14</c:v>
                </c:pt>
                <c:pt idx="3">
                  <c:v>-0.942</c:v>
                </c:pt>
                <c:pt idx="4">
                  <c:v>-1.44</c:v>
                </c:pt>
                <c:pt idx="5">
                  <c:v>-0.111</c:v>
                </c:pt>
                <c:pt idx="6">
                  <c:v>0.39</c:v>
                </c:pt>
                <c:pt idx="7">
                  <c:v>-0.606</c:v>
                </c:pt>
                <c:pt idx="8">
                  <c:v>-1.326</c:v>
                </c:pt>
                <c:pt idx="9">
                  <c:v>-0.083</c:v>
                </c:pt>
                <c:pt idx="10">
                  <c:v>0.857</c:v>
                </c:pt>
                <c:pt idx="11">
                  <c:v>1.936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Flood threshold (−0.8)</c:v>
                </c:pt>
              </c:strCache>
            </c:strRef>
          </c:tx>
          <c:spPr>
            <a:ln w="19050">
              <a:solidFill>
                <a:srgbClr val="9AA7A0"/>
              </a:solidFill>
              <a:prstDash val="dash"/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09 Jan</c:v>
                </c:pt>
                <c:pt idx="1">
                  <c:v>21 Jan</c:v>
                </c:pt>
                <c:pt idx="2">
                  <c:v>02 Feb</c:v>
                </c:pt>
                <c:pt idx="3">
                  <c:v>14 Feb</c:v>
                </c:pt>
                <c:pt idx="4">
                  <c:v>26 Feb</c:v>
                </c:pt>
                <c:pt idx="5">
                  <c:v>10 Mar</c:v>
                </c:pt>
                <c:pt idx="6">
                  <c:v>22 Mar</c:v>
                </c:pt>
                <c:pt idx="7">
                  <c:v>03 Apr</c:v>
                </c:pt>
                <c:pt idx="8">
                  <c:v>15 Apr</c:v>
                </c:pt>
                <c:pt idx="9">
                  <c:v>27 Apr</c:v>
                </c:pt>
                <c:pt idx="10">
                  <c:v>09 May</c:v>
                </c:pt>
                <c:pt idx="11">
                  <c:v>21 May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-0.8</c:v>
                </c:pt>
                <c:pt idx="1">
                  <c:v>-0.8</c:v>
                </c:pt>
                <c:pt idx="2">
                  <c:v>-0.8</c:v>
                </c:pt>
                <c:pt idx="3">
                  <c:v>-0.8</c:v>
                </c:pt>
                <c:pt idx="4">
                  <c:v>-0.8</c:v>
                </c:pt>
                <c:pt idx="5">
                  <c:v>-0.8</c:v>
                </c:pt>
                <c:pt idx="6">
                  <c:v>-0.8</c:v>
                </c:pt>
                <c:pt idx="7">
                  <c:v>-0.8</c:v>
                </c:pt>
                <c:pt idx="8">
                  <c:v>-0.8</c:v>
                </c:pt>
                <c:pt idx="9">
                  <c:v>-0.8</c:v>
                </c:pt>
                <c:pt idx="10">
                  <c:v>-0.8</c:v>
                </c:pt>
                <c:pt idx="11">
                  <c:v>-0.8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Flooded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3E5568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09 Jan</c:v>
                </c:pt>
                <c:pt idx="1">
                  <c:v>21 Jan</c:v>
                </c:pt>
                <c:pt idx="2">
                  <c:v>02 Feb</c:v>
                </c:pt>
                <c:pt idx="3">
                  <c:v>14 Feb</c:v>
                </c:pt>
                <c:pt idx="4">
                  <c:v>26 Feb</c:v>
                </c:pt>
                <c:pt idx="5">
                  <c:v>10 Mar</c:v>
                </c:pt>
                <c:pt idx="6">
                  <c:v>22 Mar</c:v>
                </c:pt>
                <c:pt idx="7">
                  <c:v>03 Apr</c:v>
                </c:pt>
                <c:pt idx="8">
                  <c:v>15 Apr</c:v>
                </c:pt>
                <c:pt idx="9">
                  <c:v>27 Apr</c:v>
                </c:pt>
                <c:pt idx="10">
                  <c:v>09 May</c:v>
                </c:pt>
                <c:pt idx="11">
                  <c:v>21 May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3">
                  <c:v>-0.942</c:v>
                </c:pt>
                <c:pt idx="4">
                  <c:v>-1.44</c:v>
                </c:pt>
                <c:pt idx="8">
                  <c:v>-1.326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AWD drydown</c:v>
                </c:pt>
              </c:strCache>
            </c:strRef>
          </c:tx>
          <c:spPr>
            <a:ln>
              <a:noFill/>
            </a:ln>
          </c:spPr>
          <c:marker>
            <c:symbol val="diamond"/>
            <c:size val="12"/>
            <c:spPr>
              <a:solidFill>
                <a:srgbClr val="D99A1E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09 Jan</c:v>
                </c:pt>
                <c:pt idx="1">
                  <c:v>21 Jan</c:v>
                </c:pt>
                <c:pt idx="2">
                  <c:v>02 Feb</c:v>
                </c:pt>
                <c:pt idx="3">
                  <c:v>14 Feb</c:v>
                </c:pt>
                <c:pt idx="4">
                  <c:v>26 Feb</c:v>
                </c:pt>
                <c:pt idx="5">
                  <c:v>10 Mar</c:v>
                </c:pt>
                <c:pt idx="6">
                  <c:v>22 Mar</c:v>
                </c:pt>
                <c:pt idx="7">
                  <c:v>03 Apr</c:v>
                </c:pt>
                <c:pt idx="8">
                  <c:v>15 Apr</c:v>
                </c:pt>
                <c:pt idx="9">
                  <c:v>27 Apr</c:v>
                </c:pt>
                <c:pt idx="10">
                  <c:v>09 May</c:v>
                </c:pt>
                <c:pt idx="11">
                  <c:v>21 May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5">
                  <c:v>-0.111</c:v>
                </c:pt>
                <c:pt idx="9">
                  <c:v>-0.083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6E3DA"/>
            </a:solidFill>
          </a:ln>
        </c:spPr>
        <c:txPr>
          <a:bodyPr/>
          <a:lstStyle/>
          <a:p>
            <a:pPr>
              <a:defRPr sz="900">
                <a:solidFill>
                  <a:srgbClr val="4F5D56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tickLblSkip val="2"/>
        <c:noMultiLvlLbl val="0"/>
      </c:catAx>
      <c:valAx>
        <c:axId val="2140495176"/>
        <c:scaling>
          <c:max val="2.5"/>
          <c:min val="-2.0"/>
        </c:scaling>
        <c:delete val="0"/>
        <c:axPos val="l"/>
        <c:majorGridlines>
          <c:spPr>
            <a:ln>
              <a:solidFill>
                <a:srgbClr val="E3EAE6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F5D56"/>
                </a:solidFill>
              </a:defRPr>
            </a:pPr>
          </a:p>
        </c:txPr>
        <c:crossAx val="2118791784"/>
        <c:crosses val="autoZero"/>
        <c:majorUnit val="1.0"/>
      </c:valAx>
    </c:plotArea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VV z-score (smoothed backscatter)</c:v>
                </c:pt>
              </c:strCache>
            </c:strRef>
          </c:tx>
          <c:spPr>
            <a:ln w="34925">
              <a:solidFill>
                <a:srgbClr val="1E5B3F"/>
              </a:solidFill>
            </a:ln>
          </c:spPr>
          <c:marker>
            <c:symbol val="circle"/>
            <c:size val="6"/>
            <c:spPr>
              <a:solidFill>
                <a:srgbClr val="1E5B3F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4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1E5B3F"/>
                        </a:solidFill>
                      </a:rPr>
                      <a:t>Sowing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1E5B3F"/>
                        </a:solidFill>
                      </a:rPr>
                      <a:t>Harvest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09 Jan</c:v>
                </c:pt>
                <c:pt idx="1">
                  <c:v>21 Jan</c:v>
                </c:pt>
                <c:pt idx="2">
                  <c:v>02 Feb</c:v>
                </c:pt>
                <c:pt idx="3">
                  <c:v>14 Feb</c:v>
                </c:pt>
                <c:pt idx="4">
                  <c:v>26 Feb</c:v>
                </c:pt>
                <c:pt idx="5">
                  <c:v>10 Mar</c:v>
                </c:pt>
                <c:pt idx="6">
                  <c:v>22 Mar</c:v>
                </c:pt>
                <c:pt idx="7">
                  <c:v>03 Apr</c:v>
                </c:pt>
                <c:pt idx="8">
                  <c:v>15 Apr</c:v>
                </c:pt>
                <c:pt idx="9">
                  <c:v>27 Apr</c:v>
                </c:pt>
                <c:pt idx="10">
                  <c:v>09 May</c:v>
                </c:pt>
                <c:pt idx="11">
                  <c:v>21 May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1.023</c:v>
                </c:pt>
                <c:pt idx="1">
                  <c:v>0.441</c:v>
                </c:pt>
                <c:pt idx="2">
                  <c:v>-0.14</c:v>
                </c:pt>
                <c:pt idx="3">
                  <c:v>-0.942</c:v>
                </c:pt>
                <c:pt idx="4">
                  <c:v>-1.44</c:v>
                </c:pt>
                <c:pt idx="5">
                  <c:v>-0.111</c:v>
                </c:pt>
                <c:pt idx="6">
                  <c:v>0.39</c:v>
                </c:pt>
                <c:pt idx="7">
                  <c:v>-0.606</c:v>
                </c:pt>
                <c:pt idx="8">
                  <c:v>-1.326</c:v>
                </c:pt>
                <c:pt idx="9">
                  <c:v>-0.083</c:v>
                </c:pt>
                <c:pt idx="10">
                  <c:v>0.857</c:v>
                </c:pt>
                <c:pt idx="11">
                  <c:v>1.936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Flood threshold (−0.8)</c:v>
                </c:pt>
              </c:strCache>
            </c:strRef>
          </c:tx>
          <c:spPr>
            <a:ln w="19050">
              <a:solidFill>
                <a:srgbClr val="9AA7A0"/>
              </a:solidFill>
              <a:prstDash val="dash"/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09 Jan</c:v>
                </c:pt>
                <c:pt idx="1">
                  <c:v>21 Jan</c:v>
                </c:pt>
                <c:pt idx="2">
                  <c:v>02 Feb</c:v>
                </c:pt>
                <c:pt idx="3">
                  <c:v>14 Feb</c:v>
                </c:pt>
                <c:pt idx="4">
                  <c:v>26 Feb</c:v>
                </c:pt>
                <c:pt idx="5">
                  <c:v>10 Mar</c:v>
                </c:pt>
                <c:pt idx="6">
                  <c:v>22 Mar</c:v>
                </c:pt>
                <c:pt idx="7">
                  <c:v>03 Apr</c:v>
                </c:pt>
                <c:pt idx="8">
                  <c:v>15 Apr</c:v>
                </c:pt>
                <c:pt idx="9">
                  <c:v>27 Apr</c:v>
                </c:pt>
                <c:pt idx="10">
                  <c:v>09 May</c:v>
                </c:pt>
                <c:pt idx="11">
                  <c:v>21 May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-0.8</c:v>
                </c:pt>
                <c:pt idx="1">
                  <c:v>-0.8</c:v>
                </c:pt>
                <c:pt idx="2">
                  <c:v>-0.8</c:v>
                </c:pt>
                <c:pt idx="3">
                  <c:v>-0.8</c:v>
                </c:pt>
                <c:pt idx="4">
                  <c:v>-0.8</c:v>
                </c:pt>
                <c:pt idx="5">
                  <c:v>-0.8</c:v>
                </c:pt>
                <c:pt idx="6">
                  <c:v>-0.8</c:v>
                </c:pt>
                <c:pt idx="7">
                  <c:v>-0.8</c:v>
                </c:pt>
                <c:pt idx="8">
                  <c:v>-0.8</c:v>
                </c:pt>
                <c:pt idx="9">
                  <c:v>-0.8</c:v>
                </c:pt>
                <c:pt idx="10">
                  <c:v>-0.8</c:v>
                </c:pt>
                <c:pt idx="11">
                  <c:v>-0.8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Flooded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1"/>
            <c:spPr>
              <a:solidFill>
                <a:srgbClr val="3E5568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09 Jan</c:v>
                </c:pt>
                <c:pt idx="1">
                  <c:v>21 Jan</c:v>
                </c:pt>
                <c:pt idx="2">
                  <c:v>02 Feb</c:v>
                </c:pt>
                <c:pt idx="3">
                  <c:v>14 Feb</c:v>
                </c:pt>
                <c:pt idx="4">
                  <c:v>26 Feb</c:v>
                </c:pt>
                <c:pt idx="5">
                  <c:v>10 Mar</c:v>
                </c:pt>
                <c:pt idx="6">
                  <c:v>22 Mar</c:v>
                </c:pt>
                <c:pt idx="7">
                  <c:v>03 Apr</c:v>
                </c:pt>
                <c:pt idx="8">
                  <c:v>15 Apr</c:v>
                </c:pt>
                <c:pt idx="9">
                  <c:v>27 Apr</c:v>
                </c:pt>
                <c:pt idx="10">
                  <c:v>09 May</c:v>
                </c:pt>
                <c:pt idx="11">
                  <c:v>21 May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3">
                  <c:v>-0.942</c:v>
                </c:pt>
                <c:pt idx="4">
                  <c:v>-1.44</c:v>
                </c:pt>
                <c:pt idx="8">
                  <c:v>-1.326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AWD drydown</c:v>
                </c:pt>
              </c:strCache>
            </c:strRef>
          </c:tx>
          <c:spPr>
            <a:ln>
              <a:noFill/>
            </a:ln>
          </c:spPr>
          <c:marker>
            <c:symbol val="diamond"/>
            <c:size val="14"/>
            <c:spPr>
              <a:solidFill>
                <a:srgbClr val="D99A1E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5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A86A12"/>
                        </a:solidFill>
                      </a:rPr>
                      <a:t>Drydown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A86A12"/>
                        </a:solidFill>
                      </a:rPr>
                      <a:t>Drydown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09 Jan</c:v>
                </c:pt>
                <c:pt idx="1">
                  <c:v>21 Jan</c:v>
                </c:pt>
                <c:pt idx="2">
                  <c:v>02 Feb</c:v>
                </c:pt>
                <c:pt idx="3">
                  <c:v>14 Feb</c:v>
                </c:pt>
                <c:pt idx="4">
                  <c:v>26 Feb</c:v>
                </c:pt>
                <c:pt idx="5">
                  <c:v>10 Mar</c:v>
                </c:pt>
                <c:pt idx="6">
                  <c:v>22 Mar</c:v>
                </c:pt>
                <c:pt idx="7">
                  <c:v>03 Apr</c:v>
                </c:pt>
                <c:pt idx="8">
                  <c:v>15 Apr</c:v>
                </c:pt>
                <c:pt idx="9">
                  <c:v>27 Apr</c:v>
                </c:pt>
                <c:pt idx="10">
                  <c:v>09 May</c:v>
                </c:pt>
                <c:pt idx="11">
                  <c:v>21 May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5">
                  <c:v>-0.111</c:v>
                </c:pt>
                <c:pt idx="9">
                  <c:v>-0.083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6E3DA"/>
            </a:solidFill>
          </a:ln>
        </c:spPr>
        <c:txPr>
          <a:bodyPr/>
          <a:lstStyle/>
          <a:p>
            <a:pPr>
              <a:defRPr sz="1100">
                <a:solidFill>
                  <a:srgbClr val="4F5D56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.5"/>
          <c:min val="-2.0"/>
        </c:scaling>
        <c:delete val="0"/>
        <c:axPos val="l"/>
        <c:majorGridlines>
          <c:spPr>
            <a:ln>
              <a:solidFill>
                <a:srgbClr val="E3EAE6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4F5D56"/>
                </a:solidFill>
              </a:defRPr>
            </a:pPr>
          </a:p>
        </c:txPr>
        <c:crossAx val="2118791784"/>
        <c:crosses val="autoZero"/>
        <c:majorUnit val="1.0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[0:15 · builds automatically] Good morning. I'm Kazi Nahid; my project is Terra-Audit — a platform that turns a rice field into an auditable carbon claim, with every number traceable to its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[0:35] Flooded paddies are a major methane source. AWD is a proven fix — the IPCC factor drops from 1.00 to 0.55. [click] The problem is MRV: proving the practice happened, and keeping the carbon number traceable to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 Radar sees through monsoon clouds. [click] The chart draws: flooded fields reflect less, so VV drops; when the field drains, VV jumps. [click] The three rules — below −0.8 is flooded; a jump right after a flooded date is a drydown; VH gives sowing and harvest. This live run found two drydowns and an 84-day season.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[0:30] [click] Two models cross-check the rule engine: 75% and 69% agreement. [click] And I say upfront what this is not — there's no independent field ground truth yet, so these are agreement scores and ML stays advisory.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 Plain deterministic code, not AI. [click] The four lines appear in order: emissions, the difference, CO2e, and the net reduction. [click] The 0.55 factor — two or more drydowns — is where AWD's benefit comes from. [click] Worked example: one hectare, 84 days, two drydowns gives 2.12 tonnes CO2e, computed by the engine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 [click] Every methodology requirement gets an explicit state. The bottom two — leakage and additionality — are unsupported and stay blocking: the system tells you what it cannot check. [click] At commit everything is frozen into a snapshot so the number is reproducible, then it goes through internal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[0:30] [click] The top lane is deterministic and authoritative — it owns every number. [click] The bottom lane is AI: bounded context, an LLM, and a validator; the output is only a draft for a human reviewer. [click] Three guardrails — test case TC-06 proves the validator.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[0:35] [click] Three layers: Next.js talks to FastAPI through an authenticated proxy; FastAPI enforces roles; domain logic lives in shared components. [click] Deployed on Vercel and Railway, with a separate worker for long satellite and AI jobs. [click] And how it evolved from the midterm Streamlit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 Component-level design. [click] The key classes and modules with their main operations — each maps to one responsibility, and storage is a strategy: local filesystem or S3. [click] Over fifty tables, grouped by domain. [click] Behaviour: a calculation is draft or ready-for-review depending on blocking readiness items, and is superseded, never edited; jobs move pending → running → done, with cancellation and retries.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[0:35] Interface design as the user sees it. [click] Registering a field: three input modes, the map previews the boundary and area. [click] Signal analytics: validation is inline — here an invalid date range — and running the engine creates a background job. [click] Calculation: Check readiness renders the checklist; commit freezes a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 · no builds] Code review. Highlighted lines are the two rules. The table on the left is exactly what this code outputs for the live field — z-score, flooded flag and drydown flag — so a reviewer can verify each event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 · no builds] The engine mirrors the equation slide. Highlighted: the QA3 gate — above 60,000 tonnes per year it returns None rather than a wrong number. On the right, the actual unit test proving it with a 500,000-hectare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[0:30] 177 backend tests, zero failures — re-run this week — plus frontend tests, build, type check and lint. [click] Tests are layered so a green calculator can't hide a broken permission check. [click] Pass criteria and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 · no builds] Four cases, one per risk: the calculator refuses an invalid pathway, tenants are isolated, exports stay reproducible after edits, and AI cannot claim certification. All pass in the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 [click] Three hard problems and how I solved them — the emission-factor correction is the best story: code-level citations plus tests caught a value that inflated every result by about 1.65×. [click] Then state the limitations confidently — they are documented in the product itself, not hidden.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this slide up during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chart" Target="../charts/chart1.xml"/><Relationship Id="rId6" Type="http://schemas.openxmlformats.org/officeDocument/2006/relationships/image" Target="../media/image4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chart" Target="../charts/chart2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6.pn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2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7.png"/><Relationship Id="rId6" Type="http://schemas.openxmlformats.org/officeDocument/2006/relationships/image" Target="../media/image11.png"/><Relationship Id="rId7" Type="http://schemas.openxmlformats.org/officeDocument/2006/relationships/image" Target="../media/image19.png"/><Relationship Id="rId8" Type="http://schemas.openxmlformats.org/officeDocument/2006/relationships/image" Target="../media/image21.png"/><Relationship Id="rId9" Type="http://schemas.openxmlformats.org/officeDocument/2006/relationships/image" Target="../media/image15.png"/><Relationship Id="rId10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5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dark green topographic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752" y="2130552"/>
            <a:ext cx="5669280" cy="1005840"/>
          </a:xfrm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6200" b="1">
                <a:solidFill>
                  <a:srgbClr val="FFFFFF"/>
                </a:solidFill>
                <a:latin typeface="Calibri"/>
              </a:rPr>
              <a:t>Terra-Audit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48640" y="457200"/>
            <a:ext cx="6108192" cy="603504"/>
            <a:chOff x="548640" y="457200"/>
            <a:chExt cx="6108192" cy="603504"/>
          </a:xfrm>
        </p:grpSpPr>
        <p:pic>
          <p:nvPicPr>
            <p:cNvPr id="5" name="Picture 4" descr="University of Dhaka cres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40" y="457200"/>
              <a:ext cx="475488" cy="600766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1170432" y="457200"/>
              <a:ext cx="5486400" cy="603504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Institute of Information Technology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0">
                  <a:solidFill>
                    <a:srgbClr val="CFE6D8"/>
                  </a:solidFill>
                  <a:latin typeface="Calibri"/>
                </a:rPr>
                <a:t>University of Dhaka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48640" y="1600200"/>
            <a:ext cx="3794760" cy="365760"/>
            <a:chOff x="548640" y="1600200"/>
            <a:chExt cx="3794760" cy="365760"/>
          </a:xfrm>
        </p:grpSpPr>
        <p:sp>
          <p:nvSpPr>
            <p:cNvPr id="8" name="Rounded Rectangle 7"/>
            <p:cNvSpPr/>
            <p:nvPr/>
          </p:nvSpPr>
          <p:spPr>
            <a:xfrm>
              <a:off x="548640" y="1600200"/>
              <a:ext cx="3794760" cy="365760"/>
            </a:xfrm>
            <a:prstGeom prst="roundRect">
              <a:avLst>
                <a:gd name="adj" fmla="val 50000"/>
              </a:avLst>
            </a:prstGeom>
            <a:noFill/>
            <a:ln w="12700">
              <a:solidFill>
                <a:srgbClr val="6CC0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94360" y="1636776"/>
              <a:ext cx="3703320" cy="29260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1">
                  <a:solidFill>
                    <a:srgbClr val="6CC08F"/>
                  </a:solidFill>
                  <a:latin typeface="Calibri"/>
                </a:rPr>
                <a:t>SE801  ·  SOFTWARE PROJECT LAB 3  ·  FINAL DEFENSE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48640" y="2331720"/>
            <a:ext cx="731520" cy="731520"/>
            <a:chOff x="548640" y="2331720"/>
            <a:chExt cx="731520" cy="731520"/>
          </a:xfrm>
        </p:grpSpPr>
        <p:pic>
          <p:nvPicPr>
            <p:cNvPr id="11" name="Picture 10" descr="leaf icon (decorative)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8640" y="2331720"/>
              <a:ext cx="731520" cy="731520"/>
            </a:xfrm>
            <a:prstGeom prst="rect">
              <a:avLst/>
            </a:prstGeom>
          </p:spPr>
        </p:pic>
      </p:grpSp>
      <p:sp>
        <p:nvSpPr>
          <p:cNvPr id="12" name="TextBox 11"/>
          <p:cNvSpPr txBox="1"/>
          <p:nvPr/>
        </p:nvSpPr>
        <p:spPr>
          <a:xfrm>
            <a:off x="548640" y="3246120"/>
            <a:ext cx="598932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>
                <a:solidFill>
                  <a:srgbClr val="CFE6D8"/>
                </a:solidFill>
                <a:latin typeface="Calibri"/>
              </a:rPr>
              <a:t>AI-Assisted Digital MRV Platform for AWD Rice Irrigation and Agricultural Land Management Carbon Credits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548640" y="4206240"/>
            <a:ext cx="6217919" cy="1874520"/>
            <a:chOff x="548640" y="4206240"/>
            <a:chExt cx="6217919" cy="1874520"/>
          </a:xfrm>
        </p:grpSpPr>
        <p:sp>
          <p:nvSpPr>
            <p:cNvPr id="14" name="Rectangle 13"/>
            <p:cNvSpPr/>
            <p:nvPr/>
          </p:nvSpPr>
          <p:spPr>
            <a:xfrm>
              <a:off x="548640" y="4206240"/>
              <a:ext cx="822960" cy="45720"/>
            </a:xfrm>
            <a:prstGeom prst="rect">
              <a:avLst/>
            </a:prstGeom>
            <a:solidFill>
              <a:srgbClr val="6CC0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48640" y="4983480"/>
              <a:ext cx="2011680" cy="10972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100" b="1">
                  <a:solidFill>
                    <a:srgbClr val="6CC08F"/>
                  </a:solidFill>
                  <a:latin typeface="Calibri"/>
                </a:rPr>
                <a:t>PRESENTED BY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Kazi Nahid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300" b="0">
                  <a:solidFill>
                    <a:srgbClr val="CFE6D8"/>
                  </a:solidFill>
                  <a:latin typeface="Calibri"/>
                </a:rPr>
                <a:t>BSSE Roll 1437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487168" y="5029200"/>
              <a:ext cx="10972" cy="914400"/>
            </a:xfrm>
            <a:prstGeom prst="rect">
              <a:avLst/>
            </a:prstGeom>
            <a:solidFill>
              <a:srgbClr val="3D6B5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651760" y="4983480"/>
              <a:ext cx="2011680" cy="10972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100" b="1">
                  <a:solidFill>
                    <a:srgbClr val="6CC08F"/>
                  </a:solidFill>
                  <a:latin typeface="Calibri"/>
                </a:rPr>
                <a:t>SUPERVISED BY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Dr. Emon Kumar Dey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300" b="0">
                  <a:solidFill>
                    <a:srgbClr val="CFE6D8"/>
                  </a:solidFill>
                  <a:latin typeface="Calibri"/>
                </a:rPr>
                <a:t>Professor, IIT, DU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590288" y="5029200"/>
              <a:ext cx="10972" cy="914400"/>
            </a:xfrm>
            <a:prstGeom prst="rect">
              <a:avLst/>
            </a:prstGeom>
            <a:solidFill>
              <a:srgbClr val="3D6B5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754879" y="4983480"/>
              <a:ext cx="2011680" cy="10972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100" b="1">
                  <a:solidFill>
                    <a:srgbClr val="6CC08F"/>
                  </a:solidFill>
                  <a:latin typeface="Calibri"/>
                </a:rPr>
                <a:t>DATE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October 2026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300" b="0">
                  <a:solidFill>
                    <a:srgbClr val="CFE6D8"/>
                  </a:solidFill>
                  <a:latin typeface="Calibri"/>
                </a:rPr>
                <a:t>Final defense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720840" y="1234440"/>
            <a:ext cx="4937760" cy="3703320"/>
            <a:chOff x="6720840" y="1234440"/>
            <a:chExt cx="4937760" cy="3703320"/>
          </a:xfrm>
        </p:grpSpPr>
        <p:sp>
          <p:nvSpPr>
            <p:cNvPr id="21" name="Rounded Rectangle 20"/>
            <p:cNvSpPr/>
            <p:nvPr/>
          </p:nvSpPr>
          <p:spPr>
            <a:xfrm>
              <a:off x="6720840" y="1234440"/>
              <a:ext cx="4937760" cy="370332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720840" y="1234440"/>
              <a:ext cx="4937760" cy="384048"/>
            </a:xfrm>
            <a:prstGeom prst="rect">
              <a:avLst/>
            </a:prstGeom>
            <a:solidFill>
              <a:srgbClr val="EEF3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6867144" y="1371600"/>
              <a:ext cx="109728" cy="109728"/>
            </a:xfrm>
            <a:prstGeom prst="ellipse">
              <a:avLst/>
            </a:prstGeom>
            <a:solidFill>
              <a:srgbClr val="E06C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7050024" y="1371600"/>
              <a:ext cx="109728" cy="109728"/>
            </a:xfrm>
            <a:prstGeom prst="ellipse">
              <a:avLst/>
            </a:prstGeom>
            <a:solidFill>
              <a:srgbClr val="E3B3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7232904" y="1371600"/>
              <a:ext cx="109728" cy="109728"/>
            </a:xfrm>
            <a:prstGeom prst="ellipse">
              <a:avLst/>
            </a:prstGeom>
            <a:solidFill>
              <a:srgbClr val="5FB7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7635240" y="1307592"/>
              <a:ext cx="3108960" cy="246888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662671" y="1344168"/>
              <a:ext cx="3054096" cy="173736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050" b="0">
                  <a:solidFill>
                    <a:srgbClr val="4F5D56"/>
                  </a:solidFill>
                  <a:latin typeface="Calibri"/>
                </a:rPr>
                <a:t>terra-audit.vercel.app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995159" y="1764792"/>
              <a:ext cx="4389120" cy="320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17261E"/>
                  </a:solidFill>
                  <a:latin typeface="Calibri"/>
                </a:rPr>
                <a:t>Signal analytics · Sentinel-1 AWD detection</a:t>
              </a:r>
            </a:p>
          </p:txBody>
        </p:sp>
      </p:grp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6830568" y="2103120"/>
          <a:ext cx="4718304" cy="27432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pSp>
        <p:nvGrpSpPr>
          <p:cNvPr id="30" name="Group 29"/>
          <p:cNvGrpSpPr/>
          <p:nvPr/>
        </p:nvGrpSpPr>
        <p:grpSpPr>
          <a:xfrm>
            <a:off x="6355080" y="5166360"/>
            <a:ext cx="2926080" cy="914400"/>
            <a:chOff x="6355080" y="5166360"/>
            <a:chExt cx="2926080" cy="914400"/>
          </a:xfrm>
        </p:grpSpPr>
        <p:sp>
          <p:nvSpPr>
            <p:cNvPr id="31" name="Rounded Rectangle 30"/>
            <p:cNvSpPr/>
            <p:nvPr/>
          </p:nvSpPr>
          <p:spPr>
            <a:xfrm>
              <a:off x="6355080" y="5166360"/>
              <a:ext cx="2926080" cy="9144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6510528" y="5349240"/>
              <a:ext cx="548640" cy="548640"/>
            </a:xfrm>
            <a:prstGeom prst="ellipse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3" name="Picture 32" descr="droplets icon (decorative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42201" y="5480913"/>
              <a:ext cx="285292" cy="285292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7178040" y="5239512"/>
              <a:ext cx="2057400" cy="77724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2 AWD drydowns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E5B3F"/>
                  </a:solidFill>
                  <a:latin typeface="Calibri"/>
                </a:rPr>
                <a:t>→ 2.12 tCO₂e / ha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9372600" y="5440680"/>
            <a:ext cx="2286000" cy="384048"/>
            <a:chOff x="9372600" y="5440680"/>
            <a:chExt cx="2286000" cy="384048"/>
          </a:xfrm>
        </p:grpSpPr>
        <p:sp>
          <p:nvSpPr>
            <p:cNvPr id="36" name="Rounded Rectangle 35"/>
            <p:cNvSpPr/>
            <p:nvPr/>
          </p:nvSpPr>
          <p:spPr>
            <a:xfrm>
              <a:off x="9372600" y="5440680"/>
              <a:ext cx="2286000" cy="384048"/>
            </a:xfrm>
            <a:prstGeom prst="roundRect">
              <a:avLst>
                <a:gd name="adj" fmla="val 50000"/>
              </a:avLst>
            </a:prstGeom>
            <a:solidFill>
              <a:srgbClr val="6CC0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409176" y="5477256"/>
              <a:ext cx="2212848" cy="310896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1">
                  <a:solidFill>
                    <a:srgbClr val="123526"/>
                  </a:solidFill>
                  <a:latin typeface="Calibri"/>
                </a:rPr>
                <a:t>Verra VM0051 · VM0042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Flooded rice emits methane, and AWD savings are hard to 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48640"/>
            <a:ext cx="932688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2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48640" y="1481328"/>
            <a:ext cx="4206240" cy="4572000"/>
            <a:chOff x="548640" y="1481328"/>
            <a:chExt cx="4206240" cy="4572000"/>
          </a:xfrm>
        </p:grpSpPr>
        <p:sp>
          <p:nvSpPr>
            <p:cNvPr id="17" name="Rounded Rectangle 16"/>
            <p:cNvSpPr/>
            <p:nvPr/>
          </p:nvSpPr>
          <p:spPr>
            <a:xfrm>
              <a:off x="548640" y="1481328"/>
              <a:ext cx="4206240" cy="4572000"/>
            </a:xfrm>
            <a:prstGeom prst="roundRect">
              <a:avLst>
                <a:gd name="adj" fmla="val 6000"/>
              </a:avLst>
            </a:prstGeom>
            <a:solidFill>
              <a:srgbClr val="1235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68680" y="1755648"/>
              <a:ext cx="365760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6CC08F"/>
                  </a:solidFill>
                  <a:latin typeface="Calibri"/>
                </a:rPr>
                <a:t>METHANE EMISSION FACTOR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22959" y="2212848"/>
              <a:ext cx="3840480" cy="9144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4600" b="1">
                  <a:solidFill>
                    <a:srgbClr val="FFFFFF"/>
                  </a:solidFill>
                  <a:latin typeface="Calibri"/>
                </a:rPr>
                <a:t>1.00</a:t>
              </a:r>
              <a:r>
                <a:rPr sz="4600" b="1">
                  <a:solidFill>
                    <a:srgbClr val="6CC08F"/>
                  </a:solidFill>
                  <a:latin typeface="Calibri"/>
                </a:rPr>
                <a:t> → </a:t>
              </a:r>
              <a:r>
                <a:rPr sz="4600" b="1">
                  <a:solidFill>
                    <a:srgbClr val="F2C46D"/>
                  </a:solidFill>
                  <a:latin typeface="Calibri"/>
                </a:rPr>
                <a:t>0.55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68680" y="3310128"/>
              <a:ext cx="3657600" cy="17373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600" b="0">
                  <a:solidFill>
                    <a:srgbClr val="CFE6D8"/>
                  </a:solidFill>
                  <a:latin typeface="Calibri"/>
                </a:rPr>
                <a:t>Alternate Wetting &amp; Drying (AWD) — draining the field at least twice per season — cuts the daily methane factor by 45% versus continuous flooding.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68680" y="5367528"/>
              <a:ext cx="3657600" cy="4572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0">
                  <a:solidFill>
                    <a:srgbClr val="9FC2AE"/>
                  </a:solidFill>
                  <a:latin typeface="Calibri"/>
                </a:rPr>
                <a:t>IPCC 2019 Table 5.12, used by Verra VM0051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074920" y="1481328"/>
            <a:ext cx="6568135" cy="1371600"/>
            <a:chOff x="5074920" y="1481328"/>
            <a:chExt cx="6568135" cy="1371600"/>
          </a:xfrm>
        </p:grpSpPr>
        <p:sp>
          <p:nvSpPr>
            <p:cNvPr id="23" name="Rounded Rectangle 22"/>
            <p:cNvSpPr/>
            <p:nvPr/>
          </p:nvSpPr>
          <p:spPr>
            <a:xfrm>
              <a:off x="5074920" y="1481328"/>
              <a:ext cx="6568135" cy="137160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5349240" y="1865376"/>
              <a:ext cx="603504" cy="603504"/>
            </a:xfrm>
            <a:prstGeom prst="ellipse">
              <a:avLst/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5" name="Picture 24" descr="eye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94080" y="2010216"/>
              <a:ext cx="313822" cy="313822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6172200" y="1664208"/>
              <a:ext cx="5212080" cy="10972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2000" b="1">
                  <a:solidFill>
                    <a:srgbClr val="17261E"/>
                  </a:solidFill>
                  <a:latin typeface="Calibri"/>
                </a:rPr>
                <a:t>Practice claims are hard to verify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>
                  <a:solidFill>
                    <a:srgbClr val="4F5D56"/>
                  </a:solidFill>
                  <a:latin typeface="Calibri"/>
                </a:rPr>
                <a:t>Farmer irrigation logs are incomplete; sensors on every smallholder plot are too costly.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074920" y="3054096"/>
            <a:ext cx="6568135" cy="1371600"/>
            <a:chOff x="5074920" y="3054096"/>
            <a:chExt cx="6568135" cy="1371600"/>
          </a:xfrm>
        </p:grpSpPr>
        <p:sp>
          <p:nvSpPr>
            <p:cNvPr id="28" name="Rounded Rectangle 27"/>
            <p:cNvSpPr/>
            <p:nvPr/>
          </p:nvSpPr>
          <p:spPr>
            <a:xfrm>
              <a:off x="5074920" y="3054096"/>
              <a:ext cx="6568135" cy="137160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5349240" y="3438144"/>
              <a:ext cx="603504" cy="603504"/>
            </a:xfrm>
            <a:prstGeom prst="ellipse">
              <a:avLst/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0" name="Picture 29" descr="file x icon (decorative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94080" y="3582984"/>
              <a:ext cx="313822" cy="313822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6172200" y="3236976"/>
              <a:ext cx="5212080" cy="10972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2000" b="1">
                  <a:solidFill>
                    <a:srgbClr val="17261E"/>
                  </a:solidFill>
                  <a:latin typeface="Calibri"/>
                </a:rPr>
                <a:t>Evidence gets separated from the number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>
                  <a:solidFill>
                    <a:srgbClr val="4F5D56"/>
                  </a:solidFill>
                  <a:latin typeface="Calibri"/>
                </a:rPr>
                <a:t>Spreadsheets lose the factors, methodology version and history behind a result.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5074920" y="4626864"/>
            <a:ext cx="6568135" cy="1371600"/>
            <a:chOff x="5074920" y="4626864"/>
            <a:chExt cx="6568135" cy="1371600"/>
          </a:xfrm>
        </p:grpSpPr>
        <p:sp>
          <p:nvSpPr>
            <p:cNvPr id="33" name="Rounded Rectangle 32"/>
            <p:cNvSpPr/>
            <p:nvPr/>
          </p:nvSpPr>
          <p:spPr>
            <a:xfrm>
              <a:off x="5074920" y="4626864"/>
              <a:ext cx="6568135" cy="137160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5349240" y="5010912"/>
              <a:ext cx="603504" cy="603504"/>
            </a:xfrm>
            <a:prstGeom prst="ellipse">
              <a:avLst/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5" name="Picture 34" descr="shield check icon (decorative)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94080" y="5155752"/>
              <a:ext cx="313822" cy="313822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6172200" y="4809744"/>
              <a:ext cx="5212080" cy="10972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2000" b="1">
                  <a:solidFill>
                    <a:srgbClr val="17261E"/>
                  </a:solidFill>
                  <a:latin typeface="Calibri"/>
                </a:rPr>
                <a:t>Verification needs traceability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>
                  <a:solidFill>
                    <a:srgbClr val="4F5D56"/>
                  </a:solidFill>
                  <a:latin typeface="Calibri"/>
                </a:rPr>
                <a:t>Verifiers and buyers must trace each tonne of CO₂e back to its evidence.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Sentinel-1 radar detects AWD drydowns without field sensors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865376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6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48640" y="1481328"/>
          <a:ext cx="6949440" cy="45262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pSp>
        <p:nvGrpSpPr>
          <p:cNvPr id="17" name="Group 16"/>
          <p:cNvGrpSpPr/>
          <p:nvPr/>
        </p:nvGrpSpPr>
        <p:grpSpPr>
          <a:xfrm>
            <a:off x="7818120" y="1481328"/>
            <a:ext cx="3822191" cy="868680"/>
            <a:chOff x="7818120" y="1481328"/>
            <a:chExt cx="3822191" cy="868680"/>
          </a:xfrm>
        </p:grpSpPr>
        <p:sp>
          <p:nvSpPr>
            <p:cNvPr id="18" name="Rounded Rectangle 17"/>
            <p:cNvSpPr/>
            <p:nvPr/>
          </p:nvSpPr>
          <p:spPr>
            <a:xfrm>
              <a:off x="7818120" y="1481328"/>
              <a:ext cx="3822191" cy="8686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046720" y="1572768"/>
              <a:ext cx="3474720" cy="7315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Flooded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VV z-score below −0.8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7818120" y="2505456"/>
            <a:ext cx="3822191" cy="868680"/>
            <a:chOff x="7818120" y="2505456"/>
            <a:chExt cx="3822191" cy="868680"/>
          </a:xfrm>
        </p:grpSpPr>
        <p:sp>
          <p:nvSpPr>
            <p:cNvPr id="21" name="Rounded Rectangle 20"/>
            <p:cNvSpPr/>
            <p:nvPr/>
          </p:nvSpPr>
          <p:spPr>
            <a:xfrm>
              <a:off x="7818120" y="2505456"/>
              <a:ext cx="3822191" cy="8686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046720" y="2596896"/>
              <a:ext cx="3474720" cy="7315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Drydown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VV rises &gt; 1.2σ right after a flooded date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7818120" y="3529584"/>
            <a:ext cx="3822191" cy="868680"/>
            <a:chOff x="7818120" y="3529584"/>
            <a:chExt cx="3822191" cy="868680"/>
          </a:xfrm>
        </p:grpSpPr>
        <p:sp>
          <p:nvSpPr>
            <p:cNvPr id="24" name="Rounded Rectangle 23"/>
            <p:cNvSpPr/>
            <p:nvPr/>
          </p:nvSpPr>
          <p:spPr>
            <a:xfrm>
              <a:off x="7818120" y="3529584"/>
              <a:ext cx="3822191" cy="8686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046720" y="3621024"/>
              <a:ext cx="3474720" cy="7315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Season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VH minimum = sowing; sharpest VH drop after the peak = harvest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7818120" y="4636008"/>
            <a:ext cx="3822191" cy="1371600"/>
            <a:chOff x="7818120" y="4636008"/>
            <a:chExt cx="3822191" cy="1371600"/>
          </a:xfrm>
        </p:grpSpPr>
        <p:sp>
          <p:nvSpPr>
            <p:cNvPr id="27" name="Rounded Rectangle 26"/>
            <p:cNvSpPr/>
            <p:nvPr/>
          </p:nvSpPr>
          <p:spPr>
            <a:xfrm>
              <a:off x="7818120" y="4636008"/>
              <a:ext cx="3822191" cy="1371600"/>
            </a:xfrm>
            <a:prstGeom prst="roundRect">
              <a:avLst>
                <a:gd name="adj" fmla="val 6000"/>
              </a:avLst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046720" y="4672584"/>
              <a:ext cx="3364991" cy="12984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500" b="1">
                  <a:solidFill>
                    <a:srgbClr val="D7EBDF"/>
                  </a:solidFill>
                  <a:latin typeface="Calibri"/>
                </a:rPr>
                <a:t>Result fed to the calculation</a:t>
              </a:r>
            </a:p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2100" b="1">
                  <a:solidFill>
                    <a:srgbClr val="FFFFFF"/>
                  </a:solidFill>
                  <a:latin typeface="Calibri"/>
                </a:rPr>
                <a:t>2 AWD events · 84-day season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Live run on the deployed app · Sentinel-1 via Google Earth Engine · 12 observations, Jan–May 2026 · rule engine: AdaptiveAWDGate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A model trained on real AWD plots cross-checks the detector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865376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92440" y="1481328"/>
            <a:ext cx="3547872" cy="21945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>
                <a:solidFill>
                  <a:srgbClr val="17261E"/>
                </a:solidFill>
                <a:latin typeface="Calibri"/>
              </a:rPr>
              <a:t>Why add ML?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4F5D56"/>
                </a:solidFill>
                <a:latin typeface="Calibri"/>
              </a:rPr>
              <a:t>Rules are explainable but brittle. A model trained on independently labelled AWD plots checks each field's drydown result from a second angle.</a:t>
            </a:r>
          </a:p>
        </p:txBody>
      </p:sp>
      <p:grpSp>
        <p:nvGrpSpPr>
          <p:cNvPr id="83" name="Group 82"/>
          <p:cNvGrpSpPr/>
          <p:nvPr/>
        </p:nvGrpSpPr>
        <p:grpSpPr>
          <a:xfrm>
            <a:off x="8092440" y="3813048"/>
            <a:ext cx="3547872" cy="1828800"/>
            <a:chOff x="8092440" y="3813048"/>
            <a:chExt cx="3547872" cy="1828800"/>
          </a:xfrm>
        </p:grpSpPr>
        <p:sp>
          <p:nvSpPr>
            <p:cNvPr id="84" name="Rounded Rectangle 83"/>
            <p:cNvSpPr/>
            <p:nvPr/>
          </p:nvSpPr>
          <p:spPr>
            <a:xfrm>
              <a:off x="8092440" y="3813048"/>
              <a:ext cx="3547872" cy="1828800"/>
            </a:xfrm>
            <a:prstGeom prst="roundRect">
              <a:avLst>
                <a:gd name="adj" fmla="val 6000"/>
              </a:avLst>
            </a:prstGeom>
            <a:solidFill>
              <a:srgbClr val="FBF4E6"/>
            </a:solidFill>
            <a:ln w="12700">
              <a:solidFill>
                <a:srgbClr val="EBCB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8293608" y="3849624"/>
              <a:ext cx="3145536" cy="1755648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700" b="1">
                  <a:solidFill>
                    <a:srgbClr val="A86A12"/>
                  </a:solidFill>
                  <a:latin typeface="Calibri"/>
                </a:rPr>
                <a:t>Honest limitation</a:t>
              </a:r>
            </a:p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7261E"/>
                  </a:solidFill>
                  <a:latin typeface="Calibri"/>
                </a:rPr>
                <a:t>Labels come from Punjab, not Bangladesh, and the model is right on about 71% of unseen plots. It stays advisory — it flags disagreement and never changes a calculation.</a:t>
              </a:r>
            </a:p>
          </p:txBody>
        </p:sp>
      </p:grpSp>
      <p:sp>
        <p:nvSpPr>
          <p:cNvPr id="86" name="TextBox 85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AI Validation page · data: microsoft/rice-irrigation-mapping-s1s2 · 172 held-out plots (90 AWD) · repeated 5×5 cross-validation 66.3% ± 4.2%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" y="1371600"/>
            <a:ext cx="7223760" cy="6858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900" b="1">
                <a:solidFill>
                  <a:srgbClr val="17261E"/>
                </a:solidFill>
                <a:latin typeface="Calibri"/>
              </a:rPr>
              <a:t>AWD practice model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4F5D56"/>
                </a:solidFill>
                <a:latin typeface="Calibri"/>
              </a:rPr>
              <a:t>Random forest · Sentinel-1 radar + Satellite Embedding · Microsoft rice-irrigation-mapping (Punjab)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2240280"/>
            <a:ext cx="2788920" cy="1828800"/>
          </a:xfrm>
          <a:prstGeom prst="roundRect">
            <a:avLst>
              <a:gd name="adj" fmla="val 6000"/>
            </a:avLst>
          </a:prstGeom>
          <a:solidFill>
            <a:srgbClr val="1E5B3F"/>
          </a:solidFill>
          <a:ln w="12700">
            <a:solidFill>
              <a:srgbClr val="1E5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0080" y="2377440"/>
            <a:ext cx="2606040" cy="1554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64 / 90</a:t>
            </a:r>
          </a:p>
          <a:p>
            <a:pPr algn="ctr">
              <a:spcBef>
                <a:spcPts val="300"/>
              </a:spcBef>
            </a:pPr>
            <a:r>
              <a:rPr sz="1600" b="1">
                <a:solidFill>
                  <a:srgbClr val="FFFFFF"/>
                </a:solidFill>
                <a:latin typeface="Calibri"/>
              </a:rPr>
              <a:t>AWD plots correctly identified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D7EBDF"/>
                </a:solidFill>
                <a:latin typeface="Calibri"/>
              </a:rPr>
              <a:t>on unseen held-out test plots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20440" y="2240280"/>
            <a:ext cx="2057400" cy="868680"/>
          </a:xfrm>
          <a:prstGeom prst="roundRect">
            <a:avLst>
              <a:gd name="adj" fmla="val 6000"/>
            </a:avLst>
          </a:prstGeom>
          <a:solidFill>
            <a:srgbClr val="F5F8F6"/>
          </a:solidFill>
          <a:ln w="12700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520440" y="2286000"/>
            <a:ext cx="2057400" cy="7772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2400" b="1">
                <a:solidFill>
                  <a:srgbClr val="1E5B3F"/>
                </a:solidFill>
                <a:latin typeface="Calibri"/>
              </a:rPr>
              <a:t>72.7%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4F5D56"/>
                </a:solidFill>
                <a:latin typeface="Calibri"/>
              </a:rPr>
              <a:t>AWD precision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15000" y="2240280"/>
            <a:ext cx="2057400" cy="868680"/>
          </a:xfrm>
          <a:prstGeom prst="roundRect">
            <a:avLst>
              <a:gd name="adj" fmla="val 6000"/>
            </a:avLst>
          </a:prstGeom>
          <a:solidFill>
            <a:srgbClr val="F5F8F6"/>
          </a:solidFill>
          <a:ln w="12700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715000" y="2286000"/>
            <a:ext cx="2057400" cy="7772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2400" b="1">
                <a:solidFill>
                  <a:srgbClr val="1E5B3F"/>
                </a:solidFill>
                <a:latin typeface="Calibri"/>
              </a:rPr>
              <a:t>71.1%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4F5D56"/>
                </a:solidFill>
                <a:latin typeface="Calibri"/>
              </a:rPr>
              <a:t>AWD recall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20440" y="3200400"/>
            <a:ext cx="2057400" cy="868680"/>
          </a:xfrm>
          <a:prstGeom prst="roundRect">
            <a:avLst>
              <a:gd name="adj" fmla="val 6000"/>
            </a:avLst>
          </a:prstGeom>
          <a:solidFill>
            <a:srgbClr val="F5F8F6"/>
          </a:solidFill>
          <a:ln w="12700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520440" y="3246120"/>
            <a:ext cx="2057400" cy="7772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2400" b="1">
                <a:solidFill>
                  <a:srgbClr val="1E5B3F"/>
                </a:solidFill>
                <a:latin typeface="Calibri"/>
              </a:rPr>
              <a:t>0.719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4F5D56"/>
                </a:solidFill>
                <a:latin typeface="Calibri"/>
              </a:rPr>
              <a:t>AWD F1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15000" y="3200400"/>
            <a:ext cx="2057400" cy="868680"/>
          </a:xfrm>
          <a:prstGeom prst="roundRect">
            <a:avLst>
              <a:gd name="adj" fmla="val 6000"/>
            </a:avLst>
          </a:prstGeom>
          <a:solidFill>
            <a:srgbClr val="F5F8F6"/>
          </a:solidFill>
          <a:ln w="12700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715000" y="3246120"/>
            <a:ext cx="2057400" cy="7772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2400" b="1">
                <a:solidFill>
                  <a:srgbClr val="1E5B3F"/>
                </a:solidFill>
                <a:latin typeface="Calibri"/>
              </a:rPr>
              <a:t>0.754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4F5D56"/>
                </a:solidFill>
                <a:latin typeface="Calibri"/>
              </a:rPr>
              <a:t>ROC-AUC (AWD score)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297680"/>
            <a:ext cx="2194560" cy="868680"/>
          </a:xfrm>
          <a:prstGeom prst="roundRect">
            <a:avLst>
              <a:gd name="adj" fmla="val 6000"/>
            </a:avLst>
          </a:prstGeom>
          <a:solidFill>
            <a:srgbClr val="F5F8F6"/>
          </a:solidFill>
          <a:ln w="12700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48640" y="4343400"/>
            <a:ext cx="2194560" cy="7772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2000" b="1">
                <a:solidFill>
                  <a:srgbClr val="17261E"/>
                </a:solidFill>
                <a:latin typeface="Calibri"/>
              </a:rPr>
              <a:t>863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4F5D56"/>
                </a:solidFill>
                <a:latin typeface="Calibri"/>
              </a:rPr>
              <a:t>plots labelled by irrigation practice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743200" y="4526280"/>
            <a:ext cx="228600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800" b="1">
                <a:solidFill>
                  <a:srgbClr val="1E5B3F"/>
                </a:solidFill>
                <a:latin typeface="Calibri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971800" y="4297680"/>
            <a:ext cx="2194560" cy="868680"/>
          </a:xfrm>
          <a:prstGeom prst="roundRect">
            <a:avLst>
              <a:gd name="adj" fmla="val 6000"/>
            </a:avLst>
          </a:prstGeom>
          <a:solidFill>
            <a:srgbClr val="F5F8F6"/>
          </a:solidFill>
          <a:ln w="12700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971800" y="4343400"/>
            <a:ext cx="2194560" cy="7772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2000" b="1">
                <a:solidFill>
                  <a:srgbClr val="17261E"/>
                </a:solidFill>
                <a:latin typeface="Calibri"/>
              </a:rPr>
              <a:t>688 / 172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4F5D56"/>
                </a:solidFill>
                <a:latin typeface="Calibri"/>
              </a:rPr>
              <a:t>train / held-out test split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166360" y="4526280"/>
            <a:ext cx="228600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800" b="1">
                <a:solidFill>
                  <a:srgbClr val="1E5B3F"/>
                </a:solidFill>
                <a:latin typeface="Calibri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94959" y="4297680"/>
            <a:ext cx="2194560" cy="868680"/>
          </a:xfrm>
          <a:prstGeom prst="roundRect">
            <a:avLst>
              <a:gd name="adj" fmla="val 6000"/>
            </a:avLst>
          </a:prstGeom>
          <a:solidFill>
            <a:srgbClr val="F5F8F6"/>
          </a:solidFill>
          <a:ln w="12700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394959" y="4343400"/>
            <a:ext cx="2194560" cy="7772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2000" b="1">
                <a:solidFill>
                  <a:srgbClr val="17261E"/>
                </a:solidFill>
                <a:latin typeface="Calibri"/>
              </a:rPr>
              <a:t>Every field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4F5D56"/>
                </a:solidFill>
                <a:latin typeface="Calibri"/>
              </a:rPr>
              <a:t>run on its Signal Analytics window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The VM0051 engine turns evidence into tCO₂e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865376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481328"/>
            <a:ext cx="6629400" cy="2880360"/>
          </a:xfrm>
          <a:prstGeom prst="roundRect">
            <a:avLst>
              <a:gd name="adj" fmla="val 4000"/>
            </a:avLst>
          </a:prstGeom>
          <a:solidFill>
            <a:srgbClr val="132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1709928"/>
            <a:ext cx="61264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E4EEE8"/>
                </a:solidFill>
                <a:latin typeface="Consolas"/>
              </a:rPr>
              <a:t>E</a:t>
            </a:r>
            <a:r>
              <a:rPr sz="1900" b="0">
                <a:solidFill>
                  <a:srgbClr val="E4EEE8"/>
                </a:solidFill>
                <a:latin typeface="Consolas"/>
              </a:rPr>
              <a:t>     = EF</a:t>
            </a:r>
            <a:r>
              <a:rPr sz="1300" b="0">
                <a:solidFill>
                  <a:srgbClr val="E4EEE8"/>
                </a:solidFill>
                <a:latin typeface="Consolas"/>
              </a:rPr>
              <a:t>c</a:t>
            </a:r>
            <a:r>
              <a:rPr sz="1900" b="0">
                <a:solidFill>
                  <a:srgbClr val="E4EEE8"/>
                </a:solidFill>
                <a:latin typeface="Consolas"/>
              </a:rPr>
              <a:t> × SF</a:t>
            </a:r>
            <a:r>
              <a:rPr sz="1300" b="0">
                <a:solidFill>
                  <a:srgbClr val="E4EEE8"/>
                </a:solidFill>
                <a:latin typeface="Consolas"/>
              </a:rPr>
              <a:t>w</a:t>
            </a:r>
            <a:r>
              <a:rPr sz="1900" b="0">
                <a:solidFill>
                  <a:srgbClr val="E4EEE8"/>
                </a:solidFill>
                <a:latin typeface="Consolas"/>
              </a:rPr>
              <a:t> × SF</a:t>
            </a:r>
            <a:r>
              <a:rPr sz="1300" b="0">
                <a:solidFill>
                  <a:srgbClr val="E4EEE8"/>
                </a:solidFill>
                <a:latin typeface="Consolas"/>
              </a:rPr>
              <a:t>p</a:t>
            </a:r>
            <a:r>
              <a:rPr sz="1900" b="0">
                <a:solidFill>
                  <a:srgbClr val="E4EEE8"/>
                </a:solidFill>
                <a:latin typeface="Consolas"/>
              </a:rPr>
              <a:t> × SF</a:t>
            </a:r>
            <a:r>
              <a:rPr sz="1300" b="0">
                <a:solidFill>
                  <a:srgbClr val="E4EEE8"/>
                </a:solidFill>
                <a:latin typeface="Consolas"/>
              </a:rPr>
              <a:t>o</a:t>
            </a:r>
            <a:r>
              <a:rPr sz="1900" b="0">
                <a:solidFill>
                  <a:srgbClr val="E4EEE8"/>
                </a:solidFill>
                <a:latin typeface="Consolas"/>
              </a:rPr>
              <a:t> × days × area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185416"/>
            <a:ext cx="61264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E4EEE8"/>
                </a:solidFill>
                <a:latin typeface="Consolas"/>
              </a:rPr>
              <a:t>ΔCH₄</a:t>
            </a:r>
            <a:r>
              <a:rPr sz="1900" b="0">
                <a:solidFill>
                  <a:srgbClr val="E4EEE8"/>
                </a:solidFill>
                <a:latin typeface="Consolas"/>
              </a:rPr>
              <a:t>  = E</a:t>
            </a:r>
            <a:r>
              <a:rPr sz="1300" b="0">
                <a:solidFill>
                  <a:srgbClr val="E4EEE8"/>
                </a:solidFill>
                <a:latin typeface="Consolas"/>
              </a:rPr>
              <a:t>baseline</a:t>
            </a:r>
            <a:r>
              <a:rPr sz="1900" b="0">
                <a:solidFill>
                  <a:srgbClr val="E4EEE8"/>
                </a:solidFill>
                <a:latin typeface="Consolas"/>
              </a:rPr>
              <a:t> − E</a:t>
            </a:r>
            <a:r>
              <a:rPr sz="1300" b="0">
                <a:solidFill>
                  <a:srgbClr val="E4EEE8"/>
                </a:solidFill>
                <a:latin typeface="Consolas"/>
              </a:rPr>
              <a:t>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660904"/>
            <a:ext cx="61264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E4EEE8"/>
                </a:solidFill>
                <a:latin typeface="Consolas"/>
              </a:rPr>
              <a:t>ΔCO₂e</a:t>
            </a:r>
            <a:r>
              <a:rPr sz="1900" b="0">
                <a:solidFill>
                  <a:srgbClr val="E4EEE8"/>
                </a:solidFill>
                <a:latin typeface="Consolas"/>
              </a:rPr>
              <a:t> = ΔCH₄ × 28 ÷ 1000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136392"/>
            <a:ext cx="61264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F2C46D"/>
                </a:solidFill>
                <a:latin typeface="Consolas"/>
              </a:rPr>
              <a:t>ER</a:t>
            </a:r>
            <a:r>
              <a:rPr sz="1900" b="0">
                <a:solidFill>
                  <a:srgbClr val="E4EEE8"/>
                </a:solidFill>
                <a:latin typeface="Consolas"/>
              </a:rPr>
              <a:t>    = ΔCO₂e × (1 − 15%) − PE</a:t>
            </a:r>
            <a:r>
              <a:rPr sz="1300" b="0">
                <a:solidFill>
                  <a:srgbClr val="E4EEE8"/>
                </a:solidFill>
                <a:latin typeface="Consolas"/>
              </a:rPr>
              <a:t>N₂O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721608"/>
            <a:ext cx="61264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9FC2AE"/>
                </a:solidFill>
                <a:latin typeface="Calibri"/>
              </a:rPr>
              <a:t>VM0051 Eq. 6–8, 29 (QA3) · EFc = 0.85 kg CH₄/ha/day (IPCC 2019, South Asia) · GWP CH₄ = 28 (AR5)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548640" y="4544568"/>
            <a:ext cx="6629400" cy="1481328"/>
            <a:chOff x="548640" y="4544568"/>
            <a:chExt cx="6629400" cy="1481328"/>
          </a:xfrm>
        </p:grpSpPr>
        <p:sp>
          <p:nvSpPr>
            <p:cNvPr id="23" name="TextBox 22"/>
            <p:cNvSpPr txBox="1"/>
            <p:nvPr/>
          </p:nvSpPr>
          <p:spPr>
            <a:xfrm>
              <a:off x="548640" y="4544568"/>
              <a:ext cx="6629400" cy="320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E5B3F"/>
                  </a:solidFill>
                  <a:latin typeface="Calibri"/>
                </a:rPr>
                <a:t>WATER-REGIME FACTOR SFw — WHERE AWD'S BENEFIT COMES FROM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548640" y="4882896"/>
              <a:ext cx="2103120" cy="114300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48640" y="4901184"/>
              <a:ext cx="210312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800" b="1">
                  <a:solidFill>
                    <a:srgbClr val="1E5B3F"/>
                  </a:solidFill>
                  <a:latin typeface="Calibri"/>
                </a:rPr>
                <a:t>1.00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48640" y="5413248"/>
              <a:ext cx="2103120" cy="5943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50" b="1">
                  <a:solidFill>
                    <a:srgbClr val="4F5D56"/>
                  </a:solidFill>
                  <a:latin typeface="Calibri"/>
                </a:rPr>
                <a:t>Continuous flooding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50" b="0">
                  <a:solidFill>
                    <a:srgbClr val="4F5D56"/>
                  </a:solidFill>
                  <a:latin typeface="Calibri"/>
                </a:rPr>
                <a:t>0 drydowns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2798064" y="4882896"/>
              <a:ext cx="2103120" cy="114300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798064" y="4901184"/>
              <a:ext cx="210312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800" b="1">
                  <a:solidFill>
                    <a:srgbClr val="1E5B3F"/>
                  </a:solidFill>
                  <a:latin typeface="Calibri"/>
                </a:rPr>
                <a:t>0.71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798064" y="5413248"/>
              <a:ext cx="2103120" cy="5943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50" b="1">
                  <a:solidFill>
                    <a:srgbClr val="4F5D56"/>
                  </a:solidFill>
                  <a:latin typeface="Calibri"/>
                </a:rPr>
                <a:t>Single aeration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50" b="0">
                  <a:solidFill>
                    <a:srgbClr val="4F5D56"/>
                  </a:solidFill>
                  <a:latin typeface="Calibri"/>
                </a:rPr>
                <a:t>1 drydown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5047488" y="4882896"/>
              <a:ext cx="2103120" cy="1143000"/>
            </a:xfrm>
            <a:prstGeom prst="roundRect">
              <a:avLst>
                <a:gd name="adj" fmla="val 6000"/>
              </a:avLst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047488" y="4901184"/>
              <a:ext cx="210312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800" b="1">
                  <a:solidFill>
                    <a:srgbClr val="FFFFFF"/>
                  </a:solidFill>
                  <a:latin typeface="Calibri"/>
                </a:rPr>
                <a:t>0.55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047488" y="5413248"/>
              <a:ext cx="2103120" cy="5943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50" b="1">
                  <a:solidFill>
                    <a:srgbClr val="D7EBDF"/>
                  </a:solidFill>
                  <a:latin typeface="Calibri"/>
                </a:rPr>
                <a:t>True AWD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50" b="0">
                  <a:solidFill>
                    <a:srgbClr val="D7EBDF"/>
                  </a:solidFill>
                  <a:latin typeface="Calibri"/>
                </a:rPr>
                <a:t>≥ 2 drydowns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7498079" y="1481328"/>
            <a:ext cx="4142232" cy="4544568"/>
            <a:chOff x="7498079" y="1481328"/>
            <a:chExt cx="4142232" cy="4544568"/>
          </a:xfrm>
        </p:grpSpPr>
        <p:sp>
          <p:nvSpPr>
            <p:cNvPr id="34" name="Rounded Rectangle 33"/>
            <p:cNvSpPr/>
            <p:nvPr/>
          </p:nvSpPr>
          <p:spPr>
            <a:xfrm>
              <a:off x="7498079" y="1481328"/>
              <a:ext cx="4142232" cy="4544568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726679" y="1645920"/>
              <a:ext cx="3749039" cy="7315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900" b="1">
                  <a:solidFill>
                    <a:srgbClr val="17261E"/>
                  </a:solidFill>
                  <a:latin typeface="Calibri"/>
                </a:rPr>
                <a:t>Worked example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0">
                  <a:solidFill>
                    <a:srgbClr val="4F5D56"/>
                  </a:solidFill>
                  <a:latin typeface="Calibri"/>
                </a:rPr>
                <a:t>1 ha · 84 days · 2 drydowns · 100 kg N/ha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726679" y="2487168"/>
              <a:ext cx="228600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Baseline CH₄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784080" y="2487168"/>
              <a:ext cx="164592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onsolas"/>
                </a:rPr>
                <a:t>205.5 kg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726679" y="2889504"/>
              <a:ext cx="228600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Project CH₄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784080" y="2889504"/>
              <a:ext cx="164592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onsolas"/>
                </a:rPr>
                <a:t>113.0 kg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726679" y="3291840"/>
              <a:ext cx="228600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Avoided CH₄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9784080" y="3291840"/>
              <a:ext cx="164592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onsolas"/>
                </a:rPr>
                <a:t>92.5 kg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726679" y="3694176"/>
              <a:ext cx="228600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As CO₂e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784080" y="3694176"/>
              <a:ext cx="164592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onsolas"/>
                </a:rPr>
                <a:t>2.59 t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726679" y="4096512"/>
              <a:ext cx="228600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− 15% uncertainty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9784080" y="4096512"/>
              <a:ext cx="164592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onsolas"/>
                </a:rPr>
                <a:t>− 0.39 t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726679" y="4498848"/>
              <a:ext cx="228600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− N₂O penalty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784080" y="4498848"/>
              <a:ext cx="164592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onsolas"/>
                </a:rPr>
                <a:t>− 0.08 t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7726679" y="4974336"/>
              <a:ext cx="3703320" cy="18288"/>
            </a:xfrm>
            <a:prstGeom prst="rect">
              <a:avLst/>
            </a:prstGeom>
            <a:solidFill>
              <a:srgbClr val="D6E3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726679" y="5047488"/>
              <a:ext cx="1828800" cy="4572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Net reduction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326880" y="5029200"/>
              <a:ext cx="2103120" cy="5029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2300" b="1">
                  <a:solidFill>
                    <a:srgbClr val="1E5B3F"/>
                  </a:solidFill>
                  <a:latin typeface="Calibri"/>
                </a:rPr>
                <a:t>2.12 tCO₂e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726679" y="5522976"/>
              <a:ext cx="3749039" cy="5029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50" b="0">
                  <a:solidFill>
                    <a:srgbClr val="B4432E"/>
                  </a:solidFill>
                  <a:latin typeface="Calibri"/>
                </a:rPr>
                <a:t>Above 60,000 tCO₂e/yr the engine blocks instead of guessing.</a:t>
              </a: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Worked example computed by CarbonAssetEngine.calculate_credits() (src/carbon/rice.py)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Readiness checks stop incomplete work from going to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865376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9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48640" y="1481328"/>
            <a:ext cx="7141464" cy="4709160"/>
            <a:chOff x="548640" y="1481328"/>
            <a:chExt cx="7141464" cy="4709160"/>
          </a:xfrm>
        </p:grpSpPr>
        <p:sp>
          <p:nvSpPr>
            <p:cNvPr id="17" name="Rounded Rectangle 16"/>
            <p:cNvSpPr/>
            <p:nvPr/>
          </p:nvSpPr>
          <p:spPr>
            <a:xfrm>
              <a:off x="548640" y="1481328"/>
              <a:ext cx="7086600" cy="425196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8" name="Picture 17" descr="list checks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7240" y="1636776"/>
              <a:ext cx="292608" cy="292608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1170432" y="1618488"/>
              <a:ext cx="630936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Readiness checklist — VM0051 field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77240" y="2167128"/>
              <a:ext cx="1325880" cy="3108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>
              <a:solidFill>
                <a:srgbClr val="2E8B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95528" y="2203704"/>
              <a:ext cx="1289304" cy="237744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2E8B57"/>
                  </a:solidFill>
                  <a:latin typeface="Calibri"/>
                </a:rPr>
                <a:t>satisfied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286000" y="2075688"/>
              <a:ext cx="5212080" cy="566928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200" b="0">
                  <a:solidFill>
                    <a:srgbClr val="7C8A83"/>
                  </a:solidFill>
                  <a:latin typeface="Consolas"/>
                </a:rPr>
                <a:t>common.monitoring_period_coverage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500" b="0">
                  <a:solidFill>
                    <a:srgbClr val="17261E"/>
                  </a:solidFill>
                  <a:latin typeface="Calibri"/>
                </a:rPr>
                <a:t>Crop seasons cover the monitoring period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77240" y="2624328"/>
              <a:ext cx="6629400" cy="9144"/>
            </a:xfrm>
            <a:prstGeom prst="rect">
              <a:avLst/>
            </a:prstGeom>
            <a:solidFill>
              <a:srgbClr val="D6E3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777240" y="2770632"/>
              <a:ext cx="1325880" cy="3108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>
              <a:solidFill>
                <a:srgbClr val="A86A1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95528" y="2807208"/>
              <a:ext cx="1289304" cy="237744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A86A12"/>
                  </a:solidFill>
                  <a:latin typeface="Calibri"/>
                </a:rPr>
                <a:t>needs review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286000" y="2679192"/>
              <a:ext cx="5212080" cy="566928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200" b="0">
                  <a:solidFill>
                    <a:srgbClr val="7C8A83"/>
                  </a:solidFill>
                  <a:latin typeface="Consolas"/>
                </a:rPr>
                <a:t>common.methodology_applicability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500" b="0">
                  <a:solidFill>
                    <a:srgbClr val="17261E"/>
                  </a:solidFill>
                  <a:latin typeface="Calibri"/>
                </a:rPr>
                <a:t>Declared crop outside usual scope — reviewer confirms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77240" y="3227832"/>
              <a:ext cx="6629400" cy="9144"/>
            </a:xfrm>
            <a:prstGeom prst="rect">
              <a:avLst/>
            </a:prstGeom>
            <a:solidFill>
              <a:srgbClr val="D6E3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777240" y="3374136"/>
              <a:ext cx="1325880" cy="3108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>
              <a:solidFill>
                <a:srgbClr val="A86A1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95528" y="3410712"/>
              <a:ext cx="1289304" cy="237744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A86A12"/>
                  </a:solidFill>
                  <a:latin typeface="Calibri"/>
                </a:rPr>
                <a:t>needs review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286000" y="3282696"/>
              <a:ext cx="5212080" cy="566928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200" b="0">
                  <a:solidFill>
                    <a:srgbClr val="7C8A83"/>
                  </a:solidFill>
                  <a:latin typeface="Consolas"/>
                </a:rPr>
                <a:t>common.evidence_review_status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500" b="0">
                  <a:solidFill>
                    <a:srgbClr val="17261E"/>
                  </a:solidFill>
                  <a:latin typeface="Calibri"/>
                </a:rPr>
                <a:t>Field observations not yet accepted by a second person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77240" y="3831336"/>
              <a:ext cx="6629400" cy="9144"/>
            </a:xfrm>
            <a:prstGeom prst="rect">
              <a:avLst/>
            </a:prstGeom>
            <a:solidFill>
              <a:srgbClr val="D6E3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777240" y="3977639"/>
              <a:ext cx="1325880" cy="3108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>
              <a:solidFill>
                <a:srgbClr val="B4432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95528" y="4014215"/>
              <a:ext cx="1289304" cy="237744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B4432E"/>
                  </a:solidFill>
                  <a:latin typeface="Calibri"/>
                </a:rPr>
                <a:t>missing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286000" y="3886200"/>
              <a:ext cx="5212080" cy="566928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200" b="0">
                  <a:solidFill>
                    <a:srgbClr val="7C8A83"/>
                  </a:solidFill>
                  <a:latin typeface="Consolas"/>
                </a:rPr>
                <a:t>vm0051.required_measurement_inputs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500" b="0">
                  <a:solidFill>
                    <a:srgbClr val="17261E"/>
                  </a:solidFill>
                  <a:latin typeface="Calibri"/>
                </a:rPr>
                <a:t>AWD events and season length not yet supplied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777240" y="4434840"/>
              <a:ext cx="6629400" cy="9144"/>
            </a:xfrm>
            <a:prstGeom prst="rect">
              <a:avLst/>
            </a:prstGeom>
            <a:solidFill>
              <a:srgbClr val="D6E3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777240" y="4581144"/>
              <a:ext cx="1325880" cy="3108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>
              <a:solidFill>
                <a:srgbClr val="6B72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95528" y="4617720"/>
              <a:ext cx="1289304" cy="237744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6B7280"/>
                  </a:solidFill>
                  <a:latin typeface="Calibri"/>
                </a:rPr>
                <a:t>unsupported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286000" y="4489704"/>
              <a:ext cx="5212080" cy="566928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200" b="0">
                  <a:solidFill>
                    <a:srgbClr val="7C8A83"/>
                  </a:solidFill>
                  <a:latin typeface="Consolas"/>
                </a:rPr>
                <a:t>vm0051.leakage_assessment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500" b="0">
                  <a:solidFill>
                    <a:srgbClr val="17261E"/>
                  </a:solidFill>
                  <a:latin typeface="Calibri"/>
                </a:rPr>
                <a:t>Not implemented — stays blocking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777240" y="5038344"/>
              <a:ext cx="6629400" cy="9144"/>
            </a:xfrm>
            <a:prstGeom prst="rect">
              <a:avLst/>
            </a:prstGeom>
            <a:solidFill>
              <a:srgbClr val="D6E3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777240" y="5184648"/>
              <a:ext cx="1325880" cy="3108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>
              <a:solidFill>
                <a:srgbClr val="6B72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95528" y="5221224"/>
              <a:ext cx="1289304" cy="237744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6B7280"/>
                  </a:solidFill>
                  <a:latin typeface="Calibri"/>
                </a:rPr>
                <a:t>unsupported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286000" y="5093208"/>
              <a:ext cx="5212080" cy="566928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200" b="0">
                  <a:solidFill>
                    <a:srgbClr val="7C8A83"/>
                  </a:solidFill>
                  <a:latin typeface="Consolas"/>
                </a:rPr>
                <a:t>vm0051.n2o_baseline_fertilizer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500" b="0">
                  <a:solidFill>
                    <a:srgbClr val="17261E"/>
                  </a:solidFill>
                  <a:latin typeface="Calibri"/>
                </a:rPr>
                <a:t>Not implemented — shown to the verifier, never hidden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48640" y="5824728"/>
              <a:ext cx="173736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2E8B57"/>
                  </a:solidFill>
                  <a:latin typeface="Calibri"/>
                </a:rPr>
                <a:t>1  </a:t>
              </a:r>
              <a:r>
                <a:rPr sz="1400" b="0">
                  <a:solidFill>
                    <a:srgbClr val="4F5D56"/>
                  </a:solidFill>
                  <a:latin typeface="Calibri"/>
                </a:rPr>
                <a:t>satisfied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350008" y="5824728"/>
              <a:ext cx="173736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A86A12"/>
                  </a:solidFill>
                  <a:latin typeface="Calibri"/>
                </a:rPr>
                <a:t>3  </a:t>
              </a:r>
              <a:r>
                <a:rPr sz="1400" b="0">
                  <a:solidFill>
                    <a:srgbClr val="4F5D56"/>
                  </a:solidFill>
                  <a:latin typeface="Calibri"/>
                </a:rPr>
                <a:t>needs review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151376" y="5824728"/>
              <a:ext cx="173736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B4432E"/>
                  </a:solidFill>
                  <a:latin typeface="Calibri"/>
                </a:rPr>
                <a:t>1  </a:t>
              </a:r>
              <a:r>
                <a:rPr sz="1400" b="0">
                  <a:solidFill>
                    <a:srgbClr val="4F5D56"/>
                  </a:solidFill>
                  <a:latin typeface="Calibri"/>
                </a:rPr>
                <a:t>missing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952744" y="5824728"/>
              <a:ext cx="173736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6B7280"/>
                  </a:solidFill>
                  <a:latin typeface="Calibri"/>
                </a:rPr>
                <a:t>3  </a:t>
              </a:r>
              <a:r>
                <a:rPr sz="1400" b="0">
                  <a:solidFill>
                    <a:srgbClr val="4F5D56"/>
                  </a:solidFill>
                  <a:latin typeface="Calibri"/>
                </a:rPr>
                <a:t>unsupported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8001000" y="1481328"/>
            <a:ext cx="3657600" cy="2167128"/>
            <a:chOff x="8001000" y="1481328"/>
            <a:chExt cx="3657600" cy="2167128"/>
          </a:xfrm>
        </p:grpSpPr>
        <p:sp>
          <p:nvSpPr>
            <p:cNvPr id="48" name="TextBox 47"/>
            <p:cNvSpPr txBox="1"/>
            <p:nvPr/>
          </p:nvSpPr>
          <p:spPr>
            <a:xfrm>
              <a:off x="8001000" y="1481328"/>
              <a:ext cx="3639312" cy="320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E5B3F"/>
                  </a:solidFill>
                  <a:latin typeface="Calibri"/>
                </a:rPr>
                <a:t>AT COMMIT, THE SYSTEM FREEZES</a:t>
              </a:r>
            </a:p>
          </p:txBody>
        </p:sp>
        <p:pic>
          <p:nvPicPr>
            <p:cNvPr id="49" name="Picture 48" descr="lock icon (decorative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01000" y="1938528"/>
              <a:ext cx="256032" cy="256032"/>
            </a:xfrm>
            <a:prstGeom prst="rect">
              <a:avLst/>
            </a:prstGeom>
          </p:spPr>
        </p:pic>
        <p:sp>
          <p:nvSpPr>
            <p:cNvPr id="50" name="TextBox 49"/>
            <p:cNvSpPr txBox="1"/>
            <p:nvPr/>
          </p:nvSpPr>
          <p:spPr>
            <a:xfrm>
              <a:off x="8366760" y="1865376"/>
              <a:ext cx="3291840" cy="41148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rgbClr val="17261E"/>
                  </a:solidFill>
                  <a:latin typeface="Calibri"/>
                </a:rPr>
                <a:t>Field boundary &amp; area</a:t>
              </a:r>
            </a:p>
          </p:txBody>
        </p:sp>
        <p:pic>
          <p:nvPicPr>
            <p:cNvPr id="51" name="Picture 50" descr="lock icon (decorative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01000" y="2395728"/>
              <a:ext cx="256032" cy="256032"/>
            </a:xfrm>
            <a:prstGeom prst="rect">
              <a:avLst/>
            </a:prstGeom>
          </p:spPr>
        </p:pic>
        <p:sp>
          <p:nvSpPr>
            <p:cNvPr id="52" name="TextBox 51"/>
            <p:cNvSpPr txBox="1"/>
            <p:nvPr/>
          </p:nvSpPr>
          <p:spPr>
            <a:xfrm>
              <a:off x="8366760" y="2322576"/>
              <a:ext cx="3291840" cy="41148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rgbClr val="17261E"/>
                  </a:solidFill>
                  <a:latin typeface="Calibri"/>
                </a:rPr>
                <a:t>Crop seasons &amp; engine inputs</a:t>
              </a:r>
            </a:p>
          </p:txBody>
        </p:sp>
        <p:pic>
          <p:nvPicPr>
            <p:cNvPr id="53" name="Picture 52" descr="lock icon (decorative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01000" y="2852928"/>
              <a:ext cx="256032" cy="256032"/>
            </a:xfrm>
            <a:prstGeom prst="rect">
              <a:avLst/>
            </a:prstGeom>
          </p:spPr>
        </p:pic>
        <p:sp>
          <p:nvSpPr>
            <p:cNvPr id="54" name="TextBox 53"/>
            <p:cNvSpPr txBox="1"/>
            <p:nvPr/>
          </p:nvSpPr>
          <p:spPr>
            <a:xfrm>
              <a:off x="8366760" y="2779776"/>
              <a:ext cx="3291840" cy="41148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rgbClr val="17261E"/>
                  </a:solidFill>
                  <a:latin typeface="Calibri"/>
                </a:rPr>
                <a:t>Methodology bundle &amp; factors</a:t>
              </a:r>
            </a:p>
          </p:txBody>
        </p:sp>
        <p:pic>
          <p:nvPicPr>
            <p:cNvPr id="55" name="Picture 54" descr="lock icon (decorative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01000" y="3310128"/>
              <a:ext cx="256032" cy="256032"/>
            </a:xfrm>
            <a:prstGeom prst="rect">
              <a:avLst/>
            </a:prstGeom>
          </p:spPr>
        </p:pic>
        <p:sp>
          <p:nvSpPr>
            <p:cNvPr id="56" name="TextBox 55"/>
            <p:cNvSpPr txBox="1"/>
            <p:nvPr/>
          </p:nvSpPr>
          <p:spPr>
            <a:xfrm>
              <a:off x="8366760" y="3236976"/>
              <a:ext cx="3291840" cy="41148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rgbClr val="17261E"/>
                  </a:solidFill>
                  <a:latin typeface="Calibri"/>
                </a:rPr>
                <a:t>Readiness result</a:t>
              </a: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8001000" y="3858768"/>
            <a:ext cx="3639312" cy="2423160"/>
            <a:chOff x="8001000" y="3858768"/>
            <a:chExt cx="3639312" cy="2423160"/>
          </a:xfrm>
        </p:grpSpPr>
        <p:sp>
          <p:nvSpPr>
            <p:cNvPr id="58" name="TextBox 57"/>
            <p:cNvSpPr txBox="1"/>
            <p:nvPr/>
          </p:nvSpPr>
          <p:spPr>
            <a:xfrm>
              <a:off x="8001000" y="3858768"/>
              <a:ext cx="3639312" cy="320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E5B3F"/>
                  </a:solidFill>
                  <a:latin typeface="Calibri"/>
                </a:rPr>
                <a:t>INTERNAL REVIEW</a:t>
              </a:r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8001000" y="4224528"/>
              <a:ext cx="2560320" cy="420624"/>
            </a:xfrm>
            <a:prstGeom prst="roundRect">
              <a:avLst>
                <a:gd name="adj" fmla="val 30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8037575" y="4261104"/>
              <a:ext cx="2487168" cy="347472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submitted</a:t>
              </a:r>
            </a:p>
          </p:txBody>
        </p:sp>
        <p:sp>
          <p:nvSpPr>
            <p:cNvPr id="61" name="Down Arrow 60"/>
            <p:cNvSpPr/>
            <p:nvPr/>
          </p:nvSpPr>
          <p:spPr>
            <a:xfrm>
              <a:off x="8275320" y="4654296"/>
              <a:ext cx="164592" cy="128016"/>
            </a:xfrm>
            <a:prstGeom prst="down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8001000" y="4791456"/>
              <a:ext cx="2560320" cy="420624"/>
            </a:xfrm>
            <a:prstGeom prst="roundRect">
              <a:avLst>
                <a:gd name="adj" fmla="val 30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8037575" y="4828032"/>
              <a:ext cx="2487168" cy="347472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in_review</a:t>
              </a:r>
            </a:p>
          </p:txBody>
        </p:sp>
        <p:sp>
          <p:nvSpPr>
            <p:cNvPr id="64" name="Down Arrow 63"/>
            <p:cNvSpPr/>
            <p:nvPr/>
          </p:nvSpPr>
          <p:spPr>
            <a:xfrm>
              <a:off x="8275320" y="5221224"/>
              <a:ext cx="164592" cy="128016"/>
            </a:xfrm>
            <a:prstGeom prst="down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Rounded Rectangle 64"/>
            <p:cNvSpPr/>
            <p:nvPr/>
          </p:nvSpPr>
          <p:spPr>
            <a:xfrm>
              <a:off x="8001000" y="5358384"/>
              <a:ext cx="2560320" cy="420624"/>
            </a:xfrm>
            <a:prstGeom prst="roundRect">
              <a:avLst>
                <a:gd name="adj" fmla="val 30000"/>
              </a:avLst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8037575" y="5394960"/>
              <a:ext cx="2487168" cy="347472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FFFFFF"/>
                  </a:solidFill>
                  <a:latin typeface="Calibri"/>
                </a:rPr>
                <a:t>internally_approved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001000" y="5916168"/>
              <a:ext cx="3639312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rgbClr val="4F5D56"/>
                  </a:solidFill>
                  <a:latin typeface="Calibri"/>
                </a:rPr>
                <a:t>or changes requested / rejected / withdrawn</a:t>
              </a: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Example readiness run on the deployed app (6 of 8 checks shown) · internal approval is not VVB verification or Verra issuance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AI explains, code calculates, people approve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865376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12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48640" y="1481328"/>
            <a:ext cx="11094415" cy="1371600"/>
            <a:chOff x="548640" y="1481328"/>
            <a:chExt cx="11094415" cy="1371600"/>
          </a:xfrm>
        </p:grpSpPr>
        <p:sp>
          <p:nvSpPr>
            <p:cNvPr id="17" name="Rounded Rectangle 16"/>
            <p:cNvSpPr/>
            <p:nvPr/>
          </p:nvSpPr>
          <p:spPr>
            <a:xfrm>
              <a:off x="548640" y="1481328"/>
              <a:ext cx="11094415" cy="1371600"/>
            </a:xfrm>
            <a:prstGeom prst="roundRect">
              <a:avLst>
                <a:gd name="adj" fmla="val 5000"/>
              </a:avLst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31520" y="1554480"/>
              <a:ext cx="4572000" cy="2743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E5B3F"/>
                  </a:solidFill>
                  <a:latin typeface="Calibri"/>
                </a:rPr>
                <a:t>AUTHORITATIVE · DETERMINISTIC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731520" y="1920240"/>
              <a:ext cx="2442133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1E5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86384" y="1956816"/>
              <a:ext cx="2332405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Project &amp; evidence</a:t>
              </a:r>
            </a:p>
          </p:txBody>
        </p:sp>
        <p:sp>
          <p:nvSpPr>
            <p:cNvPr id="21" name="Right Arrow 20"/>
            <p:cNvSpPr/>
            <p:nvPr/>
          </p:nvSpPr>
          <p:spPr>
            <a:xfrm>
              <a:off x="3219373" y="2167128"/>
              <a:ext cx="22860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493693" y="1920240"/>
              <a:ext cx="2442133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1E5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548557" y="1956816"/>
              <a:ext cx="2332405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Data validation</a:t>
              </a:r>
            </a:p>
          </p:txBody>
        </p:sp>
        <p:sp>
          <p:nvSpPr>
            <p:cNvPr id="24" name="Right Arrow 23"/>
            <p:cNvSpPr/>
            <p:nvPr/>
          </p:nvSpPr>
          <p:spPr>
            <a:xfrm>
              <a:off x="5981547" y="2167128"/>
              <a:ext cx="22860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255867" y="1920240"/>
              <a:ext cx="2442133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1E5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310731" y="1956816"/>
              <a:ext cx="2332405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VM0051 / VM0042 engine</a:t>
              </a:r>
            </a:p>
          </p:txBody>
        </p:sp>
        <p:sp>
          <p:nvSpPr>
            <p:cNvPr id="27" name="Right Arrow 26"/>
            <p:cNvSpPr/>
            <p:nvPr/>
          </p:nvSpPr>
          <p:spPr>
            <a:xfrm>
              <a:off x="8743721" y="2167128"/>
              <a:ext cx="22860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9018041" y="1920240"/>
              <a:ext cx="2442133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1E5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072905" y="1956816"/>
              <a:ext cx="2332405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Results &amp; readiness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548640" y="3081528"/>
            <a:ext cx="11094415" cy="1371600"/>
            <a:chOff x="548640" y="3081528"/>
            <a:chExt cx="11094415" cy="1371600"/>
          </a:xfrm>
        </p:grpSpPr>
        <p:sp>
          <p:nvSpPr>
            <p:cNvPr id="31" name="Rounded Rectangle 30"/>
            <p:cNvSpPr/>
            <p:nvPr/>
          </p:nvSpPr>
          <p:spPr>
            <a:xfrm>
              <a:off x="548640" y="3081528"/>
              <a:ext cx="11094415" cy="1371600"/>
            </a:xfrm>
            <a:prstGeom prst="roundRect">
              <a:avLst>
                <a:gd name="adj" fmla="val 5000"/>
              </a:avLst>
            </a:prstGeom>
            <a:solidFill>
              <a:srgbClr val="EE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31520" y="3154680"/>
              <a:ext cx="4572000" cy="2743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3E5568"/>
                  </a:solidFill>
                  <a:latin typeface="Calibri"/>
                </a:rPr>
                <a:t>ADVISORY · AI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731520" y="3520440"/>
              <a:ext cx="1889699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3E55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86384" y="3557016"/>
              <a:ext cx="1779971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Satellite, ML &amp; crop models</a:t>
              </a:r>
            </a:p>
          </p:txBody>
        </p:sp>
        <p:sp>
          <p:nvSpPr>
            <p:cNvPr id="35" name="Right Arrow 34"/>
            <p:cNvSpPr/>
            <p:nvPr/>
          </p:nvSpPr>
          <p:spPr>
            <a:xfrm>
              <a:off x="2666939" y="3767328"/>
              <a:ext cx="228600" cy="219456"/>
            </a:xfrm>
            <a:prstGeom prst="rightArrow">
              <a:avLst/>
            </a:prstGeom>
            <a:solidFill>
              <a:srgbClr val="3E55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2941259" y="3520440"/>
              <a:ext cx="1889699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3E55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996123" y="3557016"/>
              <a:ext cx="1779971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Bundle-scoped context packet</a:t>
              </a:r>
            </a:p>
          </p:txBody>
        </p:sp>
        <p:sp>
          <p:nvSpPr>
            <p:cNvPr id="38" name="Right Arrow 37"/>
            <p:cNvSpPr/>
            <p:nvPr/>
          </p:nvSpPr>
          <p:spPr>
            <a:xfrm>
              <a:off x="4876678" y="3767328"/>
              <a:ext cx="228600" cy="219456"/>
            </a:xfrm>
            <a:prstGeom prst="rightArrow">
              <a:avLst/>
            </a:prstGeom>
            <a:solidFill>
              <a:srgbClr val="3E55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5150998" y="3520440"/>
              <a:ext cx="1889699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3E55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205862" y="3557016"/>
              <a:ext cx="1779971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LLM provider</a:t>
              </a:r>
            </a:p>
          </p:txBody>
        </p:sp>
        <p:sp>
          <p:nvSpPr>
            <p:cNvPr id="41" name="Right Arrow 40"/>
            <p:cNvSpPr/>
            <p:nvPr/>
          </p:nvSpPr>
          <p:spPr>
            <a:xfrm>
              <a:off x="7086417" y="3767328"/>
              <a:ext cx="228600" cy="219456"/>
            </a:xfrm>
            <a:prstGeom prst="rightArrow">
              <a:avLst/>
            </a:prstGeom>
            <a:solidFill>
              <a:srgbClr val="3E55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7360737" y="3520440"/>
              <a:ext cx="1889699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3E55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415601" y="3557016"/>
              <a:ext cx="1779971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Output validator</a:t>
              </a:r>
            </a:p>
          </p:txBody>
        </p:sp>
        <p:sp>
          <p:nvSpPr>
            <p:cNvPr id="44" name="Right Arrow 43"/>
            <p:cNvSpPr/>
            <p:nvPr/>
          </p:nvSpPr>
          <p:spPr>
            <a:xfrm>
              <a:off x="9296156" y="3767328"/>
              <a:ext cx="228600" cy="219456"/>
            </a:xfrm>
            <a:prstGeom prst="rightArrow">
              <a:avLst/>
            </a:prstGeom>
            <a:solidFill>
              <a:srgbClr val="3E55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570476" y="3520440"/>
              <a:ext cx="1889699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3E55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625340" y="3557016"/>
              <a:ext cx="1779971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Draft explanation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9509760" y="4498848"/>
            <a:ext cx="2130552" cy="822960"/>
            <a:chOff x="9509760" y="4498848"/>
            <a:chExt cx="2130552" cy="822960"/>
          </a:xfrm>
        </p:grpSpPr>
        <p:sp>
          <p:nvSpPr>
            <p:cNvPr id="48" name="Rounded Rectangle 47"/>
            <p:cNvSpPr/>
            <p:nvPr/>
          </p:nvSpPr>
          <p:spPr>
            <a:xfrm>
              <a:off x="9509760" y="4818888"/>
              <a:ext cx="2130552" cy="502920"/>
            </a:xfrm>
            <a:prstGeom prst="roundRect">
              <a:avLst>
                <a:gd name="adj" fmla="val 6000"/>
              </a:avLst>
            </a:prstGeom>
            <a:solidFill>
              <a:srgbClr val="3E55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9555480" y="4855464"/>
              <a:ext cx="2039112" cy="4297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FFFFFF"/>
                  </a:solidFill>
                  <a:latin typeface="Calibri"/>
                </a:rPr>
                <a:t>Human reviewer</a:t>
              </a:r>
            </a:p>
          </p:txBody>
        </p:sp>
        <p:sp>
          <p:nvSpPr>
            <p:cNvPr id="50" name="Down Arrow 49"/>
            <p:cNvSpPr/>
            <p:nvPr/>
          </p:nvSpPr>
          <p:spPr>
            <a:xfrm>
              <a:off x="10469880" y="4498848"/>
              <a:ext cx="201168" cy="292608"/>
            </a:xfrm>
            <a:prstGeom prst="downArrow">
              <a:avLst/>
            </a:prstGeom>
            <a:solidFill>
              <a:srgbClr val="3E55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548640" y="4800600"/>
            <a:ext cx="8823960" cy="1371600"/>
            <a:chOff x="548640" y="4800600"/>
            <a:chExt cx="8823960" cy="1371600"/>
          </a:xfrm>
        </p:grpSpPr>
        <p:pic>
          <p:nvPicPr>
            <p:cNvPr id="52" name="Picture 51" descr="lock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8640" y="4846320"/>
              <a:ext cx="274320" cy="274320"/>
            </a:xfrm>
            <a:prstGeom prst="rect">
              <a:avLst/>
            </a:prstGeom>
          </p:spPr>
        </p:pic>
        <p:sp>
          <p:nvSpPr>
            <p:cNvPr id="53" name="TextBox 52"/>
            <p:cNvSpPr txBox="1"/>
            <p:nvPr/>
          </p:nvSpPr>
          <p:spPr>
            <a:xfrm>
              <a:off x="914400" y="4800600"/>
              <a:ext cx="2514600" cy="13716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700" b="1">
                  <a:solidFill>
                    <a:srgbClr val="1E5B3F"/>
                  </a:solidFill>
                  <a:latin typeface="Calibri"/>
                </a:rPr>
                <a:t>Bounded context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AI only sees the active methodology bundle, evidence and calculation.</a:t>
              </a:r>
            </a:p>
          </p:txBody>
        </p:sp>
        <p:pic>
          <p:nvPicPr>
            <p:cNvPr id="54" name="Picture 53" descr="shield check icon (decorative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20440" y="4846320"/>
              <a:ext cx="274320" cy="274320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3886200" y="4800600"/>
              <a:ext cx="2514600" cy="13716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700" b="1">
                  <a:solidFill>
                    <a:srgbClr val="1E5B3F"/>
                  </a:solidFill>
                  <a:latin typeface="Calibri"/>
                </a:rPr>
                <a:t>Validated output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Citations must exist and numbers must match; “certified” or “approved” claims are rejected.</a:t>
              </a:r>
            </a:p>
          </p:txBody>
        </p:sp>
        <p:pic>
          <p:nvPicPr>
            <p:cNvPr id="56" name="Picture 55" descr="circle check icon (decorative)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92240" y="4846320"/>
              <a:ext cx="274320" cy="274320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6858000" y="4800600"/>
              <a:ext cx="2514600" cy="13716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700" b="1">
                  <a:solidFill>
                    <a:srgbClr val="1E5B3F"/>
                  </a:solidFill>
                  <a:latin typeface="Calibri"/>
                </a:rPr>
                <a:t>Fail closed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One retry, then fail — nothing partial is saved.</a:t>
              </a: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No AI component can change a calculated value, mark a requirement compliant, or create registry credits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How the pieces fit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1371600"/>
            <a:ext cx="1106424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800" b="0">
                <a:solidFill>
                  <a:srgbClr val="4F5D56"/>
                </a:solidFill>
                <a:latin typeface="Calibri"/>
              </a:rPr>
              <a:t>A web app, an API and a background worker sharing one PostgreSQL database.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971800"/>
            <a:ext cx="155448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7261E"/>
                </a:solidFill>
                <a:latin typeface="Calibri"/>
              </a:rPr>
              <a:t>Browser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4F5D56"/>
                </a:solidFill>
                <a:latin typeface="Calibri"/>
              </a:rPr>
              <a:t>field team · leads · reviewers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06040" y="2971800"/>
            <a:ext cx="192024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7261E"/>
                </a:solidFill>
                <a:latin typeface="Calibri"/>
              </a:rPr>
              <a:t>Next.js web app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4F5D56"/>
                </a:solidFill>
                <a:latin typeface="Calibri"/>
              </a:rPr>
              <a:t>pages and forms; proxy adds the session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2971800"/>
            <a:ext cx="2011680" cy="914400"/>
          </a:xfrm>
          <a:prstGeom prst="roundRect">
            <a:avLst>
              <a:gd name="adj" fmla="val 14000"/>
            </a:avLst>
          </a:prstGeom>
          <a:solidFill>
            <a:srgbClr val="1E5B3F"/>
          </a:solidFill>
          <a:ln w="15875">
            <a:solidFill>
              <a:srgbClr val="1E5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FastAPI backend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D7EBDF"/>
                </a:solidFill>
                <a:latin typeface="Calibri"/>
              </a:rPr>
              <a:t>auth · roles · rules · engines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2971800"/>
            <a:ext cx="196596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7261E"/>
                </a:solidFill>
                <a:latin typeface="Calibri"/>
              </a:rPr>
              <a:t>PostgreSQL (Neon)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4F5D56"/>
                </a:solidFill>
                <a:latin typeface="Calibri"/>
              </a:rPr>
              <a:t>records · snapshots · job queue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1783080"/>
            <a:ext cx="196596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7261E"/>
                </a:solidFill>
                <a:latin typeface="Calibri"/>
              </a:rPr>
              <a:t>File storage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4F5D56"/>
                </a:solidFill>
                <a:latin typeface="Calibri"/>
              </a:rPr>
              <a:t>evidence and documents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4709160"/>
            <a:ext cx="2011680" cy="914400"/>
          </a:xfrm>
          <a:prstGeom prst="roundRect">
            <a:avLst>
              <a:gd name="adj" fmla="val 14000"/>
            </a:avLst>
          </a:prstGeom>
          <a:solidFill>
            <a:srgbClr val="1E5B3F"/>
          </a:solidFill>
          <a:ln w="15875">
            <a:solidFill>
              <a:srgbClr val="1E5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Python worker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D7EBDF"/>
                </a:solidFill>
                <a:latin typeface="Calibri"/>
              </a:rPr>
              <a:t>satellite · AI · indexing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21240" y="3931920"/>
            <a:ext cx="1719072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7261E"/>
                </a:solidFill>
                <a:latin typeface="Calibri"/>
              </a:rPr>
              <a:t>Google Earth Engine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4F5D56"/>
                </a:solidFill>
                <a:latin typeface="Calibri"/>
              </a:rPr>
              <a:t>Sentinel-1 radar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21240" y="5074920"/>
            <a:ext cx="1719072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7261E"/>
                </a:solidFill>
                <a:latin typeface="Calibri"/>
              </a:rPr>
              <a:t>Groq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4F5D56"/>
                </a:solidFill>
                <a:latin typeface="Calibri"/>
              </a:rPr>
              <a:t>cited explanations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103120" y="3429000"/>
            <a:ext cx="502920" cy="0"/>
          </a:xfrm>
          <a:prstGeom prst="line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526280" y="3429000"/>
            <a:ext cx="502920" cy="0"/>
          </a:xfrm>
          <a:prstGeom prst="line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040880" y="3429000"/>
            <a:ext cx="548640" cy="0"/>
          </a:xfrm>
          <a:prstGeom prst="line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035040" y="2171700"/>
            <a:ext cx="1554480" cy="800100"/>
          </a:xfrm>
          <a:prstGeom prst="bentConnector3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675120" y="3886200"/>
            <a:ext cx="1325880" cy="822960"/>
          </a:xfrm>
          <a:prstGeom prst="line">
            <a:avLst/>
          </a:prstGeom>
          <a:ln w="19050">
            <a:solidFill>
              <a:srgbClr val="1E5B3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040880" y="4320540"/>
            <a:ext cx="2880360" cy="708660"/>
          </a:xfrm>
          <a:prstGeom prst="bentConnector3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040880" y="5394960"/>
            <a:ext cx="2880360" cy="68580"/>
          </a:xfrm>
          <a:prstGeom prst="bentConnector3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965960" y="3044952"/>
            <a:ext cx="77724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7C8A83"/>
                </a:solidFill>
                <a:latin typeface="Calibri"/>
              </a:rPr>
              <a:t>HTTPS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3044952"/>
            <a:ext cx="77724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7C8A83"/>
                </a:solidFill>
                <a:latin typeface="Calibri"/>
              </a:rPr>
              <a:t>REST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3044952"/>
            <a:ext cx="77724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7C8A83"/>
                </a:solidFill>
                <a:latin typeface="Calibri"/>
              </a:rPr>
              <a:t>SQL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4224528"/>
            <a:ext cx="196596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7C8A83"/>
                </a:solidFill>
                <a:latin typeface="Calibri"/>
              </a:rPr>
              <a:t>claim job · save result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06040" y="3931920"/>
            <a:ext cx="192024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 i="1">
                <a:solidFill>
                  <a:srgbClr val="7C8A83"/>
                </a:solidFill>
                <a:latin typeface="Calibri"/>
              </a:rPr>
              <a:t>hosted on Vercel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3931920"/>
            <a:ext cx="201168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 i="1">
                <a:solidFill>
                  <a:srgbClr val="7C8A83"/>
                </a:solidFill>
                <a:latin typeface="Calibri"/>
              </a:rPr>
              <a:t>Railway (Docker)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5669280"/>
            <a:ext cx="201168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 i="1">
                <a:solidFill>
                  <a:srgbClr val="7C8A83"/>
                </a:solidFill>
                <a:latin typeface="Calibri"/>
              </a:rPr>
              <a:t>Railway (Docker)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4572000"/>
            <a:ext cx="4023360" cy="1188720"/>
          </a:xfrm>
          <a:prstGeom prst="roundRect">
            <a:avLst>
              <a:gd name="adj" fmla="val 14000"/>
            </a:avLst>
          </a:prstGeom>
          <a:solidFill>
            <a:srgbClr val="F5F8F6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>
                <a:solidFill>
                  <a:srgbClr val="17261E"/>
                </a:solidFill>
                <a:latin typeface="Calibri"/>
              </a:rPr>
              <a:t>Why a separate worker?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4F5D56"/>
                </a:solidFill>
                <a:latin typeface="Calibri"/>
              </a:rPr>
              <a:t>Satellite and AI work takes seconds to minutes. The API only queues it; the worker does it and saves the result, so a page never hangs.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Design classes, persistent data and behaviour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435608"/>
            <a:ext cx="512064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E5B3F"/>
                </a:solidFill>
                <a:latin typeface="Calibri"/>
              </a:rPr>
              <a:t>KEY DESIGN CLASSES &amp; MODULES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548640" y="1801368"/>
            <a:ext cx="5093208" cy="3986784"/>
            <a:chOff x="548640" y="1801368"/>
            <a:chExt cx="5093208" cy="3986784"/>
          </a:xfrm>
        </p:grpSpPr>
        <p:sp>
          <p:nvSpPr>
            <p:cNvPr id="18" name="Rounded Rectangle 17"/>
            <p:cNvSpPr/>
            <p:nvPr/>
          </p:nvSpPr>
          <p:spPr>
            <a:xfrm>
              <a:off x="548640" y="1801368"/>
              <a:ext cx="2487168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48640" y="1801368"/>
              <a:ext cx="2487168" cy="54864"/>
            </a:xfrm>
            <a:prstGeom prst="rect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58368" y="1892808"/>
              <a:ext cx="2331720" cy="7772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onsolas"/>
                </a:rPr>
                <a:t>AdaptiveAWDGate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analyze_irrigation_behavior()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extract_phenology()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154680" y="1801368"/>
              <a:ext cx="2487168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154680" y="1801368"/>
              <a:ext cx="2487168" cy="54864"/>
            </a:xfrm>
            <a:prstGeom prst="rect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264408" y="1892808"/>
              <a:ext cx="2331720" cy="7772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onsolas"/>
                </a:rPr>
                <a:t>SpatialDataEngine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extract_clean_timeseries()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Sentinel-1 via Earth Engine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548640" y="2825496"/>
              <a:ext cx="2487168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48640" y="2825496"/>
              <a:ext cx="2487168" cy="54864"/>
            </a:xfrm>
            <a:prstGeom prst="rect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58368" y="2916936"/>
              <a:ext cx="2331720" cy="7772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onsolas"/>
                </a:rPr>
                <a:t>CarbonAssetEngine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calculate_credits()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VM0051 rice AWD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3154680" y="2825496"/>
              <a:ext cx="2487168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154680" y="2825496"/>
              <a:ext cx="2487168" cy="54864"/>
            </a:xfrm>
            <a:prstGeom prst="rect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264408" y="2916936"/>
              <a:ext cx="2331720" cy="7772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onsolas"/>
                </a:rPr>
                <a:t>AlmCarbonEngine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calculate_credits()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VM0042 + VMD0054 leakage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548640" y="3849624"/>
              <a:ext cx="2487168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548640" y="3849624"/>
              <a:ext cx="2487168" cy="54864"/>
            </a:xfrm>
            <a:prstGeom prst="rect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58368" y="3941064"/>
              <a:ext cx="2331720" cy="7772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onsolas"/>
                </a:rPr>
                <a:t>methodology.readiness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build_readiness_checklist()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per-requirement states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3154680" y="3849624"/>
              <a:ext cx="2487168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154680" y="3849624"/>
              <a:ext cx="2487168" cy="54864"/>
            </a:xfrm>
            <a:prstGeom prst="rect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264408" y="3941064"/>
              <a:ext cx="2331720" cy="7772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onsolas"/>
                </a:rPr>
                <a:t>carbon.snapshot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build_snapshot()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calculate_from_snapshot()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548640" y="4873752"/>
              <a:ext cx="2487168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548640" y="4873752"/>
              <a:ext cx="2487168" cy="54864"/>
            </a:xfrm>
            <a:prstGeom prst="rect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58368" y="4965192"/>
              <a:ext cx="2331720" cy="7772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onsolas"/>
                </a:rPr>
                <a:t>WorkerContext · jobs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create_job()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claim_next_job()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3154680" y="4873752"/>
              <a:ext cx="2487168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154680" y="4873752"/>
              <a:ext cx="2487168" cy="54864"/>
            </a:xfrm>
            <a:prstGeom prst="rect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264408" y="4965192"/>
              <a:ext cx="2331720" cy="7772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onsolas"/>
                </a:rPr>
                <a:t>AttachmentStorage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LocalFilesystemStorage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S3Storage (strategy)</a:t>
              </a: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5897880" y="1435608"/>
            <a:ext cx="26517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E5B3F"/>
                </a:solidFill>
                <a:latin typeface="Calibri"/>
              </a:rPr>
              <a:t>PERSISTENT DATA (50+ TABLES)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5897880" y="1783080"/>
            <a:ext cx="2852928" cy="4096512"/>
            <a:chOff x="5897880" y="1783080"/>
            <a:chExt cx="2852928" cy="4096512"/>
          </a:xfrm>
        </p:grpSpPr>
        <p:pic>
          <p:nvPicPr>
            <p:cNvPr id="44" name="Picture 43" descr="database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97880" y="1847088"/>
              <a:ext cx="256032" cy="256032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6236208" y="1783080"/>
              <a:ext cx="2514600" cy="804672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Identity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50" b="0">
                  <a:solidFill>
                    <a:srgbClr val="4F5D56"/>
                  </a:solidFill>
                  <a:latin typeface="Consolas"/>
                </a:rPr>
                <a:t>organizations · users · project_members</a:t>
              </a:r>
            </a:p>
          </p:txBody>
        </p:sp>
        <p:pic>
          <p:nvPicPr>
            <p:cNvPr id="46" name="Picture 45" descr="database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97880" y="2670048"/>
              <a:ext cx="256032" cy="256032"/>
            </a:xfrm>
            <a:prstGeom prst="rect">
              <a:avLst/>
            </a:prstGeom>
          </p:spPr>
        </p:pic>
        <p:sp>
          <p:nvSpPr>
            <p:cNvPr id="47" name="TextBox 46"/>
            <p:cNvSpPr txBox="1"/>
            <p:nvPr/>
          </p:nvSpPr>
          <p:spPr>
            <a:xfrm>
              <a:off x="6236208" y="2606040"/>
              <a:ext cx="2514600" cy="804672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Fields &amp; evidence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50" b="0">
                  <a:solidFill>
                    <a:srgbClr val="4F5D56"/>
                  </a:solidFill>
                  <a:latin typeface="Consolas"/>
                </a:rPr>
                <a:t>fields · crop_seasons · practice_events · attachments</a:t>
              </a:r>
            </a:p>
          </p:txBody>
        </p:sp>
        <p:pic>
          <p:nvPicPr>
            <p:cNvPr id="48" name="Picture 47" descr="database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97880" y="3493008"/>
              <a:ext cx="256032" cy="256032"/>
            </a:xfrm>
            <a:prstGeom prst="rect">
              <a:avLst/>
            </a:prstGeom>
          </p:spPr>
        </p:pic>
        <p:sp>
          <p:nvSpPr>
            <p:cNvPr id="49" name="TextBox 48"/>
            <p:cNvSpPr txBox="1"/>
            <p:nvPr/>
          </p:nvSpPr>
          <p:spPr>
            <a:xfrm>
              <a:off x="6236208" y="3429000"/>
              <a:ext cx="2514600" cy="804672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Methodology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50" b="0">
                  <a:solidFill>
                    <a:srgbClr val="4F5D56"/>
                  </a:solidFill>
                  <a:latin typeface="Consolas"/>
                </a:rPr>
                <a:t>methodology_bundles · methodology_requirements · readiness_determinations</a:t>
              </a:r>
            </a:p>
          </p:txBody>
        </p:sp>
        <p:pic>
          <p:nvPicPr>
            <p:cNvPr id="50" name="Picture 49" descr="database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97880" y="4315968"/>
              <a:ext cx="256032" cy="256032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6236208" y="4251960"/>
              <a:ext cx="2514600" cy="804672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Calculation &amp; review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50" b="0">
                  <a:solidFill>
                    <a:srgbClr val="4F5D56"/>
                  </a:solidFill>
                  <a:latin typeface="Consolas"/>
                </a:rPr>
                <a:t>calculations · review_submissions · findings</a:t>
              </a:r>
            </a:p>
          </p:txBody>
        </p:sp>
        <p:pic>
          <p:nvPicPr>
            <p:cNvPr id="52" name="Picture 51" descr="database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97880" y="5138928"/>
              <a:ext cx="256032" cy="256032"/>
            </a:xfrm>
            <a:prstGeom prst="rect">
              <a:avLst/>
            </a:prstGeom>
          </p:spPr>
        </p:pic>
        <p:sp>
          <p:nvSpPr>
            <p:cNvPr id="53" name="TextBox 52"/>
            <p:cNvSpPr txBox="1"/>
            <p:nvPr/>
          </p:nvSpPr>
          <p:spPr>
            <a:xfrm>
              <a:off x="6236208" y="5074920"/>
              <a:ext cx="2514600" cy="804672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Jobs &amp; AI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50" b="0">
                  <a:solidFill>
                    <a:srgbClr val="4F5D56"/>
                  </a:solidFill>
                  <a:latin typeface="Consolas"/>
                </a:rPr>
                <a:t>background_jobs · workers · ai_records</a:t>
              </a: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8915400" y="1435608"/>
            <a:ext cx="2743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E5B3F"/>
                </a:solidFill>
                <a:latin typeface="Calibri"/>
              </a:rPr>
              <a:t>BEHAVIOUR (STATE MACHINES)</a:t>
            </a:r>
          </a:p>
        </p:txBody>
      </p:sp>
      <p:grpSp>
        <p:nvGrpSpPr>
          <p:cNvPr id="55" name="Group 54"/>
          <p:cNvGrpSpPr/>
          <p:nvPr/>
        </p:nvGrpSpPr>
        <p:grpSpPr>
          <a:xfrm>
            <a:off x="8915400" y="1801368"/>
            <a:ext cx="2743200" cy="3840480"/>
            <a:chOff x="8915400" y="1801368"/>
            <a:chExt cx="2743200" cy="3840480"/>
          </a:xfrm>
        </p:grpSpPr>
        <p:sp>
          <p:nvSpPr>
            <p:cNvPr id="56" name="TextBox 55"/>
            <p:cNvSpPr txBox="1"/>
            <p:nvPr/>
          </p:nvSpPr>
          <p:spPr>
            <a:xfrm>
              <a:off x="8915400" y="1801368"/>
              <a:ext cx="2743200" cy="2743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Calculation version</a:t>
              </a:r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8915400" y="2167128"/>
              <a:ext cx="1234440" cy="384048"/>
            </a:xfrm>
            <a:prstGeom prst="roundRect">
              <a:avLst>
                <a:gd name="adj" fmla="val 40000"/>
              </a:avLst>
            </a:prstGeom>
            <a:solidFill>
              <a:srgbClr val="FBF4E6"/>
            </a:solidFill>
            <a:ln w="12700">
              <a:solidFill>
                <a:srgbClr val="EBCB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933688" y="2203704"/>
              <a:ext cx="1197864" cy="310896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1">
                  <a:solidFill>
                    <a:srgbClr val="A86A12"/>
                  </a:solidFill>
                  <a:latin typeface="Calibri"/>
                </a:rPr>
                <a:t>draft</a:t>
              </a:r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10287000" y="2167128"/>
              <a:ext cx="1371600" cy="384048"/>
            </a:xfrm>
            <a:prstGeom prst="roundRect">
              <a:avLst>
                <a:gd name="adj" fmla="val 40000"/>
              </a:avLst>
            </a:prstGeom>
            <a:solidFill>
              <a:srgbClr val="E8F2EC"/>
            </a:solidFill>
            <a:ln w="12700">
              <a:solidFill>
                <a:srgbClr val="1E5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10305288" y="2203704"/>
              <a:ext cx="1335024" cy="310896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1">
                  <a:solidFill>
                    <a:srgbClr val="1E5B3F"/>
                  </a:solidFill>
                  <a:latin typeface="Calibri"/>
                </a:rPr>
                <a:t>ready_for_review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8915400" y="2578608"/>
              <a:ext cx="2743200" cy="2743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0">
                  <a:solidFill>
                    <a:srgbClr val="4F5D56"/>
                  </a:solidFill>
                  <a:latin typeface="Calibri"/>
                </a:rPr>
                <a:t>decided by blocking readiness items</a:t>
              </a:r>
            </a:p>
          </p:txBody>
        </p:sp>
        <p:sp>
          <p:nvSpPr>
            <p:cNvPr id="62" name="Down Arrow 61"/>
            <p:cNvSpPr/>
            <p:nvPr/>
          </p:nvSpPr>
          <p:spPr>
            <a:xfrm>
              <a:off x="10195560" y="2852928"/>
              <a:ext cx="182880" cy="201168"/>
            </a:xfrm>
            <a:prstGeom prst="downArrow">
              <a:avLst/>
            </a:prstGeom>
            <a:solidFill>
              <a:srgbClr val="9AA7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Rounded Rectangle 62"/>
            <p:cNvSpPr/>
            <p:nvPr/>
          </p:nvSpPr>
          <p:spPr>
            <a:xfrm>
              <a:off x="9464040" y="3108960"/>
              <a:ext cx="1645920" cy="384048"/>
            </a:xfrm>
            <a:prstGeom prst="roundRect">
              <a:avLst>
                <a:gd name="adj" fmla="val 40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9482328" y="3145536"/>
              <a:ext cx="1609344" cy="310896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1">
                  <a:solidFill>
                    <a:srgbClr val="4F5D56"/>
                  </a:solidFill>
                  <a:latin typeface="Calibri"/>
                </a:rPr>
                <a:t>superseded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8915400" y="3511296"/>
              <a:ext cx="2743200" cy="2743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0">
                  <a:solidFill>
                    <a:srgbClr val="4F5D56"/>
                  </a:solidFill>
                  <a:latin typeface="Calibri"/>
                </a:rPr>
                <a:t>new evidence → new version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8915400" y="3995928"/>
              <a:ext cx="2743200" cy="2743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Background job</a:t>
              </a:r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8915400" y="4361688"/>
              <a:ext cx="841248" cy="384048"/>
            </a:xfrm>
            <a:prstGeom prst="roundRect">
              <a:avLst>
                <a:gd name="adj" fmla="val 40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8924544" y="4398264"/>
              <a:ext cx="822960" cy="310896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alibri"/>
                </a:rPr>
                <a:t>pending</a:t>
              </a:r>
            </a:p>
          </p:txBody>
        </p:sp>
        <p:sp>
          <p:nvSpPr>
            <p:cNvPr id="69" name="Rounded Rectangle 68"/>
            <p:cNvSpPr/>
            <p:nvPr/>
          </p:nvSpPr>
          <p:spPr>
            <a:xfrm>
              <a:off x="9848088" y="4361688"/>
              <a:ext cx="841248" cy="384048"/>
            </a:xfrm>
            <a:prstGeom prst="roundRect">
              <a:avLst>
                <a:gd name="adj" fmla="val 40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9857232" y="4398264"/>
              <a:ext cx="822960" cy="310896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alibri"/>
                </a:rPr>
                <a:t>running</a:t>
              </a:r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10780776" y="4361688"/>
              <a:ext cx="841248" cy="384048"/>
            </a:xfrm>
            <a:prstGeom prst="roundRect">
              <a:avLst>
                <a:gd name="adj" fmla="val 40000"/>
              </a:avLst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0789919" y="4398264"/>
              <a:ext cx="822960" cy="310896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FFFFFF"/>
                  </a:solidFill>
                  <a:latin typeface="Calibri"/>
                </a:rPr>
                <a:t>done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8915400" y="4818888"/>
              <a:ext cx="2743200" cy="8229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150" b="0">
                  <a:solidFill>
                    <a:srgbClr val="4F5D56"/>
                  </a:solidFill>
                  <a:latin typeface="Calibri"/>
                </a:rPr>
                <a:t>or error (retry / invalid) · cancel_requested → cancelled · heartbeat-monitored workers</a:t>
              </a:r>
            </a:p>
          </p:txBody>
        </p:sp>
      </p:grpSp>
      <p:sp>
        <p:nvSpPr>
          <p:cNvPr id="74" name="TextBox 73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Names as in the source code (src/, backend/worker.py) · review states shown on the readiness slide · full ER model in the report (§4)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Interface design: each action shows its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16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48640" y="1481328"/>
            <a:ext cx="3566160" cy="4526280"/>
            <a:chOff x="548640" y="1481328"/>
            <a:chExt cx="3566160" cy="4526280"/>
          </a:xfrm>
        </p:grpSpPr>
        <p:sp>
          <p:nvSpPr>
            <p:cNvPr id="17" name="Rounded Rectangle 16"/>
            <p:cNvSpPr/>
            <p:nvPr/>
          </p:nvSpPr>
          <p:spPr>
            <a:xfrm>
              <a:off x="548640" y="1481328"/>
              <a:ext cx="3566160" cy="45262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8" name="Picture 17" descr="map pinned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3232" y="1627632"/>
              <a:ext cx="274320" cy="274320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1051560" y="1591056"/>
              <a:ext cx="292608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Register a field</a:t>
              </a:r>
            </a:p>
          </p:txBody>
        </p:sp>
        <p:pic>
          <p:nvPicPr>
            <p:cNvPr id="20" name="Picture 19" descr="Screenshot: Register a field screen of the Terra-Audit web app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6537" y="2029968"/>
              <a:ext cx="3290365" cy="2103120"/>
            </a:xfrm>
            <a:prstGeom prst="rect">
              <a:avLst/>
            </a:prstGeom>
            <a:ln w="12700">
              <a:solidFill>
                <a:srgbClr val="D6E3DA"/>
              </a:solidFill>
            </a:ln>
          </p:spPr>
        </p:pic>
        <p:sp>
          <p:nvSpPr>
            <p:cNvPr id="21" name="TextBox 20"/>
            <p:cNvSpPr txBox="1"/>
            <p:nvPr/>
          </p:nvSpPr>
          <p:spPr>
            <a:xfrm>
              <a:off x="713232" y="4270248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100" b="1">
                  <a:solidFill>
                    <a:srgbClr val="1E5B3F"/>
                  </a:solidFill>
                  <a:latin typeface="Calibri"/>
                </a:rPr>
                <a:t>OBJECTS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7261E"/>
                  </a:solidFill>
                  <a:latin typeface="Calibri"/>
                </a:rPr>
                <a:t>map canvas · input-mode tabs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13232" y="4818888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100" b="1">
                  <a:solidFill>
                    <a:srgbClr val="1E5B3F"/>
                  </a:solidFill>
                  <a:latin typeface="Calibri"/>
                </a:rPr>
                <a:t>ACTION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7261E"/>
                  </a:solidFill>
                  <a:latin typeface="Calibri"/>
                </a:rPr>
                <a:t>draw / upload GeoJSON-KML / paste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13232" y="5367528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100" b="1">
                  <a:solidFill>
                    <a:srgbClr val="1E5B3F"/>
                  </a:solidFill>
                  <a:latin typeface="Calibri"/>
                </a:rPr>
                <a:t>STATE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7261E"/>
                  </a:solidFill>
                  <a:latin typeface="Calibri"/>
                </a:rPr>
                <a:t>boundary → confirm details → field saved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297679" y="1481328"/>
            <a:ext cx="3566160" cy="4526280"/>
            <a:chOff x="4297679" y="1481328"/>
            <a:chExt cx="3566160" cy="4526280"/>
          </a:xfrm>
        </p:grpSpPr>
        <p:sp>
          <p:nvSpPr>
            <p:cNvPr id="25" name="Rounded Rectangle 24"/>
            <p:cNvSpPr/>
            <p:nvPr/>
          </p:nvSpPr>
          <p:spPr>
            <a:xfrm>
              <a:off x="4297679" y="1481328"/>
              <a:ext cx="3566160" cy="45262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6" name="Picture 25" descr="satellite icon (decorative)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62271" y="1627632"/>
              <a:ext cx="274320" cy="27432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4800599" y="1591056"/>
              <a:ext cx="292608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Signal analytics</a:t>
              </a:r>
            </a:p>
          </p:txBody>
        </p:sp>
        <p:pic>
          <p:nvPicPr>
            <p:cNvPr id="28" name="Picture 27" descr="Screenshot: Signal analytics screen of the Terra-Audit web app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435021" y="2029968"/>
              <a:ext cx="3291476" cy="2103120"/>
            </a:xfrm>
            <a:prstGeom prst="rect">
              <a:avLst/>
            </a:prstGeom>
            <a:ln w="12700">
              <a:solidFill>
                <a:srgbClr val="D6E3DA"/>
              </a:solidFill>
            </a:ln>
          </p:spPr>
        </p:pic>
        <p:sp>
          <p:nvSpPr>
            <p:cNvPr id="29" name="TextBox 28"/>
            <p:cNvSpPr txBox="1"/>
            <p:nvPr/>
          </p:nvSpPr>
          <p:spPr>
            <a:xfrm>
              <a:off x="4462271" y="4270248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100" b="1">
                  <a:solidFill>
                    <a:srgbClr val="1E5B3F"/>
                  </a:solidFill>
                  <a:latin typeface="Calibri"/>
                </a:rPr>
                <a:t>OBJECTS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7261E"/>
                  </a:solidFill>
                  <a:latin typeface="Calibri"/>
                </a:rPr>
                <a:t>analysis window · detector · Run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462271" y="4818888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100" b="1">
                  <a:solidFill>
                    <a:srgbClr val="1E5B3F"/>
                  </a:solidFill>
                  <a:latin typeface="Calibri"/>
                </a:rPr>
                <a:t>EVENT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7261E"/>
                  </a:solidFill>
                  <a:latin typeface="Calibri"/>
                </a:rPr>
                <a:t>close &lt; open → inline error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462271" y="5367528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100" b="1">
                  <a:solidFill>
                    <a:srgbClr val="1E5B3F"/>
                  </a:solidFill>
                  <a:latin typeface="Calibri"/>
                </a:rPr>
                <a:t>STATE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7261E"/>
                  </a:solidFill>
                  <a:latin typeface="Calibri"/>
                </a:rPr>
                <a:t>job pending → results + audit trail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8046719" y="1481328"/>
            <a:ext cx="3566160" cy="4526280"/>
            <a:chOff x="8046719" y="1481328"/>
            <a:chExt cx="3566160" cy="4526280"/>
          </a:xfrm>
        </p:grpSpPr>
        <p:sp>
          <p:nvSpPr>
            <p:cNvPr id="33" name="Rounded Rectangle 32"/>
            <p:cNvSpPr/>
            <p:nvPr/>
          </p:nvSpPr>
          <p:spPr>
            <a:xfrm>
              <a:off x="8046719" y="1481328"/>
              <a:ext cx="3566160" cy="45262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4" name="Picture 33" descr="calculator icon (decorative)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211311" y="1627632"/>
              <a:ext cx="274320" cy="274320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8549640" y="1591056"/>
              <a:ext cx="292608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Calculation &amp; readiness</a:t>
              </a:r>
            </a:p>
          </p:txBody>
        </p:sp>
        <p:pic>
          <p:nvPicPr>
            <p:cNvPr id="36" name="Picture 35" descr="Screenshot: Calculation &amp; readiness screen of the Terra-Audit web app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184417" y="2029968"/>
              <a:ext cx="3290764" cy="2103120"/>
            </a:xfrm>
            <a:prstGeom prst="rect">
              <a:avLst/>
            </a:prstGeom>
            <a:ln w="12700">
              <a:solidFill>
                <a:srgbClr val="D6E3DA"/>
              </a:solidFill>
            </a:ln>
          </p:spPr>
        </p:pic>
        <p:sp>
          <p:nvSpPr>
            <p:cNvPr id="37" name="TextBox 36"/>
            <p:cNvSpPr txBox="1"/>
            <p:nvPr/>
          </p:nvSpPr>
          <p:spPr>
            <a:xfrm>
              <a:off x="8211311" y="4270248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100" b="1">
                  <a:solidFill>
                    <a:srgbClr val="1E5B3F"/>
                  </a:solidFill>
                  <a:latin typeface="Calibri"/>
                </a:rPr>
                <a:t>OBJECTS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7261E"/>
                  </a:solidFill>
                  <a:latin typeface="Calibri"/>
                </a:rPr>
                <a:t>seasons · period · Check readiness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211311" y="4818888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100" b="1">
                  <a:solidFill>
                    <a:srgbClr val="1E5B3F"/>
                  </a:solidFill>
                  <a:latin typeface="Calibri"/>
                </a:rPr>
                <a:t>EVENT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7261E"/>
                  </a:solidFill>
                  <a:latin typeface="Calibri"/>
                </a:rPr>
                <a:t>Check readiness → checklist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211311" y="5367528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100" b="1">
                  <a:solidFill>
                    <a:srgbClr val="1E5B3F"/>
                  </a:solidFill>
                  <a:latin typeface="Calibri"/>
                </a:rPr>
                <a:t>STATE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7261E"/>
                  </a:solidFill>
                  <a:latin typeface="Calibri"/>
                </a:rPr>
                <a:t>Commit → draft / ready_for_review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548640" y="6053328"/>
            <a:ext cx="11094415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4F5D56"/>
                </a:solidFill>
                <a:latin typeface="Calibri"/>
              </a:rPr>
              <a:t>Shared labelled controls · inline validation · text + colour status cues · DD-MM-YYYY dates · keyboard-aware controls · responsive layouts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Code: the AWD rule engine produces an auditable trail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CODE &amp; TESTS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9584" y="548640"/>
            <a:ext cx="932688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17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1481328"/>
          <a:ext cx="4709160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371600"/>
                <a:gridCol w="1051560"/>
                <a:gridCol w="1051560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marL="73152" marR="73152" marT="18288" marB="18288" anchor="ctr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VV z-score</a:t>
                      </a:r>
                    </a:p>
                  </a:txBody>
                  <a:tcPr marL="73152" marR="73152" marT="18288" marB="18288" anchor="ctr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Flooded</a:t>
                      </a:r>
                    </a:p>
                  </a:txBody>
                  <a:tcPr marL="73152" marR="73152" marT="18288" marB="18288" anchor="ctr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Drydown</a:t>
                      </a:r>
                    </a:p>
                  </a:txBody>
                  <a:tcPr marL="73152" marR="73152" marT="18288" marB="18288" anchor="ctr">
                    <a:solidFill>
                      <a:srgbClr val="1E5B3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09 Jan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1.023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21 Jan</a:t>
                      </a: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0.441</a:t>
                      </a: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02 Feb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-0.140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14 Feb</a:t>
                      </a: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-0.942</a:t>
                      </a: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26 Feb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-1.440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10 Mar</a:t>
                      </a:r>
                    </a:p>
                  </a:txBody>
                  <a:tcPr marL="73152" marR="73152" marT="18288" marB="18288" anchor="ctr"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-0.111</a:t>
                      </a:r>
                    </a:p>
                  </a:txBody>
                  <a:tcPr marL="73152" marR="73152" marT="18288" marB="18288" anchor="ctr"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86A12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L="73152" marR="73152" marT="18288" marB="18288" anchor="ctr">
                    <a:solidFill>
                      <a:srgbClr val="FCEFD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22 Mar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0.390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03 Apr</a:t>
                      </a: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-0.606</a:t>
                      </a: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15 Apr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-1.326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27 Apr</a:t>
                      </a:r>
                    </a:p>
                  </a:txBody>
                  <a:tcPr marL="73152" marR="73152" marT="18288" marB="18288" anchor="ctr"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-0.083</a:t>
                      </a:r>
                    </a:p>
                  </a:txBody>
                  <a:tcPr marL="73152" marR="73152" marT="18288" marB="18288" anchor="ctr"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86A12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L="73152" marR="73152" marT="18288" marB="18288" anchor="ctr">
                    <a:solidFill>
                      <a:srgbClr val="FCEFD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09 May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0.857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21 May</a:t>
                      </a: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1.936</a:t>
                      </a: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623560" y="1481328"/>
            <a:ext cx="6016752" cy="4572000"/>
          </a:xfrm>
          <a:prstGeom prst="roundRect">
            <a:avLst>
              <a:gd name="adj" fmla="val 3000"/>
            </a:avLst>
          </a:prstGeom>
          <a:solidFill>
            <a:srgbClr val="132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1481328"/>
            <a:ext cx="6016752" cy="365760"/>
          </a:xfrm>
          <a:prstGeom prst="rect">
            <a:avLst/>
          </a:prstGeom>
          <a:solidFill>
            <a:srgbClr val="1C3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9864" y="1609344"/>
            <a:ext cx="109728" cy="109728"/>
          </a:xfrm>
          <a:prstGeom prst="ellipse">
            <a:avLst/>
          </a:prstGeom>
          <a:solidFill>
            <a:srgbClr val="E06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52744" y="1609344"/>
            <a:ext cx="109728" cy="109728"/>
          </a:xfrm>
          <a:prstGeom prst="ellipse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35624" y="1609344"/>
            <a:ext cx="109728" cy="109728"/>
          </a:xfrm>
          <a:prstGeom prst="ellipse">
            <a:avLst/>
          </a:prstGeom>
          <a:solidFill>
            <a:srgbClr val="5F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545336"/>
            <a:ext cx="510235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9FC2AE"/>
                </a:solidFill>
                <a:latin typeface="Consolas"/>
              </a:rPr>
              <a:t>src/signals/threshold_gate.py · AdaptiveAWDGate (excerpt)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1984248"/>
            <a:ext cx="5650992" cy="39776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7FA58F"/>
                </a:solidFill>
                <a:latin typeface="Consolas"/>
              </a:rPr>
              <a:t># Field-level statistical baseline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4EEE8"/>
                </a:solidFill>
                <a:latin typeface="Consolas"/>
              </a:rPr>
              <a:t>vv_mean = df["vv_smoothed"].mean()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4EEE8"/>
                </a:solidFill>
                <a:latin typeface="Consolas"/>
              </a:rPr>
              <a:t>vv_std = df["vv_smoothed"].std()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4EEE8"/>
                </a:solidFill>
                <a:latin typeface="Consolas"/>
              </a:rPr>
              <a:t>if vv_std == 0 or np.isnan(vv_std):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4EEE8"/>
                </a:solidFill>
                <a:latin typeface="Consolas"/>
              </a:rPr>
              <a:t>    vv_std = 0.1  # Prevent division by zero on flat test data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4EEE8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7FA58F"/>
                </a:solidFill>
                <a:latin typeface="Consolas"/>
              </a:rPr>
              <a:t># Z-score flood state detection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4EEE8"/>
                </a:solidFill>
                <a:latin typeface="Consolas"/>
              </a:rPr>
              <a:t>df["vv_zscore"] = (df["vv_smoothed"] - vv_mean) / vv_std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2C46D"/>
                </a:solidFill>
                <a:latin typeface="Consolas"/>
              </a:rPr>
              <a:t>df["is_flooded"] = np.where(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2C46D"/>
                </a:solidFill>
                <a:latin typeface="Consolas"/>
              </a:rPr>
              <a:t>    df["vv_zscore"] &lt; self.z_flood_threshold, 1, 0)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4EEE8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7FA58F"/>
                </a:solidFill>
                <a:latin typeface="Consolas"/>
              </a:rPr>
              <a:t># Drydown event = sharp positive jump following a flooded state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4EEE8"/>
                </a:solidFill>
                <a:latin typeface="Consolas"/>
              </a:rPr>
              <a:t>df["vv_diff"] = df["vv_smoothed"].diff().fillna(0)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4EEE8"/>
                </a:solidFill>
                <a:latin typeface="Consolas"/>
              </a:rPr>
              <a:t>threshold_jump = self.dynamic_delta_sigma * vv_std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2C46D"/>
                </a:solidFill>
                <a:latin typeface="Consolas"/>
              </a:rPr>
              <a:t>df["drydown_event"] = np.where(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2C46D"/>
                </a:solidFill>
                <a:latin typeface="Consolas"/>
              </a:rPr>
              <a:t>    (df["vv_diff"] &gt; threshold_jump)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2C46D"/>
                </a:solidFill>
                <a:latin typeface="Consolas"/>
              </a:rPr>
              <a:t>    &amp; (df["is_flooded"].shift(1) == 1), 1, 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Left: the columns this code produces, from the live run (audit-trail table in the app) · z_flood_threshold = −0.8, dynamic_delta_sigma = 1.2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Code: the credit engine refuses to guess, and a test proves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CODE &amp; TESTS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9584" y="548640"/>
            <a:ext cx="932688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18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481328"/>
            <a:ext cx="6080760" cy="4572000"/>
          </a:xfrm>
          <a:prstGeom prst="roundRect">
            <a:avLst>
              <a:gd name="adj" fmla="val 3000"/>
            </a:avLst>
          </a:prstGeom>
          <a:solidFill>
            <a:srgbClr val="132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1481328"/>
            <a:ext cx="6080760" cy="365760"/>
          </a:xfrm>
          <a:prstGeom prst="rect">
            <a:avLst/>
          </a:prstGeom>
          <a:solidFill>
            <a:srgbClr val="1C3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4944" y="1609344"/>
            <a:ext cx="109728" cy="109728"/>
          </a:xfrm>
          <a:prstGeom prst="ellipse">
            <a:avLst/>
          </a:prstGeom>
          <a:solidFill>
            <a:srgbClr val="E06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7824" y="1609344"/>
            <a:ext cx="109728" cy="109728"/>
          </a:xfrm>
          <a:prstGeom prst="ellipse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1609344"/>
            <a:ext cx="109728" cy="109728"/>
          </a:xfrm>
          <a:prstGeom prst="ellipse">
            <a:avLst/>
          </a:prstGeom>
          <a:solidFill>
            <a:srgbClr val="5F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1545336"/>
            <a:ext cx="51663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9FC2AE"/>
                </a:solidFill>
                <a:latin typeface="Consolas"/>
              </a:rPr>
              <a:t>src/carbon/rice.py · calculate_credits() (condensed)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1984248"/>
            <a:ext cx="5715000" cy="39776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7FA58F"/>
                </a:solidFill>
                <a:latin typeface="Consolas"/>
              </a:rPr>
              <a:t># Baseline vs project CH4 (Eq. 6/8)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4EEE8"/>
                </a:solidFill>
                <a:latin typeface="Consolas"/>
              </a:rPr>
              <a:t>e_baseline = self.ef_c * 1.0 * sc_p * sc_o_bsl * days * area_ha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4EEE8"/>
                </a:solidFill>
                <a:latin typeface="Consolas"/>
              </a:rPr>
              <a:t>e_project  = self.ef_c * sf_w_project * sc_p * sc_o_wp * days * area_ha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4EEE8"/>
                </a:solidFill>
                <a:latin typeface="Consolas"/>
              </a:rPr>
              <a:t>delta_e_co2e = (e_baseline - e_project) * self.gwp_ch4 / 1000.0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4EEE8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7FA58F"/>
                </a:solidFill>
                <a:latin typeface="Consolas"/>
              </a:rPr>
              <a:t># QA3 project-size gate (§8.6.3)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F2C46D"/>
                </a:solidFill>
                <a:latin typeface="Consolas"/>
              </a:rPr>
              <a:t>if delta_e_co2e &gt; self.QA3_PROJECT_SIZE_GATE_TCO2E_YR: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F2C46D"/>
                </a:solidFill>
                <a:latin typeface="Consolas"/>
              </a:rPr>
              <a:t>    return {"qa3_pathway_valid": False,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F2C46D"/>
                </a:solidFill>
                <a:latin typeface="Consolas"/>
              </a:rPr>
              <a:t>            "final_issuance": None, ...}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4EEE8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7FA58F"/>
                </a:solidFill>
                <a:latin typeface="Consolas"/>
              </a:rPr>
              <a:t># 15% uncertainty, N2O penalty (Eq. 25), net (Eq. 29)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4EEE8"/>
                </a:solidFill>
                <a:latin typeface="Consolas"/>
              </a:rPr>
              <a:t>ch4_after_unc = delta_e_co2e * (1 - self.UNC_QA3_DEFAULT)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4EEE8"/>
                </a:solidFill>
                <a:latin typeface="Consolas"/>
              </a:rPr>
              <a:t>pe_n2o = (self._n2o_irrigation_penalty(q_n, area_ha)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4EEE8"/>
                </a:solidFill>
                <a:latin typeface="Consolas"/>
              </a:rPr>
              <a:t>          if awd_events &gt; 0 else 0.0)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4EEE8"/>
                </a:solidFill>
                <a:latin typeface="Consolas"/>
              </a:rPr>
              <a:t>final_issuance = max(0.0, ch4_after_unc - pe_n2o)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1481328"/>
            <a:ext cx="4782312" cy="2514600"/>
          </a:xfrm>
          <a:prstGeom prst="roundRect">
            <a:avLst>
              <a:gd name="adj" fmla="val 3000"/>
            </a:avLst>
          </a:prstGeom>
          <a:solidFill>
            <a:srgbClr val="F7F9F8"/>
          </a:solidFill>
          <a:ln w="12700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0" y="1481328"/>
            <a:ext cx="4782312" cy="365760"/>
          </a:xfrm>
          <a:prstGeom prst="rect">
            <a:avLst/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04304" y="1609344"/>
            <a:ext cx="109728" cy="109728"/>
          </a:xfrm>
          <a:prstGeom prst="ellipse">
            <a:avLst/>
          </a:prstGeom>
          <a:solidFill>
            <a:srgbClr val="E06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87184" y="1609344"/>
            <a:ext cx="109728" cy="109728"/>
          </a:xfrm>
          <a:prstGeom prst="ellipse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70064" y="1609344"/>
            <a:ext cx="109728" cy="109728"/>
          </a:xfrm>
          <a:prstGeom prst="ellipse">
            <a:avLst/>
          </a:prstGeom>
          <a:solidFill>
            <a:srgbClr val="5F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1545336"/>
            <a:ext cx="386791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4F5D56"/>
                </a:solidFill>
                <a:latin typeface="Consolas"/>
              </a:rPr>
              <a:t>tests/test_carbon_calculator.py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1984248"/>
            <a:ext cx="4416552" cy="1920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7261E"/>
                </a:solidFill>
                <a:latin typeface="Consolas"/>
              </a:rPr>
              <a:t>def test_qa3_project_size_gate_blocks_oversized_projects(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7261E"/>
                </a:solidFill>
                <a:latin typeface="Consolas"/>
              </a:rPr>
              <a:t>        engine):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7261E"/>
                </a:solidFill>
                <a:latin typeface="Consolas"/>
              </a:rPr>
              <a:t>    r = engine.calculate_credits(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7261E"/>
                </a:solidFill>
                <a:latin typeface="Consolas"/>
              </a:rPr>
              <a:t>        awd_events=2, season_length_days=120,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7261E"/>
                </a:solidFill>
                <a:latin typeface="Consolas"/>
              </a:rPr>
              <a:t>        area_ha=500_000.0, q_n_kg_per_ha=0.0)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8A4B00"/>
                </a:solidFill>
                <a:latin typeface="Consolas"/>
              </a:rPr>
              <a:t>    assert r["qa3_pathway_valid"] is False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8A4B00"/>
                </a:solidFill>
                <a:latin typeface="Consolas"/>
              </a:rPr>
              <a:t>    assert r["final_issuance"] is None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224528"/>
            <a:ext cx="4782312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4F5D56"/>
                </a:solidFill>
                <a:latin typeface="Calibri"/>
              </a:rPr>
              <a:t>•  Every factor is a named constant cited to its VM0051 / IPCC table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4F5D56"/>
                </a:solidFill>
                <a:latin typeface="Calibri"/>
              </a:rPr>
              <a:t>•  All intermediate values are returned for the audit trail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4F5D56"/>
                </a:solidFill>
                <a:latin typeface="Calibri"/>
              </a:rPr>
              <a:t>•  Snapshot calculation never re-reads the live database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Engine code condensed for the slide — full function in src/carbon/rice.py · test passes in the 184-test backend suite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184 backend tests, from equations to tenant isolation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CODE &amp; TESTS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9584" y="548640"/>
            <a:ext cx="932688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19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48640" y="1481328"/>
            <a:ext cx="2066543" cy="1554480"/>
            <a:chOff x="548640" y="1481328"/>
            <a:chExt cx="2066543" cy="1554480"/>
          </a:xfrm>
        </p:grpSpPr>
        <p:sp>
          <p:nvSpPr>
            <p:cNvPr id="17" name="Rounded Rectangle 16"/>
            <p:cNvSpPr/>
            <p:nvPr/>
          </p:nvSpPr>
          <p:spPr>
            <a:xfrm>
              <a:off x="548640" y="1481328"/>
              <a:ext cx="2066543" cy="1554480"/>
            </a:xfrm>
            <a:prstGeom prst="roundRect">
              <a:avLst>
                <a:gd name="adj" fmla="val 6000"/>
              </a:avLst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48640" y="1572768"/>
              <a:ext cx="2066543" cy="6858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3600" b="1">
                  <a:solidFill>
                    <a:srgbClr val="FFFFFF"/>
                  </a:solidFill>
                  <a:latin typeface="Calibri"/>
                </a:rPr>
                <a:t>184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48640" y="2286000"/>
              <a:ext cx="2066543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backend tests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48640" y="2624328"/>
              <a:ext cx="2066543" cy="320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rgbClr val="D7EBDF"/>
                  </a:solidFill>
                  <a:latin typeface="Calibri"/>
                </a:rPr>
                <a:t>0 failed · pytest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798064" y="1481328"/>
            <a:ext cx="2066543" cy="1554480"/>
            <a:chOff x="2798064" y="1481328"/>
            <a:chExt cx="2066543" cy="1554480"/>
          </a:xfrm>
        </p:grpSpPr>
        <p:sp>
          <p:nvSpPr>
            <p:cNvPr id="22" name="Rounded Rectangle 21"/>
            <p:cNvSpPr/>
            <p:nvPr/>
          </p:nvSpPr>
          <p:spPr>
            <a:xfrm>
              <a:off x="2798064" y="1481328"/>
              <a:ext cx="2066543" cy="15544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798064" y="1572768"/>
              <a:ext cx="2066543" cy="6858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3600" b="1">
                  <a:solidFill>
                    <a:srgbClr val="1E5B3F"/>
                  </a:solidFill>
                  <a:latin typeface="Calibri"/>
                </a:rPr>
                <a:t>4 / 4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798064" y="2286000"/>
              <a:ext cx="2066543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frontend tests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798064" y="2624328"/>
              <a:ext cx="2066543" cy="320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rgbClr val="4F5D56"/>
                  </a:solidFill>
                  <a:latin typeface="Calibri"/>
                </a:rPr>
                <a:t>npm test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5047488" y="1481328"/>
            <a:ext cx="2066543" cy="1554480"/>
            <a:chOff x="5047488" y="1481328"/>
            <a:chExt cx="2066543" cy="1554480"/>
          </a:xfrm>
        </p:grpSpPr>
        <p:sp>
          <p:nvSpPr>
            <p:cNvPr id="27" name="Rounded Rectangle 26"/>
            <p:cNvSpPr/>
            <p:nvPr/>
          </p:nvSpPr>
          <p:spPr>
            <a:xfrm>
              <a:off x="5047488" y="1481328"/>
              <a:ext cx="2066543" cy="15544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047488" y="1572768"/>
              <a:ext cx="2066543" cy="6858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3600" b="1">
                  <a:solidFill>
                    <a:srgbClr val="1E5B3F"/>
                  </a:solidFill>
                  <a:latin typeface="Calibri"/>
                </a:rPr>
                <a:t>✓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047488" y="2286000"/>
              <a:ext cx="2066543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production build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047488" y="2624328"/>
              <a:ext cx="2066543" cy="320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rgbClr val="4F5D56"/>
                  </a:solidFill>
                  <a:latin typeface="Calibri"/>
                </a:rPr>
                <a:t>next build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7296912" y="1481328"/>
            <a:ext cx="2066543" cy="1554480"/>
            <a:chOff x="7296912" y="1481328"/>
            <a:chExt cx="2066543" cy="1554480"/>
          </a:xfrm>
        </p:grpSpPr>
        <p:sp>
          <p:nvSpPr>
            <p:cNvPr id="32" name="Rounded Rectangle 31"/>
            <p:cNvSpPr/>
            <p:nvPr/>
          </p:nvSpPr>
          <p:spPr>
            <a:xfrm>
              <a:off x="7296912" y="1481328"/>
              <a:ext cx="2066543" cy="15544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296912" y="1572768"/>
              <a:ext cx="2066543" cy="6858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3600" b="1">
                  <a:solidFill>
                    <a:srgbClr val="1E5B3F"/>
                  </a:solidFill>
                  <a:latin typeface="Calibri"/>
                </a:rPr>
                <a:t>✓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296912" y="2286000"/>
              <a:ext cx="2066543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type check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296912" y="2624328"/>
              <a:ext cx="2066543" cy="320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rgbClr val="4F5D56"/>
                  </a:solidFill>
                  <a:latin typeface="Calibri"/>
                </a:rPr>
                <a:t>TypeScript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9546336" y="1481328"/>
            <a:ext cx="2066543" cy="1554480"/>
            <a:chOff x="9546336" y="1481328"/>
            <a:chExt cx="2066543" cy="1554480"/>
          </a:xfrm>
        </p:grpSpPr>
        <p:sp>
          <p:nvSpPr>
            <p:cNvPr id="37" name="Rounded Rectangle 36"/>
            <p:cNvSpPr/>
            <p:nvPr/>
          </p:nvSpPr>
          <p:spPr>
            <a:xfrm>
              <a:off x="9546336" y="1481328"/>
              <a:ext cx="2066543" cy="15544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546336" y="1572768"/>
              <a:ext cx="2066543" cy="6858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3600" b="1">
                  <a:solidFill>
                    <a:srgbClr val="1E5B3F"/>
                  </a:solidFill>
                  <a:latin typeface="Calibri"/>
                </a:rPr>
                <a:t>0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546336" y="2286000"/>
              <a:ext cx="2066543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lint errors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546336" y="2624328"/>
              <a:ext cx="2066543" cy="320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rgbClr val="4F5D56"/>
                  </a:solidFill>
                  <a:latin typeface="Calibri"/>
                </a:rPr>
                <a:t>ESLint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548640" y="3355848"/>
            <a:ext cx="11000231" cy="1097280"/>
            <a:chOff x="548640" y="3355848"/>
            <a:chExt cx="11000231" cy="1097280"/>
          </a:xfrm>
        </p:grpSpPr>
        <p:sp>
          <p:nvSpPr>
            <p:cNvPr id="42" name="Rounded Rectangle 41"/>
            <p:cNvSpPr/>
            <p:nvPr/>
          </p:nvSpPr>
          <p:spPr>
            <a:xfrm>
              <a:off x="548640" y="3355848"/>
              <a:ext cx="2578608" cy="109728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13232" y="3401568"/>
              <a:ext cx="2286000" cy="100584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Unit / regression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400" b="0">
                  <a:solidFill>
                    <a:srgbClr val="4F5D56"/>
                  </a:solidFill>
                  <a:latin typeface="Calibri"/>
                </a:rPr>
                <a:t>equations · golden values · hard gates</a:t>
              </a:r>
            </a:p>
          </p:txBody>
        </p:sp>
        <p:sp>
          <p:nvSpPr>
            <p:cNvPr id="44" name="Right Arrow 43"/>
            <p:cNvSpPr/>
            <p:nvPr/>
          </p:nvSpPr>
          <p:spPr>
            <a:xfrm>
              <a:off x="3154680" y="3785616"/>
              <a:ext cx="173736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3355848" y="3355848"/>
              <a:ext cx="2578608" cy="109728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520440" y="3401568"/>
              <a:ext cx="2286000" cy="100584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API / integration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400" b="0">
                  <a:solidFill>
                    <a:srgbClr val="4F5D56"/>
                  </a:solidFill>
                  <a:latin typeface="Calibri"/>
                </a:rPr>
                <a:t>auth · tenant isolation · jobs · exports</a:t>
              </a:r>
            </a:p>
          </p:txBody>
        </p:sp>
        <p:sp>
          <p:nvSpPr>
            <p:cNvPr id="47" name="Right Arrow 46"/>
            <p:cNvSpPr/>
            <p:nvPr/>
          </p:nvSpPr>
          <p:spPr>
            <a:xfrm>
              <a:off x="5961888" y="3785616"/>
              <a:ext cx="173736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6163055" y="3355848"/>
              <a:ext cx="2578608" cy="109728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327647" y="3401568"/>
              <a:ext cx="2286000" cy="100584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Frontend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400" b="0">
                  <a:solidFill>
                    <a:srgbClr val="4F5D56"/>
                  </a:solidFill>
                  <a:latin typeface="Calibri"/>
                </a:rPr>
                <a:t>tests · types · lint · build</a:t>
              </a:r>
            </a:p>
          </p:txBody>
        </p:sp>
        <p:sp>
          <p:nvSpPr>
            <p:cNvPr id="50" name="Right Arrow 49"/>
            <p:cNvSpPr/>
            <p:nvPr/>
          </p:nvSpPr>
          <p:spPr>
            <a:xfrm>
              <a:off x="8769096" y="3785616"/>
              <a:ext cx="173736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8970263" y="3355848"/>
              <a:ext cx="2578608" cy="109728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9134855" y="3401568"/>
              <a:ext cx="2286000" cy="100584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Operational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400" b="0">
                  <a:solidFill>
                    <a:srgbClr val="4F5D56"/>
                  </a:solidFill>
                  <a:latin typeface="Calibri"/>
                </a:rPr>
                <a:t>deployment · external services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548640" y="4727448"/>
            <a:ext cx="11036808" cy="1371600"/>
            <a:chOff x="548640" y="4727448"/>
            <a:chExt cx="11036808" cy="1371600"/>
          </a:xfrm>
        </p:grpSpPr>
        <p:sp>
          <p:nvSpPr>
            <p:cNvPr id="54" name="TextBox 53"/>
            <p:cNvSpPr txBox="1"/>
            <p:nvPr/>
          </p:nvSpPr>
          <p:spPr>
            <a:xfrm>
              <a:off x="548640" y="4727448"/>
              <a:ext cx="5394960" cy="13716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10000"/>
                </a:lnSpc>
                <a:spcAft>
                  <a:spcPts val="400"/>
                </a:spcAft>
              </a:pPr>
              <a:r>
                <a:rPr sz="1800" b="1">
                  <a:solidFill>
                    <a:srgbClr val="17261E"/>
                  </a:solidFill>
                  <a:latin typeface="Calibri"/>
                </a:rPr>
                <a:t>Pass criterion</a:t>
              </a:r>
            </a:p>
            <a:p>
              <a:pPr algn="l">
                <a:lnSpc>
                  <a:spcPct val="110000"/>
                </a:lnSpc>
                <a:spcAft>
                  <a:spcPts val="400"/>
                </a:spcAft>
              </a:pPr>
              <a:r>
                <a:rPr sz="1600" b="0">
                  <a:solidFill>
                    <a:srgbClr val="4F5D56"/>
                  </a:solidFill>
                  <a:latin typeface="Calibri"/>
                </a:rPr>
                <a:t>0 failures, no unjustified skips — and unsupported states must stay explicit, never silently satisfied.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190488" y="4727448"/>
              <a:ext cx="5394960" cy="13716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10000"/>
                </a:lnSpc>
                <a:spcAft>
                  <a:spcPts val="400"/>
                </a:spcAft>
              </a:pPr>
              <a:r>
                <a:rPr sz="1800" b="1">
                  <a:solidFill>
                    <a:srgbClr val="17261E"/>
                  </a:solidFill>
                  <a:latin typeface="Calibri"/>
                </a:rPr>
                <a:t>Risks → contingency</a:t>
              </a:r>
            </a:p>
            <a:p>
              <a:pPr algn="l">
                <a:lnSpc>
                  <a:spcPct val="110000"/>
                </a:lnSpc>
                <a:spcAft>
                  <a:spcPts val="400"/>
                </a:spcAft>
              </a:pPr>
              <a:r>
                <a:rPr sz="1600" b="0">
                  <a:solidFill>
                    <a:srgbClr val="4F5D56"/>
                  </a:solidFill>
                  <a:latin typeface="Calibri"/>
                </a:rPr>
                <a:t>No ground truth → ML advisory · unimplemented rules → blocking checks · live services → isolated fixtures.</a:t>
              </a: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All five checks re-run on the current code, 10 Oct 2026 · ESLint: 0 errors, 4 warnings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  <p:cond evt="onBegin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Key test cases prove gates, isolation and reproducibility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CODE &amp; TESTS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9584" y="548640"/>
            <a:ext cx="932688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20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1481328"/>
          <a:ext cx="11091672" cy="4407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3337560"/>
                <a:gridCol w="3017520"/>
                <a:gridCol w="2999232"/>
                <a:gridCol w="777240"/>
              </a:tblGrid>
              <a:tr h="56692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 anchor="ctr" marL="109728" marR="109728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 anchor="ctr" marL="109728" marR="109728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</a:t>
                      </a:r>
                    </a:p>
                  </a:txBody>
                  <a:tcPr anchor="ctr" marL="109728" marR="109728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Observed</a:t>
                      </a:r>
                    </a:p>
                  </a:txBody>
                  <a:tcPr anchor="ctr" marL="109728" marR="109728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 anchor="ctr" marL="109728" marR="109728">
                    <a:solidFill>
                      <a:srgbClr val="1E5B3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TC-01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QA3 size gate — 500,000 ha field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F5D56"/>
                          </a:solidFill>
                          <a:latin typeface="Calibri"/>
                        </a:defRPr>
                      </a:pPr>
                      <a:r>
                        <a:t>Reject above 60,000 tCO₂e/yr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F5D56"/>
                          </a:solidFill>
                          <a:latin typeface="Calibri"/>
                        </a:defRPr>
                      </a:pPr>
                      <a:r>
                        <a:t>qa3_pathway_valid = False, no issuance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TC-03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Another organization reads a field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F5D56"/>
                          </a:solidFill>
                          <a:latin typeface="Calibri"/>
                        </a:defRPr>
                      </a:pPr>
                      <a:r>
                        <a:t>Cannot list or open it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F5D56"/>
                          </a:solidFill>
                          <a:latin typeface="Calibri"/>
                        </a:defRPr>
                      </a:pPr>
                      <a:r>
                        <a:t>empty list · direct GET → 404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TC-04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PDF after live evidence is edited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F5D56"/>
                          </a:solidFill>
                          <a:latin typeface="Calibri"/>
                        </a:defRPr>
                      </a:pPr>
                      <a:r>
                        <a:t>Built from the frozen snapshot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F5D56"/>
                          </a:solidFill>
                          <a:latin typeface="Calibri"/>
                        </a:defRPr>
                      </a:pPr>
                      <a:r>
                        <a:t>owner 200 · viewer 403 · other org 404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TC-06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AI output claims “certified”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F5D56"/>
                          </a:solidFill>
                          <a:latin typeface="Calibri"/>
                        </a:defRPr>
                      </a:pPr>
                      <a:r>
                        <a:t>Reject; one retry, then fail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F5D56"/>
                          </a:solidFill>
                          <a:latin typeface="Calibri"/>
                        </a:defRPr>
                      </a:pPr>
                      <a:r>
                        <a:t>validation error · nothing saved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Evidence: tests/test_carbon_calculator.py · tests/backend/test_fields_endpoints.py · test_evidence_verification.py · tests/test_ai_validate.py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What we solved, and what is still open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REFLECTION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28031" y="548640"/>
            <a:ext cx="777240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481328"/>
            <a:ext cx="66751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E5B3F"/>
                </a:solidFill>
                <a:latin typeface="Calibri"/>
              </a:rPr>
              <a:t>CHALLENGE  →  SOLUTION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548640" y="1892808"/>
            <a:ext cx="6675120" cy="1234440"/>
            <a:chOff x="548640" y="1892808"/>
            <a:chExt cx="6675120" cy="1234440"/>
          </a:xfrm>
        </p:grpSpPr>
        <p:sp>
          <p:nvSpPr>
            <p:cNvPr id="18" name="Rounded Rectangle 17"/>
            <p:cNvSpPr/>
            <p:nvPr/>
          </p:nvSpPr>
          <p:spPr>
            <a:xfrm>
              <a:off x="548640" y="1892808"/>
              <a:ext cx="6675120" cy="123444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777240" y="2194560"/>
              <a:ext cx="621792" cy="621792"/>
            </a:xfrm>
            <a:prstGeom prst="ellipse">
              <a:avLst/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0" name="Picture 19" descr="calculator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6470" y="2343790"/>
              <a:ext cx="323331" cy="323331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1600200" y="2002536"/>
              <a:ext cx="5486400" cy="10515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800" b="1">
                  <a:solidFill>
                    <a:srgbClr val="17261E"/>
                  </a:solidFill>
                  <a:latin typeface="Calibri"/>
                </a:rPr>
                <a:t>Methodology fidelity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>
                  <a:solidFill>
                    <a:srgbClr val="4F5D56"/>
                  </a:solidFill>
                  <a:latin typeface="Calibri"/>
                </a:rPr>
                <a:t>Factors cited to tables + golden-value tests — caught a wrong EF (1.4 → 0.85).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48640" y="3291840"/>
            <a:ext cx="6675120" cy="1234440"/>
            <a:chOff x="548640" y="3291840"/>
            <a:chExt cx="6675120" cy="1234440"/>
          </a:xfrm>
        </p:grpSpPr>
        <p:sp>
          <p:nvSpPr>
            <p:cNvPr id="23" name="Rounded Rectangle 22"/>
            <p:cNvSpPr/>
            <p:nvPr/>
          </p:nvSpPr>
          <p:spPr>
            <a:xfrm>
              <a:off x="548640" y="3291840"/>
              <a:ext cx="6675120" cy="123444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777240" y="3593592"/>
              <a:ext cx="621792" cy="621792"/>
            </a:xfrm>
            <a:prstGeom prst="ellipse">
              <a:avLst/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5" name="Picture 24" descr="clock icon (decorative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26470" y="3742822"/>
              <a:ext cx="323331" cy="323331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1600200" y="3401568"/>
              <a:ext cx="5486400" cy="10515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800" b="1">
                  <a:solidFill>
                    <a:srgbClr val="17261E"/>
                  </a:solidFill>
                  <a:latin typeface="Calibri"/>
                </a:rPr>
                <a:t>Slow satellite &amp; AI work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>
                  <a:solidFill>
                    <a:srgbClr val="4F5D56"/>
                  </a:solidFill>
                  <a:latin typeface="Calibri"/>
                </a:rPr>
                <a:t>Durable job queue with a separate Python worker.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48640" y="4690872"/>
            <a:ext cx="6675120" cy="1234440"/>
            <a:chOff x="548640" y="4690872"/>
            <a:chExt cx="6675120" cy="1234440"/>
          </a:xfrm>
        </p:grpSpPr>
        <p:sp>
          <p:nvSpPr>
            <p:cNvPr id="28" name="Rounded Rectangle 27"/>
            <p:cNvSpPr/>
            <p:nvPr/>
          </p:nvSpPr>
          <p:spPr>
            <a:xfrm>
              <a:off x="548640" y="4690872"/>
              <a:ext cx="6675120" cy="123444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777240" y="4992624"/>
              <a:ext cx="621792" cy="621792"/>
            </a:xfrm>
            <a:prstGeom prst="ellipse">
              <a:avLst/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0" name="Picture 29" descr="rotate ccw clock icon (decorative)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26470" y="5141854"/>
              <a:ext cx="323331" cy="323331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1600200" y="4800600"/>
              <a:ext cx="5486400" cy="10515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800" b="1">
                  <a:solidFill>
                    <a:srgbClr val="17261E"/>
                  </a:solidFill>
                  <a:latin typeface="Calibri"/>
                </a:rPr>
                <a:t>Numbers drifting after edits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>
                  <a:solidFill>
                    <a:srgbClr val="4F5D56"/>
                  </a:solidFill>
                  <a:latin typeface="Calibri"/>
                </a:rPr>
                <a:t>Immutable snapshots; edits create a new version.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7498079" y="1481328"/>
            <a:ext cx="4142232" cy="4572000"/>
            <a:chOff x="7498079" y="1481328"/>
            <a:chExt cx="4142232" cy="4572000"/>
          </a:xfrm>
        </p:grpSpPr>
        <p:sp>
          <p:nvSpPr>
            <p:cNvPr id="33" name="Rounded Rectangle 32"/>
            <p:cNvSpPr/>
            <p:nvPr/>
          </p:nvSpPr>
          <p:spPr>
            <a:xfrm>
              <a:off x="7498079" y="1481328"/>
              <a:ext cx="4142232" cy="4572000"/>
            </a:xfrm>
            <a:prstGeom prst="roundRect">
              <a:avLst>
                <a:gd name="adj" fmla="val 6000"/>
              </a:avLst>
            </a:prstGeom>
            <a:solidFill>
              <a:srgbClr val="FBF4E6"/>
            </a:solidFill>
            <a:ln w="12700">
              <a:solidFill>
                <a:srgbClr val="EBCB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4" name="Picture 33" descr="triangle alert icon (decorative)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726679" y="1664208"/>
              <a:ext cx="274320" cy="274320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8092440" y="1664208"/>
              <a:ext cx="338328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A86A12"/>
                  </a:solidFill>
                  <a:latin typeface="Calibri"/>
                </a:rPr>
                <a:t>STILL OPEN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726679" y="2029968"/>
              <a:ext cx="3749039" cy="20116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550" b="0">
                  <a:solidFill>
                    <a:srgbClr val="17261E"/>
                  </a:solidFill>
                  <a:latin typeface="Calibri"/>
                </a:rPr>
                <a:t>•  VM0051 leakage not yet modelled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550" b="0">
                  <a:solidFill>
                    <a:srgbClr val="17261E"/>
                  </a:solidFill>
                  <a:latin typeface="Calibri"/>
                </a:rPr>
                <a:t>•  No independent AWD ground truth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550" b="0">
                  <a:solidFill>
                    <a:srgbClr val="17261E"/>
                  </a:solidFill>
                  <a:latin typeface="Calibri"/>
                </a:rPr>
                <a:t>•  AI evaluation set incomplete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550" b="0">
                  <a:solidFill>
                    <a:srgbClr val="17261E"/>
                  </a:solidFill>
                  <a:latin typeface="Calibri"/>
                </a:rPr>
                <a:t>•  Production provenance unverified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7726679" y="4087368"/>
              <a:ext cx="3685032" cy="9144"/>
            </a:xfrm>
            <a:prstGeom prst="rect">
              <a:avLst/>
            </a:prstGeom>
            <a:solidFill>
              <a:srgbClr val="EBCB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8" name="Picture 37" descr="flask conical icon (decorative)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726679" y="4224528"/>
              <a:ext cx="274320" cy="27432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8092440" y="4224528"/>
              <a:ext cx="338328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E5B3F"/>
                  </a:solidFill>
                  <a:latin typeface="Calibri"/>
                </a:rPr>
                <a:t>NEXT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726679" y="4572000"/>
              <a:ext cx="3749039" cy="1463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550" b="0">
                  <a:solidFill>
                    <a:srgbClr val="17261E"/>
                  </a:solidFill>
                  <a:latin typeface="Calibri"/>
                </a:rPr>
                <a:t>•  Field ground-truth campaign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550" b="0">
                  <a:solidFill>
                    <a:srgbClr val="17261E"/>
                  </a:solidFill>
                  <a:latin typeface="Calibri"/>
                </a:rPr>
                <a:t>•  Eq. 38 uncertainty for large projects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550" b="0">
                  <a:solidFill>
                    <a:srgbClr val="17261E"/>
                  </a:solidFill>
                  <a:latin typeface="Calibri"/>
                </a:rPr>
                <a:t>•  Remaining VM0051 terms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Software verification ≠ VVB verification ≠ Verra registration or issuance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5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dark green topographic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28800"/>
            <a:ext cx="6400800" cy="1005840"/>
          </a:xfrm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48640" y="1051560"/>
            <a:ext cx="6400800" cy="2377440"/>
            <a:chOff x="548640" y="1051560"/>
            <a:chExt cx="6400800" cy="2377440"/>
          </a:xfrm>
        </p:grpSpPr>
        <p:pic>
          <p:nvPicPr>
            <p:cNvPr id="5" name="Picture 4" descr="leaf icon (decorative)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4360" y="1051560"/>
              <a:ext cx="685800" cy="685800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548640" y="2880360"/>
              <a:ext cx="640080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2600" b="0">
                  <a:solidFill>
                    <a:srgbClr val="CFE6D8"/>
                  </a:solidFill>
                  <a:latin typeface="Calibri"/>
                </a:rPr>
                <a:t>Questions are welcome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48640" y="4023360"/>
            <a:ext cx="6583680" cy="1645920"/>
            <a:chOff x="548640" y="4023360"/>
            <a:chExt cx="6583680" cy="1645920"/>
          </a:xfrm>
        </p:grpSpPr>
        <p:sp>
          <p:nvSpPr>
            <p:cNvPr id="8" name="TextBox 7"/>
            <p:cNvSpPr txBox="1"/>
            <p:nvPr/>
          </p:nvSpPr>
          <p:spPr>
            <a:xfrm>
              <a:off x="548640" y="4023360"/>
              <a:ext cx="6583680" cy="16459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700" b="1">
                  <a:solidFill>
                    <a:srgbClr val="6CC08F"/>
                  </a:solidFill>
                  <a:latin typeface="Calibri"/>
                </a:rPr>
                <a:t>Live app      </a:t>
              </a:r>
              <a:r>
                <a:rPr sz="1700" b="0">
                  <a:solidFill>
                    <a:srgbClr val="FFFFFF"/>
                  </a:solidFill>
                  <a:latin typeface="Calibri"/>
                </a:rPr>
                <a:t>terra-audit.vercel.app</a:t>
              </a:r>
            </a:p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700" b="1">
                  <a:solidFill>
                    <a:srgbClr val="6CC08F"/>
                  </a:solidFill>
                  <a:latin typeface="Calibri"/>
                </a:rPr>
                <a:t>Repository   </a:t>
              </a:r>
              <a:r>
                <a:rPr sz="1700" b="0">
                  <a:solidFill>
                    <a:srgbClr val="FFFFFF"/>
                  </a:solidFill>
                  <a:latin typeface="Calibri"/>
                </a:rPr>
                <a:t>github.com/knah1d/terra-audit</a:t>
              </a:r>
            </a:p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700" b="1">
                  <a:solidFill>
                    <a:srgbClr val="6CC08F"/>
                  </a:solidFill>
                  <a:latin typeface="Calibri"/>
                </a:rPr>
                <a:t>Presenter     </a:t>
              </a:r>
              <a:r>
                <a:rPr sz="1700" b="0">
                  <a:solidFill>
                    <a:srgbClr val="FFFFFF"/>
                  </a:solidFill>
                  <a:latin typeface="Calibri"/>
                </a:rPr>
                <a:t>Kazi Nahid · BSSE 1437</a:t>
              </a:r>
            </a:p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700" b="1">
                  <a:solidFill>
                    <a:srgbClr val="6CC08F"/>
                  </a:solidFill>
                  <a:latin typeface="Calibri"/>
                </a:rPr>
                <a:t>Supervisor    </a:t>
              </a:r>
              <a:r>
                <a:rPr sz="1700" b="0">
                  <a:solidFill>
                    <a:srgbClr val="FFFFFF"/>
                  </a:solidFill>
                  <a:latin typeface="Calibri"/>
                </a:rPr>
                <a:t>Dr. Emon Kumar Dey, Professor, IIT, DU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635240" y="2103120"/>
            <a:ext cx="3977639" cy="2286000"/>
            <a:chOff x="7635240" y="2103120"/>
            <a:chExt cx="3977639" cy="2286000"/>
          </a:xfrm>
        </p:grpSpPr>
        <p:sp>
          <p:nvSpPr>
            <p:cNvPr id="10" name="Rounded Rectangle 9"/>
            <p:cNvSpPr/>
            <p:nvPr/>
          </p:nvSpPr>
          <p:spPr>
            <a:xfrm>
              <a:off x="7635240" y="2103120"/>
              <a:ext cx="1874519" cy="2286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1" name="Picture 10" descr="QR code linking to the Live app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18119" y="2240280"/>
              <a:ext cx="1508760" cy="150876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7635240" y="3840480"/>
              <a:ext cx="1874519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Live app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738360" y="2103120"/>
              <a:ext cx="1874519" cy="2286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4" name="Picture 13" descr="QR code linking to the GitHub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21240" y="2240280"/>
              <a:ext cx="1508760" cy="150876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9738360" y="3840480"/>
              <a:ext cx="1874519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GitHub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From approved calculations to an MRV report a verifier can 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408176"/>
            <a:ext cx="11094415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4F5D56"/>
                </a:solidFill>
                <a:latin typeface="Calibri"/>
              </a:rPr>
              <a:t>Nothing reaches the report unreviewed — and everything in it can be checked.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548640" y="2029968"/>
            <a:ext cx="1572768" cy="1627632"/>
            <a:chOff x="548640" y="2029968"/>
            <a:chExt cx="1572768" cy="1627632"/>
          </a:xfrm>
        </p:grpSpPr>
        <p:sp>
          <p:nvSpPr>
            <p:cNvPr id="18" name="Rounded Rectangle 17"/>
            <p:cNvSpPr/>
            <p:nvPr/>
          </p:nvSpPr>
          <p:spPr>
            <a:xfrm>
              <a:off x="548640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1051560" y="2029968"/>
              <a:ext cx="384048" cy="384048"/>
            </a:xfrm>
            <a:prstGeom prst="ellipse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51560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1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03503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Save calculation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03503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frozen snapshot</a:t>
              </a:r>
            </a:p>
          </p:txBody>
        </p:sp>
        <p:sp>
          <p:nvSpPr>
            <p:cNvPr id="23" name="Right Arrow 22"/>
            <p:cNvSpPr/>
            <p:nvPr/>
          </p:nvSpPr>
          <p:spPr>
            <a:xfrm>
              <a:off x="1938528" y="2834640"/>
              <a:ext cx="18288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2148840" y="2029968"/>
            <a:ext cx="1572768" cy="1627632"/>
            <a:chOff x="2148840" y="2029968"/>
            <a:chExt cx="1572768" cy="1627632"/>
          </a:xfrm>
        </p:grpSpPr>
        <p:sp>
          <p:nvSpPr>
            <p:cNvPr id="25" name="Rounded Rectangle 24"/>
            <p:cNvSpPr/>
            <p:nvPr/>
          </p:nvSpPr>
          <p:spPr>
            <a:xfrm>
              <a:off x="2148840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2651760" y="2029968"/>
              <a:ext cx="384048" cy="384048"/>
            </a:xfrm>
            <a:prstGeom prst="ellipse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651760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2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203704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Submit for review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203704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lead / contributor</a:t>
              </a:r>
            </a:p>
          </p:txBody>
        </p:sp>
        <p:sp>
          <p:nvSpPr>
            <p:cNvPr id="30" name="Right Arrow 29"/>
            <p:cNvSpPr/>
            <p:nvPr/>
          </p:nvSpPr>
          <p:spPr>
            <a:xfrm>
              <a:off x="3538728" y="2834640"/>
              <a:ext cx="18288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3749039" y="2029968"/>
            <a:ext cx="1572768" cy="1627632"/>
            <a:chOff x="3749039" y="2029968"/>
            <a:chExt cx="1572768" cy="1627632"/>
          </a:xfrm>
        </p:grpSpPr>
        <p:sp>
          <p:nvSpPr>
            <p:cNvPr id="32" name="Rounded Rectangle 31"/>
            <p:cNvSpPr/>
            <p:nvPr/>
          </p:nvSpPr>
          <p:spPr>
            <a:xfrm>
              <a:off x="3749039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4251959" y="2029968"/>
              <a:ext cx="384048" cy="384048"/>
            </a:xfrm>
            <a:prstGeom prst="ellipse">
              <a:avLst/>
            </a:prstGeom>
            <a:solidFill>
              <a:srgbClr val="17261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51959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3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803903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Reviewer checks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803903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D7EBDF"/>
                  </a:solidFill>
                  <a:latin typeface="Calibri"/>
                </a:rPr>
                <a:t>findings · diff</a:t>
              </a:r>
            </a:p>
          </p:txBody>
        </p:sp>
        <p:sp>
          <p:nvSpPr>
            <p:cNvPr id="37" name="Right Arrow 36"/>
            <p:cNvSpPr/>
            <p:nvPr/>
          </p:nvSpPr>
          <p:spPr>
            <a:xfrm>
              <a:off x="5138927" y="2834640"/>
              <a:ext cx="18288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5349240" y="2029968"/>
            <a:ext cx="1572767" cy="1627632"/>
            <a:chOff x="5349240" y="2029968"/>
            <a:chExt cx="1572767" cy="1627632"/>
          </a:xfrm>
        </p:grpSpPr>
        <p:sp>
          <p:nvSpPr>
            <p:cNvPr id="39" name="Rounded Rectangle 38"/>
            <p:cNvSpPr/>
            <p:nvPr/>
          </p:nvSpPr>
          <p:spPr>
            <a:xfrm>
              <a:off x="5349240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5852159" y="2029968"/>
              <a:ext cx="384048" cy="384048"/>
            </a:xfrm>
            <a:prstGeom prst="ellipse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852159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4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404103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Decision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404103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approve / changes</a:t>
              </a:r>
            </a:p>
          </p:txBody>
        </p:sp>
        <p:sp>
          <p:nvSpPr>
            <p:cNvPr id="44" name="Right Arrow 43"/>
            <p:cNvSpPr/>
            <p:nvPr/>
          </p:nvSpPr>
          <p:spPr>
            <a:xfrm>
              <a:off x="6739127" y="2834640"/>
              <a:ext cx="18288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6949440" y="2029968"/>
            <a:ext cx="1572767" cy="1627632"/>
            <a:chOff x="6949440" y="2029968"/>
            <a:chExt cx="1572767" cy="1627632"/>
          </a:xfrm>
        </p:grpSpPr>
        <p:sp>
          <p:nvSpPr>
            <p:cNvPr id="46" name="Rounded Rectangle 45"/>
            <p:cNvSpPr/>
            <p:nvPr/>
          </p:nvSpPr>
          <p:spPr>
            <a:xfrm>
              <a:off x="6949440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7452360" y="2029968"/>
              <a:ext cx="384048" cy="384048"/>
            </a:xfrm>
            <a:prstGeom prst="ellipse">
              <a:avLst/>
            </a:prstGeom>
            <a:solidFill>
              <a:srgbClr val="17261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452360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5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004303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Project MRV report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004303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D7EBDF"/>
                  </a:solidFill>
                  <a:latin typeface="Calibri"/>
                </a:rPr>
                <a:t>final when approved</a:t>
              </a:r>
            </a:p>
          </p:txBody>
        </p:sp>
        <p:sp>
          <p:nvSpPr>
            <p:cNvPr id="51" name="Right Arrow 50"/>
            <p:cNvSpPr/>
            <p:nvPr/>
          </p:nvSpPr>
          <p:spPr>
            <a:xfrm>
              <a:off x="8339327" y="2834640"/>
              <a:ext cx="18288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8549640" y="2029968"/>
            <a:ext cx="1572768" cy="1627632"/>
            <a:chOff x="8549640" y="2029968"/>
            <a:chExt cx="1572768" cy="1627632"/>
          </a:xfrm>
        </p:grpSpPr>
        <p:sp>
          <p:nvSpPr>
            <p:cNvPr id="53" name="Rounded Rectangle 52"/>
            <p:cNvSpPr/>
            <p:nvPr/>
          </p:nvSpPr>
          <p:spPr>
            <a:xfrm>
              <a:off x="8549640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9052560" y="2029968"/>
              <a:ext cx="384048" cy="384048"/>
            </a:xfrm>
            <a:prstGeom prst="ellipse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9052560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6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604504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Evidence package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8604504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ZIP · SHA-256</a:t>
              </a:r>
            </a:p>
          </p:txBody>
        </p:sp>
        <p:sp>
          <p:nvSpPr>
            <p:cNvPr id="58" name="Right Arrow 57"/>
            <p:cNvSpPr/>
            <p:nvPr/>
          </p:nvSpPr>
          <p:spPr>
            <a:xfrm>
              <a:off x="9939528" y="2834640"/>
              <a:ext cx="18288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10149840" y="2029968"/>
            <a:ext cx="1371600" cy="1627632"/>
            <a:chOff x="10149840" y="2029968"/>
            <a:chExt cx="1371600" cy="1627632"/>
          </a:xfrm>
        </p:grpSpPr>
        <p:sp>
          <p:nvSpPr>
            <p:cNvPr id="60" name="Rounded Rectangle 59"/>
            <p:cNvSpPr/>
            <p:nvPr/>
          </p:nvSpPr>
          <p:spPr>
            <a:xfrm>
              <a:off x="10149840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10652760" y="2029968"/>
              <a:ext cx="384048" cy="384048"/>
            </a:xfrm>
            <a:prstGeom prst="ellipse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652760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7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0204704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Verifier (VVB)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0204704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validation &amp; verification</a:t>
              </a: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548640" y="4023360"/>
            <a:ext cx="3886200" cy="1920240"/>
            <a:chOff x="548640" y="4023360"/>
            <a:chExt cx="5449824" cy="1920240"/>
          </a:xfrm>
        </p:grpSpPr>
        <p:sp>
          <p:nvSpPr>
            <p:cNvPr id="66" name="Rounded Rectangle 65"/>
            <p:cNvSpPr/>
            <p:nvPr/>
          </p:nvSpPr>
          <p:spPr>
            <a:xfrm>
              <a:off x="548640" y="4023360"/>
              <a:ext cx="5449824" cy="192024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822959" y="4251960"/>
              <a:ext cx="658368" cy="658368"/>
            </a:xfrm>
            <a:prstGeom prst="ellipse">
              <a:avLst/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68" name="Picture 67" descr="wheat icon (decorative)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80968" y="4409968"/>
              <a:ext cx="342351" cy="342351"/>
            </a:xfrm>
            <a:prstGeom prst="rect">
              <a:avLst/>
            </a:prstGeom>
          </p:spPr>
        </p:pic>
        <p:sp>
          <p:nvSpPr>
            <p:cNvPr id="69" name="TextBox 68"/>
            <p:cNvSpPr txBox="1"/>
            <p:nvPr/>
          </p:nvSpPr>
          <p:spPr>
            <a:xfrm>
              <a:off x="1691640" y="4187952"/>
              <a:ext cx="4160520" cy="17373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900" b="1">
                  <a:solidFill>
                    <a:srgbClr val="17261E"/>
                  </a:solidFill>
                  <a:latin typeface="Calibri"/>
                </a:rPr>
                <a:t>Project MRV report (PDF)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500" b="1">
                  <a:solidFill>
                    <a:srgbClr val="1E5B3F"/>
                  </a:solidFill>
                  <a:latin typeface="Calibri"/>
                </a:rPr>
                <a:t>VM0051 monitoring-report structure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450" b="0">
                  <a:solidFill>
                    <a:srgbClr val="4F5D56"/>
                  </a:solidFill>
                  <a:latin typeface="Calibri"/>
                </a:rPr>
                <a:t>All fields summed, QA3 checked per year, QA/QC trail, requirements, project documents and sign-off.</a:t>
              </a: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4572000" y="4023360"/>
            <a:ext cx="3886200" cy="1920240"/>
            <a:chOff x="6190488" y="4023360"/>
            <a:chExt cx="5449824" cy="1920240"/>
          </a:xfrm>
        </p:grpSpPr>
        <p:sp>
          <p:nvSpPr>
            <p:cNvPr id="71" name="Rounded Rectangle 70"/>
            <p:cNvSpPr/>
            <p:nvPr/>
          </p:nvSpPr>
          <p:spPr>
            <a:xfrm>
              <a:off x="6190488" y="4023360"/>
              <a:ext cx="5449824" cy="192024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71"/>
            <p:cNvSpPr/>
            <p:nvPr/>
          </p:nvSpPr>
          <p:spPr>
            <a:xfrm>
              <a:off x="6464807" y="4251960"/>
              <a:ext cx="658368" cy="658368"/>
            </a:xfrm>
            <a:prstGeom prst="ellipse">
              <a:avLst/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73" name="Picture 72" descr="map icon (decorative)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622816" y="4409968"/>
              <a:ext cx="342351" cy="342351"/>
            </a:xfrm>
            <a:prstGeom prst="rect">
              <a:avLst/>
            </a:prstGeom>
          </p:spPr>
        </p:pic>
        <p:sp>
          <p:nvSpPr>
            <p:cNvPr id="74" name="TextBox 73"/>
            <p:cNvSpPr txBox="1"/>
            <p:nvPr/>
          </p:nvSpPr>
          <p:spPr>
            <a:xfrm>
              <a:off x="7333488" y="4187952"/>
              <a:ext cx="4160520" cy="17373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900" b="1">
                  <a:solidFill>
                    <a:srgbClr val="17261E"/>
                  </a:solidFill>
                  <a:latin typeface="Calibri"/>
                </a:rPr>
                <a:t>Evidence package (ZIP)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500" b="1">
                  <a:solidFill>
                    <a:srgbClr val="1E5B3F"/>
                  </a:solidFill>
                  <a:latin typeface="Calibri"/>
                </a:rPr>
                <a:t>Everything a verifier needs, hashed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450" b="0">
                  <a:solidFill>
                    <a:srgbClr val="4F5D56"/>
                  </a:solidFill>
                  <a:latin typeface="Calibri"/>
                </a:rPr>
                <a:t>Field reports, frozen snapshots, Sentinel-1 results, documents and a SHA-256 manifest of every file.</a:t>
              </a:r>
            </a:p>
          </p:txBody>
        </p:sp>
      </p:grp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865376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778240" y="4023360"/>
            <a:ext cx="1728216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page-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33104" y="4078224"/>
            <a:ext cx="1617404" cy="228600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0607040" y="4023360"/>
            <a:ext cx="1033271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5B3F"/>
                </a:solidFill>
                <a:latin typeface="Calibri"/>
              </a:rPr>
              <a:t>REAL OUTPUT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4F5D56"/>
                </a:solidFill>
                <a:latin typeface="Calibri"/>
              </a:rPr>
              <a:t>Page 1 of the project report — FINAL once every field is approved.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Registering a field fills itself 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408176"/>
            <a:ext cx="11094415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4F5D56"/>
                </a:solidFill>
                <a:latin typeface="Calibri"/>
              </a:rPr>
              <a:t>Draw or upload the boundary. The app works out the rest, and the user only confirms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865376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965960"/>
            <a:ext cx="5394960" cy="3448325"/>
          </a:xfrm>
          <a:prstGeom prst="rect">
            <a:avLst/>
          </a:prstGeom>
          <a:ln w="12700">
            <a:solidFill>
              <a:srgbClr val="D6E3DA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48640" y="5460005"/>
            <a:ext cx="539496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0" i="1">
                <a:solidFill>
                  <a:srgbClr val="7C8A83"/>
                </a:solidFill>
                <a:latin typeface="Calibri"/>
              </a:rPr>
              <a:t>The Register-a-field page: draw on the map, upload GeoJSON/KML or paste coordinates.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1965960"/>
            <a:ext cx="420624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7261E"/>
                </a:solidFill>
                <a:latin typeface="Calibri"/>
              </a:rPr>
              <a:t>Boundary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4F5D56"/>
                </a:solidFill>
                <a:latin typeface="Calibri"/>
              </a:rPr>
              <a:t>drawn, uploaded or pasted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86800" y="2624328"/>
            <a:ext cx="0" cy="182880"/>
          </a:xfrm>
          <a:prstGeom prst="line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583680" y="2807208"/>
            <a:ext cx="420624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7261E"/>
                </a:solidFill>
                <a:latin typeface="Calibri"/>
              </a:rPr>
              <a:t>Area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4F5D56"/>
                </a:solidFill>
                <a:latin typeface="Calibri"/>
              </a:rPr>
              <a:t>computed from the polygon (ha)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86800" y="3465576"/>
            <a:ext cx="0" cy="182880"/>
          </a:xfrm>
          <a:prstGeom prst="line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583680" y="3648456"/>
            <a:ext cx="420624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7261E"/>
                </a:solidFill>
                <a:latin typeface="Calibri"/>
              </a:rPr>
              <a:t>District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4F5D56"/>
                </a:solidFill>
                <a:latin typeface="Calibri"/>
              </a:rPr>
              <a:t>matched to Bangladesh district boundaries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86800" y="4306824"/>
            <a:ext cx="0" cy="182880"/>
          </a:xfrm>
          <a:prstGeom prst="line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83680" y="4489704"/>
            <a:ext cx="420624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7261E"/>
                </a:solidFill>
                <a:latin typeface="Calibri"/>
              </a:rPr>
              <a:t>Field type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4F5D56"/>
                </a:solidFill>
                <a:latin typeface="Calibri"/>
              </a:rPr>
              <a:t>rice or cropland, detected from satellite imagery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86800" y="5148072"/>
            <a:ext cx="0" cy="182880"/>
          </a:xfrm>
          <a:prstGeom prst="line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83680" y="5330952"/>
            <a:ext cx="4206240" cy="658368"/>
          </a:xfrm>
          <a:prstGeom prst="roundRect">
            <a:avLst>
              <a:gd name="adj" fmla="val 14000"/>
            </a:avLst>
          </a:prstGeom>
          <a:solidFill>
            <a:srgbClr val="1E5B3F"/>
          </a:solidFill>
          <a:ln w="15875">
            <a:solidFill>
              <a:srgbClr val="1E5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Methodology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D7EBDF"/>
                </a:solidFill>
                <a:latin typeface="Calibri"/>
              </a:rPr>
              <a:t>suggested: rice → VM0051 · cropland → VM0042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780045"/>
            <a:ext cx="539496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0" i="1">
                <a:solidFill>
                  <a:srgbClr val="7C8A83"/>
                </a:solidFill>
                <a:latin typeface="Calibri"/>
              </a:rPr>
              <a:t>Any detected value can be changed; a change is recorded as a manual entry.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Team roles and the review loop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408176"/>
            <a:ext cx="11094415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4F5D56"/>
                </a:solidFill>
                <a:latin typeface="Calibri"/>
              </a:rPr>
              <a:t>Every number is prepared by one person and checked by another.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865376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783080"/>
            <a:ext cx="11091672" cy="960120"/>
          </a:xfrm>
          <a:prstGeom prst="roundRect">
            <a:avLst>
              <a:gd name="adj" fmla="val 4000"/>
            </a:avLst>
          </a:prstGeom>
          <a:solidFill>
            <a:srgbClr val="F5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1837943"/>
            <a:ext cx="10872216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1E5B3F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1783080"/>
            <a:ext cx="1325880" cy="9601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1E5B3F"/>
                </a:solidFill>
                <a:latin typeface="Calibri"/>
              </a:rPr>
              <a:t>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834640"/>
            <a:ext cx="11091672" cy="960120"/>
          </a:xfrm>
          <a:prstGeom prst="roundRect">
            <a:avLst>
              <a:gd name="adj" fmla="val 4000"/>
            </a:avLst>
          </a:prstGeom>
          <a:solidFill>
            <a:srgbClr val="F5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2889504"/>
            <a:ext cx="10872216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1E5B3F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834640"/>
            <a:ext cx="1325880" cy="9601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1E5B3F"/>
                </a:solidFill>
                <a:latin typeface="Calibri"/>
              </a:rPr>
              <a:t>Project lead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886200"/>
            <a:ext cx="11091672" cy="960120"/>
          </a:xfrm>
          <a:prstGeom prst="roundRect">
            <a:avLst>
              <a:gd name="adj" fmla="val 4000"/>
            </a:avLst>
          </a:prstGeom>
          <a:solidFill>
            <a:srgbClr val="F5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941063"/>
            <a:ext cx="10872216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1E5B3F"/>
                </a:solidFill>
                <a:latin typeface="Calibr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886200"/>
            <a:ext cx="1325880" cy="9601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1E5B3F"/>
                </a:solidFill>
                <a:latin typeface="Calibri"/>
              </a:rPr>
              <a:t>Contributor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37760"/>
            <a:ext cx="11091672" cy="960120"/>
          </a:xfrm>
          <a:prstGeom prst="roundRect">
            <a:avLst>
              <a:gd name="adj" fmla="val 4000"/>
            </a:avLst>
          </a:prstGeom>
          <a:solidFill>
            <a:srgbClr val="F5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992624"/>
            <a:ext cx="10872216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1E5B3F"/>
                </a:solidFill>
                <a:latin typeface="Calibr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937760"/>
            <a:ext cx="1325880" cy="9601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1E5B3F"/>
                </a:solidFill>
                <a:latin typeface="Calibri"/>
              </a:rPr>
              <a:t>Reviewer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74519" y="1897380"/>
            <a:ext cx="1463040" cy="731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7261E"/>
                </a:solidFill>
                <a:latin typeface="Calibri"/>
              </a:rPr>
              <a:t>Invite teammate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4F5D56"/>
                </a:solidFill>
                <a:latin typeface="Calibri"/>
              </a:rPr>
              <a:t>sets org role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74519" y="2948940"/>
            <a:ext cx="1463040" cy="731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7261E"/>
                </a:solidFill>
                <a:latin typeface="Calibri"/>
              </a:rPr>
              <a:t>Add to project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4F5D56"/>
                </a:solidFill>
                <a:latin typeface="Calibri"/>
              </a:rPr>
              <a:t>lead · contributor · viewer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29000" y="4000500"/>
            <a:ext cx="1463040" cy="731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7261E"/>
                </a:solidFill>
                <a:latin typeface="Calibri"/>
              </a:rPr>
              <a:t>Save calculation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4F5D56"/>
                </a:solidFill>
                <a:latin typeface="Calibri"/>
              </a:rPr>
              <a:t>frozen snapshot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83480" y="4000500"/>
            <a:ext cx="1463040" cy="731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7261E"/>
                </a:solidFill>
                <a:latin typeface="Calibri"/>
              </a:rPr>
              <a:t>Submit for review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37960" y="2948940"/>
            <a:ext cx="1463040" cy="731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7261E"/>
                </a:solidFill>
                <a:latin typeface="Calibri"/>
              </a:rPr>
              <a:t>Assign reviewer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4F5D56"/>
                </a:solidFill>
                <a:latin typeface="Calibri"/>
              </a:rPr>
              <a:t>never the submitter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92440" y="5052060"/>
            <a:ext cx="1463040" cy="731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7261E"/>
                </a:solidFill>
                <a:latin typeface="Calibri"/>
              </a:rPr>
              <a:t>Decide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4F5D56"/>
                </a:solidFill>
                <a:latin typeface="Calibri"/>
              </a:rPr>
              <a:t>findings → approve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606039" y="2628900"/>
            <a:ext cx="0" cy="320040"/>
          </a:xfrm>
          <a:prstGeom prst="line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337560" y="3314700"/>
            <a:ext cx="822960" cy="685800"/>
          </a:xfrm>
          <a:prstGeom prst="bentConnector3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892040" y="4366260"/>
            <a:ext cx="91440" cy="0"/>
          </a:xfrm>
          <a:prstGeom prst="line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446520" y="3680460"/>
            <a:ext cx="822960" cy="685800"/>
          </a:xfrm>
          <a:prstGeom prst="bentConnector3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001000" y="3314700"/>
            <a:ext cx="822960" cy="1737360"/>
          </a:xfrm>
          <a:prstGeom prst="bentConnector3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4160520" y="4732020"/>
            <a:ext cx="3931920" cy="685800"/>
          </a:xfrm>
          <a:prstGeom prst="bentConnector3">
            <a:avLst/>
          </a:prstGeom>
          <a:ln w="19050">
            <a:solidFill>
              <a:srgbClr val="A86A1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566160" y="5463540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50" b="0">
                <a:solidFill>
                  <a:srgbClr val="A86A12"/>
                </a:solidFill>
                <a:latin typeface="Calibri"/>
              </a:rPr>
              <a:t>changes requested → correction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21240" y="5052060"/>
            <a:ext cx="1600200" cy="731520"/>
          </a:xfrm>
          <a:prstGeom prst="roundRect">
            <a:avLst>
              <a:gd name="adj" fmla="val 14000"/>
            </a:avLst>
          </a:prstGeom>
          <a:solidFill>
            <a:srgbClr val="1E5B3F"/>
          </a:solidFill>
          <a:ln w="15875">
            <a:solidFill>
              <a:srgbClr val="1E5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MRV report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D7EBDF"/>
                </a:solidFill>
                <a:latin typeface="Calibri"/>
              </a:rPr>
              <a:t>final when approved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555480" y="5417820"/>
            <a:ext cx="365760" cy="0"/>
          </a:xfrm>
          <a:prstGeom prst="line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326880" y="4777740"/>
            <a:ext cx="914400" cy="2560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7C8A83"/>
                </a:solidFill>
                <a:latin typeface="Calibri"/>
              </a:rPr>
              <a:t>approved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Slow work runs in the background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408176"/>
            <a:ext cx="11094415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4F5D56"/>
                </a:solidFill>
                <a:latin typeface="Calibri"/>
              </a:rPr>
              <a:t>The page never waits on Earth Engine or the AI. It queues a job and checks back.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377440"/>
            <a:ext cx="160020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7261E"/>
                </a:solidFill>
                <a:latin typeface="Calibri"/>
              </a:rPr>
              <a:t>pending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40" y="2377440"/>
            <a:ext cx="160020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7261E"/>
                </a:solidFill>
                <a:latin typeface="Calibri"/>
              </a:rPr>
              <a:t>running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80" y="2377440"/>
            <a:ext cx="1600200" cy="658368"/>
          </a:xfrm>
          <a:prstGeom prst="roundRect">
            <a:avLst>
              <a:gd name="adj" fmla="val 14000"/>
            </a:avLst>
          </a:prstGeom>
          <a:solidFill>
            <a:srgbClr val="1E5B3F"/>
          </a:solidFill>
          <a:ln w="15875">
            <a:solidFill>
              <a:srgbClr val="1E5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4069080"/>
            <a:ext cx="1600200" cy="658368"/>
          </a:xfrm>
          <a:prstGeom prst="roundRect">
            <a:avLst>
              <a:gd name="adj" fmla="val 14000"/>
            </a:avLst>
          </a:prstGeom>
          <a:solidFill>
            <a:srgbClr val="FFF4E5"/>
          </a:solidFill>
          <a:ln w="15875">
            <a:solidFill>
              <a:srgbClr val="E2B9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7261E"/>
                </a:solidFill>
                <a:latin typeface="Calibri"/>
              </a:rPr>
              <a:t>error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069080"/>
            <a:ext cx="160020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7261E"/>
                </a:solidFill>
                <a:latin typeface="Calibri"/>
              </a:rPr>
              <a:t>cancelled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286000" y="2706624"/>
            <a:ext cx="777240" cy="0"/>
          </a:xfrm>
          <a:prstGeom prst="line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805939" y="2048256"/>
            <a:ext cx="173736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7C8A83"/>
                </a:solidFill>
                <a:latin typeface="Calibri"/>
              </a:rPr>
              <a:t>worker claims it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663440" y="2706624"/>
            <a:ext cx="777240" cy="0"/>
          </a:xfrm>
          <a:prstGeom prst="line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83380" y="2048256"/>
            <a:ext cx="173736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7C8A83"/>
                </a:solidFill>
                <a:latin typeface="Calibri"/>
              </a:rPr>
              <a:t>result saved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63339" y="3035808"/>
            <a:ext cx="0" cy="1033272"/>
          </a:xfrm>
          <a:prstGeom prst="line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240280" y="3383280"/>
            <a:ext cx="155448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7C8A83"/>
                </a:solidFill>
                <a:latin typeface="Calibri"/>
              </a:rPr>
              <a:t>Earth Engine or the AI failed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1485900" y="3035808"/>
            <a:ext cx="1577340" cy="1362456"/>
          </a:xfrm>
          <a:prstGeom prst="bentConnector3">
            <a:avLst/>
          </a:prstGeom>
          <a:ln w="19050">
            <a:solidFill>
              <a:srgbClr val="A86A1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554480" y="4462272"/>
            <a:ext cx="150876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A86A12"/>
                </a:solidFill>
                <a:latin typeface="Calibri"/>
              </a:rPr>
              <a:t>retried while attempts remain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663440" y="3035808"/>
            <a:ext cx="1577340" cy="1033272"/>
          </a:xfrm>
          <a:prstGeom prst="line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577840" y="3310128"/>
            <a:ext cx="13716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7C8A83"/>
                </a:solidFill>
                <a:latin typeface="Calibri"/>
              </a:rPr>
              <a:t>user cancels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074920"/>
            <a:ext cx="658368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4F5D56"/>
                </a:solidFill>
                <a:latin typeface="Calibri"/>
              </a:rPr>
              <a:t>If a worker dies mid-job its heartbeat stops, and the job goes back to pending for another worker. Example: “Run analysis” → job queued → worker pulls Sentinel-1 from Earth Engine → result saved → page shows it.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20" y="1783080"/>
            <a:ext cx="4050791" cy="3886200"/>
          </a:xfrm>
          <a:prstGeom prst="roundRect">
            <a:avLst>
              <a:gd name="adj" fmla="val 4000"/>
            </a:avLst>
          </a:prstGeom>
          <a:solidFill>
            <a:srgbClr val="F5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99248" y="1837943"/>
            <a:ext cx="3831335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1E5B3F"/>
                </a:solidFill>
                <a:latin typeface="Calibri"/>
              </a:rPr>
              <a:t>WHAT IT RUNS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79" y="21488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7261E"/>
                </a:solidFill>
                <a:latin typeface="Consolas"/>
              </a:rPr>
              <a:t>signal_run  </a:t>
            </a:r>
            <a:r>
              <a:rPr sz="1250">
                <a:solidFill>
                  <a:srgbClr val="4F5D56"/>
                </a:solidFill>
                <a:latin typeface="Calibri"/>
              </a:rPr>
              <a:t>Sentinel-1 analysis for one field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79" y="267919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7261E"/>
                </a:solidFill>
                <a:latin typeface="Consolas"/>
              </a:rPr>
              <a:t>ai_explain  </a:t>
            </a:r>
            <a:r>
              <a:rPr sz="1250">
                <a:solidFill>
                  <a:srgbClr val="4F5D56"/>
                </a:solidFill>
                <a:latin typeface="Calibri"/>
              </a:rPr>
              <a:t>a cited AI explanation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6679" y="3209544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7261E"/>
                </a:solidFill>
                <a:latin typeface="Consolas"/>
              </a:rPr>
              <a:t>methodology_ingest  </a:t>
            </a:r>
            <a:r>
              <a:rPr sz="1250">
                <a:solidFill>
                  <a:srgbClr val="4F5D56"/>
                </a:solidFill>
                <a:latin typeface="Calibri"/>
              </a:rPr>
              <a:t>index methodology PDFs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79" y="3739896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7261E"/>
                </a:solidFill>
                <a:latin typeface="Consolas"/>
              </a:rPr>
              <a:t>multicrop_monitoring  </a:t>
            </a:r>
            <a:r>
              <a:rPr sz="1250">
                <a:solidFill>
                  <a:srgbClr val="4F5D56"/>
                </a:solidFill>
                <a:latin typeface="Calibri"/>
              </a:rPr>
              <a:t>crop monitoring in bulk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6679" y="427024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7261E"/>
                </a:solidFill>
                <a:latin typeface="Consolas"/>
              </a:rPr>
              <a:t>ai_train  </a:t>
            </a:r>
            <a:r>
              <a:rPr sz="1250">
                <a:solidFill>
                  <a:srgbClr val="4F5D56"/>
                </a:solidFill>
                <a:latin typeface="Calibri"/>
              </a:rPr>
              <a:t>train a crop model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79" y="4846320"/>
            <a:ext cx="3840480" cy="7315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50" b="0">
                <a:solidFill>
                  <a:srgbClr val="4F5D56"/>
                </a:solidFill>
                <a:latin typeface="Calibri"/>
              </a:rPr>
              <a:t>Each job is claimed by exactly one worker, limited per organisation, and visible to admins on Worker &amp; queue.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Our solution: Terra-Audit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408176"/>
            <a:ext cx="11094415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4F5D56"/>
                </a:solidFill>
                <a:latin typeface="Calibri"/>
              </a:rPr>
              <a:t>A web platform that turns satellite evidence into a reviewed, verifier-ready carbon report.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48640"/>
            <a:ext cx="932688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148840"/>
            <a:ext cx="3566160" cy="2880360"/>
          </a:xfrm>
          <a:prstGeom prst="roundRect">
            <a:avLst>
              <a:gd name="adj" fmla="val 14000"/>
            </a:avLst>
          </a:prstGeom>
          <a:solidFill>
            <a:srgbClr val="F5F8F6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7261E"/>
                </a:solidFill>
                <a:latin typeface="Calibri"/>
              </a:rPr>
              <a:t/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2423160"/>
            <a:ext cx="868680" cy="868680"/>
          </a:xfrm>
          <a:prstGeom prst="ellipse">
            <a:avLst/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2606040"/>
            <a:ext cx="502920" cy="502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68680" y="3429000"/>
            <a:ext cx="30175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17261E"/>
                </a:solidFill>
                <a:latin typeface="Calibri"/>
              </a:rPr>
              <a:t>Measure from 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886200"/>
            <a:ext cx="301752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0">
                <a:solidFill>
                  <a:srgbClr val="4F5D56"/>
                </a:solidFill>
                <a:latin typeface="Calibri"/>
              </a:rPr>
              <a:t>Sentinel-1 radar shows when each rice field was drained. No sensors in the field.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14800" y="3584448"/>
            <a:ext cx="228600" cy="0"/>
          </a:xfrm>
          <a:prstGeom prst="line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343400" y="2148840"/>
            <a:ext cx="3566160" cy="2880360"/>
          </a:xfrm>
          <a:prstGeom prst="roundRect">
            <a:avLst>
              <a:gd name="adj" fmla="val 14000"/>
            </a:avLst>
          </a:prstGeom>
          <a:solidFill>
            <a:srgbClr val="F5F8F6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7261E"/>
                </a:solidFill>
                <a:latin typeface="Calibri"/>
              </a:rPr>
              <a:t/>
            </a:r>
          </a:p>
        </p:txBody>
      </p:sp>
      <p:sp>
        <p:nvSpPr>
          <p:cNvPr id="24" name="Oval 23"/>
          <p:cNvSpPr/>
          <p:nvPr/>
        </p:nvSpPr>
        <p:spPr>
          <a:xfrm>
            <a:off x="4663440" y="2423160"/>
            <a:ext cx="868680" cy="868680"/>
          </a:xfrm>
          <a:prstGeom prst="ellipse">
            <a:avLst/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606040"/>
            <a:ext cx="502920" cy="5029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663440" y="3429000"/>
            <a:ext cx="30175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17261E"/>
                </a:solidFill>
                <a:latin typeface="Calibri"/>
              </a:rPr>
              <a:t>Calculate by the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886200"/>
            <a:ext cx="301752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0">
                <a:solidFill>
                  <a:srgbClr val="4F5D56"/>
                </a:solidFill>
                <a:latin typeface="Calibri"/>
              </a:rPr>
              <a:t>Verra VM0051 equations turn that evidence into tonnes of CO₂e, and every number keeps its source.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09560" y="3584448"/>
            <a:ext cx="228600" cy="0"/>
          </a:xfrm>
          <a:prstGeom prst="line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138160" y="2148840"/>
            <a:ext cx="3566160" cy="2880360"/>
          </a:xfrm>
          <a:prstGeom prst="roundRect">
            <a:avLst>
              <a:gd name="adj" fmla="val 14000"/>
            </a:avLst>
          </a:prstGeom>
          <a:solidFill>
            <a:srgbClr val="F5F8F6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7261E"/>
                </a:solidFill>
                <a:latin typeface="Calibri"/>
              </a:rPr>
              <a:t/>
            </a:r>
          </a:p>
        </p:txBody>
      </p:sp>
      <p:sp>
        <p:nvSpPr>
          <p:cNvPr id="30" name="Oval 29"/>
          <p:cNvSpPr/>
          <p:nvPr/>
        </p:nvSpPr>
        <p:spPr>
          <a:xfrm>
            <a:off x="8458200" y="2423160"/>
            <a:ext cx="868680" cy="868680"/>
          </a:xfrm>
          <a:prstGeom prst="ellipse">
            <a:avLst/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1080" y="2606040"/>
            <a:ext cx="502920" cy="5029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458200" y="3429000"/>
            <a:ext cx="301752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17261E"/>
                </a:solidFill>
                <a:latin typeface="Calibri"/>
              </a:rPr>
              <a:t>Check, then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3886200"/>
            <a:ext cx="3017520" cy="10058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0">
                <a:solidFill>
                  <a:srgbClr val="4F5D56"/>
                </a:solidFill>
                <a:latin typeface="Calibri"/>
              </a:rPr>
              <a:t>A second person reviews the result. The app then builds the MRV report and evidence package.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303520"/>
            <a:ext cx="11091672" cy="731520"/>
          </a:xfrm>
          <a:prstGeom prst="roundRect">
            <a:avLst>
              <a:gd name="adj" fmla="val 14000"/>
            </a:avLst>
          </a:prstGeom>
          <a:solidFill>
            <a:srgbClr val="1E5B3F"/>
          </a:solidFill>
          <a:ln w="15875">
            <a:solidFill>
              <a:srgbClr val="1E5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Result: a project team can show a verifier exactly where every tonne of CO₂e came from.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 i="1">
                <a:solidFill>
                  <a:srgbClr val="7C8A83"/>
                </a:solidFill>
                <a:latin typeface="Calibri"/>
              </a:rPr>
              <a:t>Built for AWD rice under VM0051; cropland under VM0042 is also supported.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How it works, end to 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408176"/>
            <a:ext cx="11094415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4F5D56"/>
                </a:solidFill>
                <a:latin typeface="Calibri"/>
              </a:rPr>
              <a:t>Six steps take a field from its boundary to a report the verifier can check.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48640"/>
            <a:ext cx="932688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011680"/>
            <a:ext cx="1627632" cy="2057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7261E"/>
                </a:solidFill>
                <a:latin typeface="Calibri"/>
              </a:rPr>
              <a:t/>
            </a:r>
          </a:p>
        </p:txBody>
      </p:sp>
      <p:sp>
        <p:nvSpPr>
          <p:cNvPr id="18" name="Oval 17"/>
          <p:cNvSpPr/>
          <p:nvPr/>
        </p:nvSpPr>
        <p:spPr>
          <a:xfrm>
            <a:off x="996695" y="2194560"/>
            <a:ext cx="731520" cy="731520"/>
          </a:xfrm>
          <a:prstGeom prst="ellipse">
            <a:avLst/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144" y="2350008"/>
            <a:ext cx="420624" cy="4206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4360" y="2971800"/>
            <a:ext cx="1536192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7261E"/>
                </a:solidFill>
                <a:latin typeface="Calibri"/>
              </a:rPr>
              <a:t>Register field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3310128"/>
            <a:ext cx="1481328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0">
                <a:solidFill>
                  <a:srgbClr val="4F5D56"/>
                </a:solidFill>
                <a:latin typeface="Calibri"/>
              </a:rPr>
              <a:t>draw the boundary; district and type detected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14800"/>
            <a:ext cx="1627632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1E5B3F"/>
                </a:solidFill>
                <a:latin typeface="Calibri"/>
              </a:rPr>
              <a:t>field team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176272" y="3035808"/>
            <a:ext cx="265176" cy="0"/>
          </a:xfrm>
          <a:prstGeom prst="line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441448" y="2011680"/>
            <a:ext cx="1627632" cy="2057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7261E"/>
                </a:solidFill>
                <a:latin typeface="Calibri"/>
              </a:rPr>
              <a:t/>
            </a:r>
          </a:p>
        </p:txBody>
      </p:sp>
      <p:sp>
        <p:nvSpPr>
          <p:cNvPr id="25" name="Oval 24"/>
          <p:cNvSpPr/>
          <p:nvPr/>
        </p:nvSpPr>
        <p:spPr>
          <a:xfrm>
            <a:off x="2889504" y="2194560"/>
            <a:ext cx="731520" cy="731520"/>
          </a:xfrm>
          <a:prstGeom prst="ellipse">
            <a:avLst/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4952" y="2350008"/>
            <a:ext cx="420624" cy="42062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487168" y="2971800"/>
            <a:ext cx="1536192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7261E"/>
                </a:solidFill>
                <a:latin typeface="Calibri"/>
              </a:rPr>
              <a:t>Record season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3310128"/>
            <a:ext cx="1481328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0">
                <a:solidFill>
                  <a:srgbClr val="4F5D56"/>
                </a:solidFill>
                <a:latin typeface="Calibri"/>
              </a:rPr>
              <a:t>crop, dates and field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41448" y="4114800"/>
            <a:ext cx="1627632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1E5B3F"/>
                </a:solidFill>
                <a:latin typeface="Calibri"/>
              </a:rPr>
              <a:t>field team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069080" y="3035808"/>
            <a:ext cx="265176" cy="0"/>
          </a:xfrm>
          <a:prstGeom prst="line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334255" y="2011680"/>
            <a:ext cx="1627632" cy="2057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7261E"/>
                </a:solidFill>
                <a:latin typeface="Calibri"/>
              </a:rPr>
              <a:t/>
            </a:r>
          </a:p>
        </p:txBody>
      </p:sp>
      <p:sp>
        <p:nvSpPr>
          <p:cNvPr id="32" name="Oval 31"/>
          <p:cNvSpPr/>
          <p:nvPr/>
        </p:nvSpPr>
        <p:spPr>
          <a:xfrm>
            <a:off x="4782312" y="2194560"/>
            <a:ext cx="731520" cy="731520"/>
          </a:xfrm>
          <a:prstGeom prst="ellipse">
            <a:avLst/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59" y="2350008"/>
            <a:ext cx="420624" cy="42062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379975" y="2971800"/>
            <a:ext cx="1536192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7261E"/>
                </a:solidFill>
                <a:latin typeface="Calibri"/>
              </a:rPr>
              <a:t>Satellite 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407" y="3310128"/>
            <a:ext cx="1481328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0">
                <a:solidFill>
                  <a:srgbClr val="4F5D56"/>
                </a:solidFill>
                <a:latin typeface="Calibri"/>
              </a:rPr>
              <a:t>Sentinel-1 counts the drydowns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34255" y="4114800"/>
            <a:ext cx="1627632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1E5B3F"/>
                </a:solidFill>
                <a:latin typeface="Calibri"/>
              </a:rPr>
              <a:t>automatic (worker)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61888" y="3035808"/>
            <a:ext cx="265176" cy="0"/>
          </a:xfrm>
          <a:prstGeom prst="line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227063" y="2011680"/>
            <a:ext cx="1627632" cy="2057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7261E"/>
                </a:solidFill>
                <a:latin typeface="Calibri"/>
              </a:rPr>
              <a:t/>
            </a:r>
          </a:p>
        </p:txBody>
      </p:sp>
      <p:sp>
        <p:nvSpPr>
          <p:cNvPr id="39" name="Oval 38"/>
          <p:cNvSpPr/>
          <p:nvPr/>
        </p:nvSpPr>
        <p:spPr>
          <a:xfrm>
            <a:off x="6675119" y="2194560"/>
            <a:ext cx="731520" cy="731520"/>
          </a:xfrm>
          <a:prstGeom prst="ellipse">
            <a:avLst/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0567" y="2350008"/>
            <a:ext cx="420624" cy="4206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272783" y="2971800"/>
            <a:ext cx="1536192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7261E"/>
                </a:solidFill>
                <a:latin typeface="Calibri"/>
              </a:rPr>
              <a:t>Calculate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0215" y="3310128"/>
            <a:ext cx="1481328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0">
                <a:solidFill>
                  <a:srgbClr val="4F5D56"/>
                </a:solidFill>
                <a:latin typeface="Calibri"/>
              </a:rPr>
              <a:t>VM0051 gives tCO₂e; inputs are frozen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27063" y="4114800"/>
            <a:ext cx="1627632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1E5B3F"/>
                </a:solidFill>
                <a:latin typeface="Calibri"/>
              </a:rPr>
              <a:t>one click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854695" y="3035808"/>
            <a:ext cx="265176" cy="0"/>
          </a:xfrm>
          <a:prstGeom prst="line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119871" y="2011680"/>
            <a:ext cx="1627632" cy="2057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7261E"/>
                </a:solidFill>
                <a:latin typeface="Calibri"/>
              </a:rPr>
              <a:t/>
            </a:r>
          </a:p>
        </p:txBody>
      </p:sp>
      <p:sp>
        <p:nvSpPr>
          <p:cNvPr id="46" name="Oval 45"/>
          <p:cNvSpPr/>
          <p:nvPr/>
        </p:nvSpPr>
        <p:spPr>
          <a:xfrm>
            <a:off x="8567928" y="2194560"/>
            <a:ext cx="731520" cy="731520"/>
          </a:xfrm>
          <a:prstGeom prst="ellipse">
            <a:avLst/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23376" y="2350008"/>
            <a:ext cx="420624" cy="42062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165592" y="2971800"/>
            <a:ext cx="1536192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17261E"/>
                </a:solidFill>
                <a:latin typeface="Calibri"/>
              </a:rPr>
              <a:t>Review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93023" y="3310128"/>
            <a:ext cx="1481328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0">
                <a:solidFill>
                  <a:srgbClr val="4F5D56"/>
                </a:solidFill>
                <a:latin typeface="Calibri"/>
              </a:rPr>
              <a:t>a second person approves or asks for changes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19871" y="4114800"/>
            <a:ext cx="1627632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1E5B3F"/>
                </a:solidFill>
                <a:latin typeface="Calibri"/>
              </a:rPr>
              <a:t>reviewer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747503" y="3035808"/>
            <a:ext cx="265176" cy="0"/>
          </a:xfrm>
          <a:prstGeom prst="line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10012680" y="2011680"/>
            <a:ext cx="1627632" cy="2057400"/>
          </a:xfrm>
          <a:prstGeom prst="roundRect">
            <a:avLst>
              <a:gd name="adj" fmla="val 14000"/>
            </a:avLst>
          </a:prstGeom>
          <a:solidFill>
            <a:srgbClr val="1E5B3F"/>
          </a:solidFill>
          <a:ln w="15875">
            <a:solidFill>
              <a:srgbClr val="1E5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7261E"/>
                </a:solidFill>
                <a:latin typeface="Calibri"/>
              </a:rPr>
              <a:t/>
            </a:r>
          </a:p>
        </p:txBody>
      </p:sp>
      <p:sp>
        <p:nvSpPr>
          <p:cNvPr id="53" name="Oval 52"/>
          <p:cNvSpPr/>
          <p:nvPr/>
        </p:nvSpPr>
        <p:spPr>
          <a:xfrm>
            <a:off x="10460736" y="219456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16184" y="2350008"/>
            <a:ext cx="420624" cy="420624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0058400" y="2971800"/>
            <a:ext cx="1536192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MRV report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85832" y="3310128"/>
            <a:ext cx="1481328" cy="6858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50" b="0">
                <a:solidFill>
                  <a:srgbClr val="D7EBDF"/>
                </a:solidFill>
                <a:latin typeface="Calibri"/>
              </a:rPr>
              <a:t>PDF + evidence ZIP for the verifier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12680" y="4114800"/>
            <a:ext cx="1627632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1">
                <a:solidFill>
                  <a:srgbClr val="1E5B3F"/>
                </a:solidFill>
                <a:latin typeface="Calibri"/>
              </a:rPr>
              <a:t>project lead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" y="4709160"/>
            <a:ext cx="11091672" cy="1325880"/>
          </a:xfrm>
          <a:prstGeom prst="roundRect">
            <a:avLst>
              <a:gd name="adj" fmla="val 4000"/>
            </a:avLst>
          </a:prstGeom>
          <a:solidFill>
            <a:srgbClr val="F5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8368" y="4764024"/>
            <a:ext cx="10872216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1E5B3F"/>
                </a:solidFill>
                <a:latin typeface="Calibri"/>
              </a:rPr>
              <a:t>BEHIND THE SCENES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1520" y="5120640"/>
            <a:ext cx="1664208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17261E"/>
                </a:solidFill>
                <a:latin typeface="Calibri"/>
              </a:rPr>
              <a:t>Next.js web app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542032" y="5120640"/>
            <a:ext cx="1664208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17261E"/>
                </a:solidFill>
                <a:latin typeface="Calibri"/>
              </a:rPr>
              <a:t>FastAPI backend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352544" y="5120640"/>
            <a:ext cx="1664208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17261E"/>
                </a:solidFill>
                <a:latin typeface="Calibri"/>
              </a:rPr>
              <a:t>Background worker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63055" y="5120640"/>
            <a:ext cx="1664208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17261E"/>
                </a:solidFill>
                <a:latin typeface="Calibri"/>
              </a:rPr>
              <a:t>PostgreSQL (Neon)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973568" y="5120640"/>
            <a:ext cx="1664208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17261E"/>
                </a:solidFill>
                <a:latin typeface="Calibri"/>
              </a:rPr>
              <a:t>Google Earth Engine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784080" y="5120640"/>
            <a:ext cx="1664208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17261E"/>
                </a:solidFill>
                <a:latin typeface="Calibri"/>
              </a:rPr>
              <a:t>AI explanations (Groq)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100" b="0" i="1">
                <a:solidFill>
                  <a:srgbClr val="7C8A83"/>
                </a:solidFill>
                <a:latin typeface="Calibri"/>
              </a:rPr>
              <a:t>Every step is saved with its evidence, so the final report can be traced back to the field.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Terra-Audit — SE801 Final Presentation</dc:title>
  <dc:subject>AI-Assisted Digital MRV Platform for AWD Rice Irrigation and ALM Carbon Credits</dc:subject>
  <dc:creator>Kazi Nahid</dc:creator>
  <cp:keywords>digital MRV; AWD rice; VM0051; VM0042; carbon accounting; SE801</cp:keywords>
  <dc:description>generated using python-pptx</dc:description>
  <cp:lastModifiedBy>Kazi Nahid</cp:lastModifiedBy>
  <cp:revision>1</cp:revision>
  <dcterms:created xsi:type="dcterms:W3CDTF">2013-01-27T09:14:16Z</dcterms:created>
  <dcterms:modified xsi:type="dcterms:W3CDTF">2013-01-27T09:15:58Z</dcterms:modified>
  <cp:category/>
</cp:coreProperties>
</file>