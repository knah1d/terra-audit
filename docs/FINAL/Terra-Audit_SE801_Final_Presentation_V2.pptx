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73" r:id="rId25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141468E-353B-4899-A33C-40920B95AB61}">
          <p14:sldIdLst>
            <p14:sldId id="256"/>
          </p14:sldIdLst>
        </p14:section>
        <p14:section name="Introduction" id="{B7FF5504-4B35-4462-802C-8A655E73C578}">
          <p14:sldIdLst>
            <p14:sldId id="257"/>
            <p14:sldId id="258"/>
          </p14:sldIdLst>
        </p14:section>
        <p14:section name="System" id="{074DCF68-8D68-45B6-B95F-2DA5676C48FB}">
          <p14:sldIdLst>
            <p14:sldId id="259"/>
            <p14:sldId id="260"/>
            <p14:sldId id="261"/>
            <p14:sldId id="262"/>
            <p14:sldId id="263"/>
          </p14:sldIdLst>
        </p14:section>
        <p14:section name="Design" id="{DF2B1458-8183-434C-A230-F0859EB71162}">
          <p14:sldIdLst>
            <p14:sldId id="264"/>
            <p14:sldId id="265"/>
            <p14:sldId id="266"/>
          </p14:sldIdLst>
        </p14:section>
        <p14:section name="Code &amp; tests" id="{9A54FB48-1EBC-4132-B3F5-A2A56A5630E6}">
          <p14:sldIdLst>
            <p14:sldId id="267"/>
            <p14:sldId id="268"/>
            <p14:sldId id="269"/>
            <p14:sldId id="270"/>
          </p14:sldIdLst>
        </p14:section>
        <p14:section name="Reflection" id="{179C8A50-55EE-459D-96B5-33DC0D46AC31}">
          <p14:sldIdLst>
            <p14:sldId id="271"/>
          </p14:sldIdLst>
        </p14:section>
        <p14:section name="Closing" id="{346BDD3D-65AA-4AAC-9410-E489DCC81EF6}">
          <p14:sldIdLst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VV z-score (smoothed backscatter)</c:v>
                </c:pt>
              </c:strCache>
            </c:strRef>
          </c:tx>
          <c:spPr>
            <a:ln w="34925">
              <a:solidFill>
                <a:srgbClr val="1E5B3F"/>
              </a:solidFill>
            </a:ln>
          </c:spPr>
          <c:marker>
            <c:symbol val="circle"/>
            <c:size val="6"/>
            <c:spPr>
              <a:solidFill>
                <a:srgbClr val="1E5B3F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1.023</c:v>
                </c:pt>
                <c:pt idx="1">
                  <c:v>0.441</c:v>
                </c:pt>
                <c:pt idx="2">
                  <c:v>-0.14</c:v>
                </c:pt>
                <c:pt idx="3">
                  <c:v>-0.942</c:v>
                </c:pt>
                <c:pt idx="4">
                  <c:v>-1.44</c:v>
                </c:pt>
                <c:pt idx="5">
                  <c:v>-0.111</c:v>
                </c:pt>
                <c:pt idx="6">
                  <c:v>0.39</c:v>
                </c:pt>
                <c:pt idx="7">
                  <c:v>-0.606</c:v>
                </c:pt>
                <c:pt idx="8">
                  <c:v>-1.326</c:v>
                </c:pt>
                <c:pt idx="9">
                  <c:v>-0.083</c:v>
                </c:pt>
                <c:pt idx="10">
                  <c:v>0.857</c:v>
                </c:pt>
                <c:pt idx="11">
                  <c:v>1.936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Flood threshold (−0.8)</c:v>
                </c:pt>
              </c:strCache>
            </c:strRef>
          </c:tx>
          <c:spPr>
            <a:ln w="19050">
              <a:solidFill>
                <a:srgbClr val="9AA7A0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-0.8</c:v>
                </c:pt>
                <c:pt idx="1">
                  <c:v>-0.8</c:v>
                </c:pt>
                <c:pt idx="2">
                  <c:v>-0.8</c:v>
                </c:pt>
                <c:pt idx="3">
                  <c:v>-0.8</c:v>
                </c:pt>
                <c:pt idx="4">
                  <c:v>-0.8</c:v>
                </c:pt>
                <c:pt idx="5">
                  <c:v>-0.8</c:v>
                </c:pt>
                <c:pt idx="6">
                  <c:v>-0.8</c:v>
                </c:pt>
                <c:pt idx="7">
                  <c:v>-0.8</c:v>
                </c:pt>
                <c:pt idx="8">
                  <c:v>-0.8</c:v>
                </c:pt>
                <c:pt idx="9">
                  <c:v>-0.8</c:v>
                </c:pt>
                <c:pt idx="10">
                  <c:v>-0.8</c:v>
                </c:pt>
                <c:pt idx="11">
                  <c:v>-0.8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Flooded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3E556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-0.942</c:v>
                </c:pt>
                <c:pt idx="4">
                  <c:v>-1.44</c:v>
                </c:pt>
                <c:pt idx="8">
                  <c:v>-1.326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AWD drydown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12"/>
            <c:spPr>
              <a:solidFill>
                <a:srgbClr val="D99A1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5">
                  <c:v>-0.111</c:v>
                </c:pt>
                <c:pt idx="9">
                  <c:v>-0.083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6E3DA"/>
            </a:solidFill>
          </a:ln>
        </c:spPr>
        <c:txPr>
          <a:bodyPr/>
          <a:lstStyle/>
          <a:p>
            <a:pPr>
              <a:defRPr sz="900">
                <a:solidFill>
                  <a:srgbClr val="4F5D5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2.5"/>
          <c:min val="-2.0"/>
        </c:scaling>
        <c:delete val="0"/>
        <c:axPos val="l"/>
        <c:majorGridlines>
          <c:spPr>
            <a:ln>
              <a:solidFill>
                <a:srgbClr val="E3EA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F5D56"/>
                </a:solidFill>
              </a:defRPr>
            </a:pPr>
          </a:p>
        </c:txPr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VV z-score (smoothed backscatter)</c:v>
                </c:pt>
              </c:strCache>
            </c:strRef>
          </c:tx>
          <c:spPr>
            <a:ln w="34925">
              <a:solidFill>
                <a:srgbClr val="1E5B3F"/>
              </a:solidFill>
            </a:ln>
          </c:spPr>
          <c:marker>
            <c:symbol val="circle"/>
            <c:size val="6"/>
            <c:spPr>
              <a:solidFill>
                <a:srgbClr val="1E5B3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4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E5B3F"/>
                        </a:solidFill>
                      </a:rPr>
                      <a:t>Sowing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E5B3F"/>
                        </a:solidFill>
                      </a:rPr>
                      <a:t>Harvest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1.023</c:v>
                </c:pt>
                <c:pt idx="1">
                  <c:v>0.441</c:v>
                </c:pt>
                <c:pt idx="2">
                  <c:v>-0.14</c:v>
                </c:pt>
                <c:pt idx="3">
                  <c:v>-0.942</c:v>
                </c:pt>
                <c:pt idx="4">
                  <c:v>-1.44</c:v>
                </c:pt>
                <c:pt idx="5">
                  <c:v>-0.111</c:v>
                </c:pt>
                <c:pt idx="6">
                  <c:v>0.39</c:v>
                </c:pt>
                <c:pt idx="7">
                  <c:v>-0.606</c:v>
                </c:pt>
                <c:pt idx="8">
                  <c:v>-1.326</c:v>
                </c:pt>
                <c:pt idx="9">
                  <c:v>-0.083</c:v>
                </c:pt>
                <c:pt idx="10">
                  <c:v>0.857</c:v>
                </c:pt>
                <c:pt idx="11">
                  <c:v>1.936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Flood threshold (−0.8)</c:v>
                </c:pt>
              </c:strCache>
            </c:strRef>
          </c:tx>
          <c:spPr>
            <a:ln w="19050">
              <a:solidFill>
                <a:srgbClr val="9AA7A0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-0.8</c:v>
                </c:pt>
                <c:pt idx="1">
                  <c:v>-0.8</c:v>
                </c:pt>
                <c:pt idx="2">
                  <c:v>-0.8</c:v>
                </c:pt>
                <c:pt idx="3">
                  <c:v>-0.8</c:v>
                </c:pt>
                <c:pt idx="4">
                  <c:v>-0.8</c:v>
                </c:pt>
                <c:pt idx="5">
                  <c:v>-0.8</c:v>
                </c:pt>
                <c:pt idx="6">
                  <c:v>-0.8</c:v>
                </c:pt>
                <c:pt idx="7">
                  <c:v>-0.8</c:v>
                </c:pt>
                <c:pt idx="8">
                  <c:v>-0.8</c:v>
                </c:pt>
                <c:pt idx="9">
                  <c:v>-0.8</c:v>
                </c:pt>
                <c:pt idx="10">
                  <c:v>-0.8</c:v>
                </c:pt>
                <c:pt idx="11">
                  <c:v>-0.8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Flooded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1"/>
            <c:spPr>
              <a:solidFill>
                <a:srgbClr val="3E556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-0.942</c:v>
                </c:pt>
                <c:pt idx="4">
                  <c:v>-1.44</c:v>
                </c:pt>
                <c:pt idx="8">
                  <c:v>-1.326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AWD drydown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14"/>
            <c:spPr>
              <a:solidFill>
                <a:srgbClr val="D99A1E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A86A12"/>
                        </a:solidFill>
                      </a:rPr>
                      <a:t>Drydown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A86A12"/>
                        </a:solidFill>
                      </a:rPr>
                      <a:t>Drydown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5">
                  <c:v>-0.111</c:v>
                </c:pt>
                <c:pt idx="9">
                  <c:v>-0.083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6E3DA"/>
            </a:solidFill>
          </a:ln>
        </c:spPr>
        <c:txPr>
          <a:bodyPr/>
          <a:lstStyle/>
          <a:p>
            <a:pPr>
              <a:defRPr sz="1100">
                <a:solidFill>
                  <a:srgbClr val="4F5D5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.5"/>
          <c:min val="-2.0"/>
        </c:scaling>
        <c:delete val="0"/>
        <c:axPos val="l"/>
        <c:majorGridlines>
          <c:spPr>
            <a:ln>
              <a:solidFill>
                <a:srgbClr val="E3EA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F5D56"/>
                </a:solidFill>
              </a:defRPr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· builds automatically] Good morning. I'm Kazi Nahid; my project is Terra-Audit — a platform that turns a rice field into an auditable carbon claim, with every number traceable to its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Flooded paddies are a major methane source. AWD is a proven fix — the IPCC factor drops from 1.00 to 0.55. [click] The problem is MRV: proving the practice happened, and keeping the carbon number traceable to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One sentence: an evidence pipeline, not a black-box calculator. [click] Seven steps — the highlighted ones, satellite analytics and the calculation, are the two engines I'll open up next. [click] Two Verra methodologies implemented in deterministic code: rice AWD and agricultural land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Radar sees through monsoon clouds. [click] The chart draws: flooded fields reflect less, so VV drops; when the field drains, VV jumps. [click] The three rules — below −0.8 is flooded; a jump right after a flooded date is a drydown; VH gives sowing and harvest. This live run found two drydowns and an 84-day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[click] Two models cross-check the rule engine: 75% and 69% agreement. [click] And I say upfront what this is not — there's no independent field ground truth yet, so these are agreement scores and ML stays advisory.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Plain deterministic code, not AI. [click] The four lines appear in order: emissions, the difference, CO2e, and the net reduction. [click] The 0.55 factor — two or more drydowns — is where AWD's benefit comes from. [click] Worked example: one hectare, 84 days, two drydowns gives 2.12 tonnes CO2e, computed by the engine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[click] Every methodology requirement gets an explicit state. The bottom two — leakage and additionality — are unsupported and stay blocking: the system tells you what it cannot check. [click] At commit everything is frozen into a snapshot so the number is reproducible, then it goes through internal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[click] The top lane is deterministic and authoritative — it owns every number. [click] The bottom lane is AI: bounded context, an LLM, and a validator; the output is only a draft for a human reviewer. [click] Three guardrails — test case TC-06 proves the validator.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[click] Three layers: Next.js talks to FastAPI through an authenticated proxy; FastAPI enforces roles; domain logic lives in shared components. [click] Deployed on Vercel and Railway, with a separate worker for long satellite and AI jobs. [click] And how it evolved from the midterm Streamlit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Component-level design. [click] The key classes and modules with their main operations — each maps to one responsibility, and storage is a strategy: local filesystem or S3. [click] Over fifty tables, grouped by domain. [click] Behaviour: a calculation is draft or ready-for-review depending on blocking readiness items, and is superseded, never edited; jobs move pending → running → done, with cancellation and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Interface design as the user sees it. [click] Registering a field: three input modes, the map previews the boundary and area. [click] Signal analytics: validation is inline — here an invalid date range — and running the engine creates a background job. [click] Calculation: Check readiness renders the checklist; commit freezes a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· no builds] Code review. Highlighted lines are the two rules. The table on the left is exactly what this code outputs for the live field — z-score, flooded flag and drydown flag — so a reviewer can verify each event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· no builds] The engine mirrors the equation slide. Highlighted: the QA3 gate — above 60,000 tonnes per year it returns None rather than a wrong number. On the right, the actual unit test proving it with a 500,000-hectare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177 backend tests, zero failures — re-run this week — plus frontend tests, build, type check and lint. [click] Tests are layered so a green calculator can't hide a broken permission check. [click] Pass criteria and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· no builds] Four cases, one per risk: the calculator refuses an invalid pathway, tenants are isolated, exports stay reproducible after edits, and AI cannot claim certification. All pass in the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[click] Three hard problems and how I solved them — the emission-factor correction is the best story: code-level citations plus tests caught a value that inflated every result by about 1.65×. [click] Then state the limitations confidently — they are documented in the product itself,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1.xml"/><Relationship Id="rId6" Type="http://schemas.openxmlformats.org/officeDocument/2006/relationships/image" Target="../media/image4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dark green topographi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752" y="2130552"/>
            <a:ext cx="5669280" cy="1005840"/>
          </a:xfrm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Calibri"/>
              </a:rPr>
              <a:t>Terra-Audit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48640" y="457200"/>
            <a:ext cx="6108192" cy="603504"/>
            <a:chOff x="548640" y="457200"/>
            <a:chExt cx="6108192" cy="603504"/>
          </a:xfrm>
        </p:grpSpPr>
        <p:pic>
          <p:nvPicPr>
            <p:cNvPr id="5" name="Picture 4" descr="University of Dhaka cres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457200"/>
              <a:ext cx="475488" cy="60076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170432" y="457200"/>
              <a:ext cx="5486400" cy="603504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Institute of Information Technology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CFE6D8"/>
                  </a:solidFill>
                  <a:latin typeface="Calibri"/>
                </a:rPr>
                <a:t>University of Dhaka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8640" y="1600200"/>
            <a:ext cx="3794760" cy="365760"/>
            <a:chOff x="548640" y="1600200"/>
            <a:chExt cx="3794760" cy="365760"/>
          </a:xfrm>
        </p:grpSpPr>
        <p:sp>
          <p:nvSpPr>
            <p:cNvPr id="8" name="Rounded Rectangle 7"/>
            <p:cNvSpPr/>
            <p:nvPr/>
          </p:nvSpPr>
          <p:spPr>
            <a:xfrm>
              <a:off x="548640" y="1600200"/>
              <a:ext cx="3794760" cy="36576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rgbClr val="6CC0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4360" y="1636776"/>
              <a:ext cx="3703320" cy="29260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1">
                  <a:solidFill>
                    <a:srgbClr val="6CC08F"/>
                  </a:solidFill>
                  <a:latin typeface="Calibri"/>
                </a:rPr>
                <a:t>SE801  ·  SOFTWARE PROJECT LAB 3  ·  FINAL DEFENSE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48640" y="2331720"/>
            <a:ext cx="731520" cy="731520"/>
            <a:chOff x="548640" y="2331720"/>
            <a:chExt cx="731520" cy="731520"/>
          </a:xfrm>
        </p:grpSpPr>
        <p:pic>
          <p:nvPicPr>
            <p:cNvPr id="11" name="Picture 10" descr="leaf icon (decorative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2331720"/>
              <a:ext cx="731520" cy="731520"/>
            </a:xfrm>
            <a:prstGeom prst="rect">
              <a:avLst/>
            </a:prstGeom>
          </p:spPr>
        </p:pic>
      </p:grpSp>
      <p:sp>
        <p:nvSpPr>
          <p:cNvPr id="12" name="TextBox 11"/>
          <p:cNvSpPr txBox="1"/>
          <p:nvPr/>
        </p:nvSpPr>
        <p:spPr>
          <a:xfrm>
            <a:off x="548640" y="3246120"/>
            <a:ext cx="598932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CFE6D8"/>
                </a:solidFill>
                <a:latin typeface="Calibri"/>
              </a:rPr>
              <a:t>AI-Assisted Digital MRV Platform for AWD Rice Irrigation and Agricultural Land Management Carbon Credits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48640" y="4206240"/>
            <a:ext cx="6217919" cy="1874520"/>
            <a:chOff x="548640" y="4206240"/>
            <a:chExt cx="6217919" cy="1874520"/>
          </a:xfrm>
        </p:grpSpPr>
        <p:sp>
          <p:nvSpPr>
            <p:cNvPr id="14" name="Rectangle 13"/>
            <p:cNvSpPr/>
            <p:nvPr/>
          </p:nvSpPr>
          <p:spPr>
            <a:xfrm>
              <a:off x="548640" y="4206240"/>
              <a:ext cx="822960" cy="45720"/>
            </a:xfrm>
            <a:prstGeom prst="rect">
              <a:avLst/>
            </a:prstGeom>
            <a:solidFill>
              <a:srgbClr val="6CC0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PRESENTED BY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Kazi Nahid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BSSE Roll 1437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87168" y="5029200"/>
              <a:ext cx="10972" cy="914400"/>
            </a:xfrm>
            <a:prstGeom prst="rect">
              <a:avLst/>
            </a:prstGeom>
            <a:solidFill>
              <a:srgbClr val="3D6B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51760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SUPERVISED BY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Dr. Emon Kumar Dey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Professor, IIT, DU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90288" y="5029200"/>
              <a:ext cx="10972" cy="914400"/>
            </a:xfrm>
            <a:prstGeom prst="rect">
              <a:avLst/>
            </a:prstGeom>
            <a:solidFill>
              <a:srgbClr val="3D6B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54879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DATE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October 2026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Final defense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720840" y="1234440"/>
            <a:ext cx="4937760" cy="3703320"/>
            <a:chOff x="6720840" y="1234440"/>
            <a:chExt cx="4937760" cy="3703320"/>
          </a:xfrm>
        </p:grpSpPr>
        <p:sp>
          <p:nvSpPr>
            <p:cNvPr id="21" name="Rounded Rectangle 20"/>
            <p:cNvSpPr/>
            <p:nvPr/>
          </p:nvSpPr>
          <p:spPr>
            <a:xfrm>
              <a:off x="6720840" y="1234440"/>
              <a:ext cx="4937760" cy="37033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720840" y="1234440"/>
              <a:ext cx="4937760" cy="384048"/>
            </a:xfrm>
            <a:prstGeom prst="rect">
              <a:avLst/>
            </a:prstGeom>
            <a:solidFill>
              <a:srgbClr val="EEF3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867144" y="1371600"/>
              <a:ext cx="109728" cy="109728"/>
            </a:xfrm>
            <a:prstGeom prst="ellipse">
              <a:avLst/>
            </a:prstGeom>
            <a:solidFill>
              <a:srgbClr val="E06C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050024" y="1371600"/>
              <a:ext cx="109728" cy="109728"/>
            </a:xfrm>
            <a:prstGeom prst="ellipse">
              <a:avLst/>
            </a:prstGeom>
            <a:solidFill>
              <a:srgbClr val="E3B3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232904" y="1371600"/>
              <a:ext cx="109728" cy="109728"/>
            </a:xfrm>
            <a:prstGeom prst="ellipse">
              <a:avLst/>
            </a:prstGeom>
            <a:solidFill>
              <a:srgbClr val="5FB7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635240" y="1307592"/>
              <a:ext cx="3108960" cy="24688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662671" y="1344168"/>
              <a:ext cx="3054096" cy="17373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alibri"/>
                </a:rPr>
                <a:t>terra-audit.vercel.app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95159" y="1764792"/>
              <a:ext cx="4389120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17261E"/>
                  </a:solidFill>
                  <a:latin typeface="Calibri"/>
                </a:rPr>
                <a:t>Signal analytics · Sentinel-1 AWD detection</a:t>
              </a:r>
            </a:p>
          </p:txBody>
        </p:sp>
      </p:grp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830568" y="2103120"/>
          <a:ext cx="4718304" cy="27432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6355080" y="5166360"/>
            <a:ext cx="2926080" cy="914400"/>
            <a:chOff x="6355080" y="5166360"/>
            <a:chExt cx="2926080" cy="914400"/>
          </a:xfrm>
        </p:grpSpPr>
        <p:sp>
          <p:nvSpPr>
            <p:cNvPr id="31" name="Rounded Rectangle 30"/>
            <p:cNvSpPr/>
            <p:nvPr/>
          </p:nvSpPr>
          <p:spPr>
            <a:xfrm>
              <a:off x="6355080" y="5166360"/>
              <a:ext cx="2926080" cy="914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6510528" y="5349240"/>
              <a:ext cx="548640" cy="548640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3" name="Picture 32" descr="droplets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42201" y="5480913"/>
              <a:ext cx="285292" cy="285292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7178040" y="5239512"/>
              <a:ext cx="205740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2 AWD drydowns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→ 2.12 tCO₂e / ha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9372600" y="5440680"/>
            <a:ext cx="2286000" cy="384048"/>
            <a:chOff x="9372600" y="5440680"/>
            <a:chExt cx="2286000" cy="384048"/>
          </a:xfrm>
        </p:grpSpPr>
        <p:sp>
          <p:nvSpPr>
            <p:cNvPr id="36" name="Rounded Rectangle 35"/>
            <p:cNvSpPr/>
            <p:nvPr/>
          </p:nvSpPr>
          <p:spPr>
            <a:xfrm>
              <a:off x="9372600" y="5440680"/>
              <a:ext cx="2286000" cy="384048"/>
            </a:xfrm>
            <a:prstGeom prst="roundRect">
              <a:avLst>
                <a:gd name="adj" fmla="val 50000"/>
              </a:avLst>
            </a:prstGeom>
            <a:solidFill>
              <a:srgbClr val="6CC0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409176" y="5477256"/>
              <a:ext cx="2212848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123526"/>
                  </a:solidFill>
                  <a:latin typeface="Calibri"/>
                </a:rPr>
                <a:t>Verra VM0051 · VM0042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Flooded rice emits methane — and AWD reductions are hard to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2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4206240" cy="4572000"/>
            <a:chOff x="548640" y="1481328"/>
            <a:chExt cx="4206240" cy="457200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4206240" cy="4572000"/>
            </a:xfrm>
            <a:prstGeom prst="roundRect">
              <a:avLst>
                <a:gd name="adj" fmla="val 6000"/>
              </a:avLst>
            </a:prstGeom>
            <a:solidFill>
              <a:srgbClr val="1235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8680" y="1755648"/>
              <a:ext cx="36576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CC08F"/>
                  </a:solidFill>
                  <a:latin typeface="Calibri"/>
                </a:rPr>
                <a:t>METHANE EMISSION FACTOR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22959" y="2212848"/>
              <a:ext cx="3840480" cy="9144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4600" b="1">
                  <a:solidFill>
                    <a:srgbClr val="FFFFFF"/>
                  </a:solidFill>
                  <a:latin typeface="Calibri"/>
                </a:rPr>
                <a:t>1.00</a:t>
              </a:r>
              <a:r>
                <a:rPr sz="4600" b="1">
                  <a:solidFill>
                    <a:srgbClr val="6CC08F"/>
                  </a:solidFill>
                  <a:latin typeface="Calibri"/>
                </a:rPr>
                <a:t> → </a:t>
              </a:r>
              <a:r>
                <a:rPr sz="4600" b="1">
                  <a:solidFill>
                    <a:srgbClr val="F2C46D"/>
                  </a:solidFill>
                  <a:latin typeface="Calibri"/>
                </a:rPr>
                <a:t>0.55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68680" y="3310128"/>
              <a:ext cx="365760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600" b="0">
                  <a:solidFill>
                    <a:srgbClr val="CFE6D8"/>
                  </a:solidFill>
                  <a:latin typeface="Calibri"/>
                </a:rPr>
                <a:t>Alternate Wetting &amp; Drying (AWD) — draining the field at least twice per season — cuts the daily methane factor by 45% versus continuous flooding.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68680" y="5367528"/>
              <a:ext cx="3657600" cy="4572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9FC2AE"/>
                  </a:solidFill>
                  <a:latin typeface="Calibri"/>
                </a:rPr>
                <a:t>IPCC 2019 Table 5.12, used by Verra VM0051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074920" y="1481328"/>
            <a:ext cx="6568135" cy="1371600"/>
            <a:chOff x="5074920" y="1481328"/>
            <a:chExt cx="6568135" cy="1371600"/>
          </a:xfrm>
        </p:grpSpPr>
        <p:sp>
          <p:nvSpPr>
            <p:cNvPr id="23" name="Rounded Rectangle 22"/>
            <p:cNvSpPr/>
            <p:nvPr/>
          </p:nvSpPr>
          <p:spPr>
            <a:xfrm>
              <a:off x="5074920" y="1481328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349240" y="1865376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5" name="Picture 24" descr="ey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94080" y="2010216"/>
              <a:ext cx="313822" cy="313822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6172200" y="1664208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Practice claims are hard to verify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Farmer irrigation logs are incomplete; sensors on every smallholder plot are too costly.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074920" y="3054096"/>
            <a:ext cx="6568135" cy="1371600"/>
            <a:chOff x="5074920" y="3054096"/>
            <a:chExt cx="6568135" cy="1371600"/>
          </a:xfrm>
        </p:grpSpPr>
        <p:sp>
          <p:nvSpPr>
            <p:cNvPr id="28" name="Rounded Rectangle 27"/>
            <p:cNvSpPr/>
            <p:nvPr/>
          </p:nvSpPr>
          <p:spPr>
            <a:xfrm>
              <a:off x="5074920" y="3054096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349240" y="3438144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0" name="Picture 29" descr="file x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94080" y="3582984"/>
              <a:ext cx="313822" cy="313822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6172200" y="3236976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Evidence gets separated from the number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Spreadsheets lose the factors, methodology version and history behind a result.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074920" y="4626864"/>
            <a:ext cx="6568135" cy="1371600"/>
            <a:chOff x="5074920" y="4626864"/>
            <a:chExt cx="6568135" cy="1371600"/>
          </a:xfrm>
        </p:grpSpPr>
        <p:sp>
          <p:nvSpPr>
            <p:cNvPr id="33" name="Rounded Rectangle 32"/>
            <p:cNvSpPr/>
            <p:nvPr/>
          </p:nvSpPr>
          <p:spPr>
            <a:xfrm>
              <a:off x="5074920" y="4626864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349240" y="5010912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icture 34" descr="shield che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94080" y="5155752"/>
              <a:ext cx="313822" cy="313822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172200" y="4809744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Verification needs traceability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Verifiers and buyers must trace each tonne of CO₂e back to its evidence.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Terra-Audit links every carbon number to its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An evidence-first digital MRV platform — from field boundary to a verifier-ready MRV report.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2029968"/>
            <a:ext cx="1572768" cy="1627632"/>
            <a:chOff x="548640" y="2029968"/>
            <a:chExt cx="1572768" cy="1627632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1051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51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35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Register field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35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draw / upload boundary</a:t>
              </a: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1938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148840" y="2029968"/>
            <a:ext cx="1572768" cy="1627632"/>
            <a:chOff x="2148840" y="2029968"/>
            <a:chExt cx="1572768" cy="1627632"/>
          </a:xfrm>
        </p:grpSpPr>
        <p:sp>
          <p:nvSpPr>
            <p:cNvPr id="25" name="Rounded Rectangle 24"/>
            <p:cNvSpPr/>
            <p:nvPr/>
          </p:nvSpPr>
          <p:spPr>
            <a:xfrm>
              <a:off x="2148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2651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51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203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Seasons &amp; evidence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03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practices · files</a:t>
              </a:r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35387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749039" y="2029968"/>
            <a:ext cx="1572768" cy="1627632"/>
            <a:chOff x="3749039" y="2029968"/>
            <a:chExt cx="1572768" cy="1627632"/>
          </a:xfrm>
        </p:grpSpPr>
        <p:sp>
          <p:nvSpPr>
            <p:cNvPr id="32" name="Rounded Rectangle 31"/>
            <p:cNvSpPr/>
            <p:nvPr/>
          </p:nvSpPr>
          <p:spPr>
            <a:xfrm>
              <a:off x="3749039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251959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519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039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Satellite analytics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039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background job</a:t>
              </a: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51389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349240" y="2029968"/>
            <a:ext cx="1572767" cy="1627632"/>
            <a:chOff x="5349240" y="2029968"/>
            <a:chExt cx="1572767" cy="1627632"/>
          </a:xfrm>
        </p:grpSpPr>
        <p:sp>
          <p:nvSpPr>
            <p:cNvPr id="39" name="Rounded Rectangle 38"/>
            <p:cNvSpPr/>
            <p:nvPr/>
          </p:nvSpPr>
          <p:spPr>
            <a:xfrm>
              <a:off x="53492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852159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8521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041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Readiness check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041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per requirement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67391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949440" y="2029968"/>
            <a:ext cx="1572767" cy="1627632"/>
            <a:chOff x="6949440" y="2029968"/>
            <a:chExt cx="1572767" cy="1627632"/>
          </a:xfrm>
        </p:grpSpPr>
        <p:sp>
          <p:nvSpPr>
            <p:cNvPr id="46" name="Rounded Rectangle 45"/>
            <p:cNvSpPr/>
            <p:nvPr/>
          </p:nvSpPr>
          <p:spPr>
            <a:xfrm>
              <a:off x="69494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452360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523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5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043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Calculate &amp; commit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0043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frozen snapshot</a:t>
              </a:r>
            </a:p>
          </p:txBody>
        </p:sp>
        <p:sp>
          <p:nvSpPr>
            <p:cNvPr id="51" name="Right Arrow 50"/>
            <p:cNvSpPr/>
            <p:nvPr/>
          </p:nvSpPr>
          <p:spPr>
            <a:xfrm>
              <a:off x="83393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549640" y="2029968"/>
            <a:ext cx="1572768" cy="1627632"/>
            <a:chOff x="8549640" y="2029968"/>
            <a:chExt cx="1572768" cy="1627632"/>
          </a:xfrm>
        </p:grpSpPr>
        <p:sp>
          <p:nvSpPr>
            <p:cNvPr id="53" name="Rounded Rectangle 52"/>
            <p:cNvSpPr/>
            <p:nvPr/>
          </p:nvSpPr>
          <p:spPr>
            <a:xfrm>
              <a:off x="8549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9052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052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6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6045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Internal review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6045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approve / changes</a:t>
              </a:r>
            </a:p>
          </p:txBody>
        </p:sp>
        <p:sp>
          <p:nvSpPr>
            <p:cNvPr id="58" name="Right Arrow 57"/>
            <p:cNvSpPr/>
            <p:nvPr/>
          </p:nvSpPr>
          <p:spPr>
            <a:xfrm>
              <a:off x="9939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0149840" y="2029968"/>
            <a:ext cx="1371600" cy="1627632"/>
            <a:chOff x="10149840" y="2029968"/>
            <a:chExt cx="1371600" cy="1627632"/>
          </a:xfrm>
        </p:grpSpPr>
        <p:sp>
          <p:nvSpPr>
            <p:cNvPr id="60" name="Rounded Rectangle 59"/>
            <p:cNvSpPr/>
            <p:nvPr/>
          </p:nvSpPr>
          <p:spPr>
            <a:xfrm>
              <a:off x="10149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0652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652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7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204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MRV report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204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PDF + evidence ZIP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48640" y="4023360"/>
            <a:ext cx="5449824" cy="1920240"/>
            <a:chOff x="548640" y="4023360"/>
            <a:chExt cx="5449824" cy="1920240"/>
          </a:xfrm>
        </p:grpSpPr>
        <p:sp>
          <p:nvSpPr>
            <p:cNvPr id="66" name="Rounded Rectangle 65"/>
            <p:cNvSpPr/>
            <p:nvPr/>
          </p:nvSpPr>
          <p:spPr>
            <a:xfrm>
              <a:off x="548640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22959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8" name="Picture 67" descr="wheat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0968" y="4409968"/>
              <a:ext cx="342351" cy="342351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1691640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Rice — Alternate Wetting &amp; Drying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Verra VM0051 v1.1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Satellite-detected drydowns cut methane; 15% QA3 uncertainty and the N₂O penalty are deducted.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190488" y="4023360"/>
            <a:ext cx="5449824" cy="1920240"/>
            <a:chOff x="6190488" y="4023360"/>
            <a:chExt cx="5449824" cy="1920240"/>
          </a:xfrm>
        </p:grpSpPr>
        <p:sp>
          <p:nvSpPr>
            <p:cNvPr id="71" name="Rounded Rectangle 70"/>
            <p:cNvSpPr/>
            <p:nvPr/>
          </p:nvSpPr>
          <p:spPr>
            <a:xfrm>
              <a:off x="6190488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6464807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3" name="Picture 72" descr="map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22816" y="4409968"/>
              <a:ext cx="342351" cy="342351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7333488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Agricultural Land Management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Verra VM0042 v2.2 + VMD0054 v1.1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Measured soil-carbon change plus N₂O, fire and fuel terms, minus leakage and a non-permanence buffer; missing leakage evidence blocks the result.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Sentinel-1 radar detects AWD drydowns without field sensors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4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48640" y="1481328"/>
          <a:ext cx="6949440" cy="45262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7818120" y="1481328"/>
            <a:ext cx="3822191" cy="868680"/>
            <a:chOff x="7818120" y="1481328"/>
            <a:chExt cx="3822191" cy="868680"/>
          </a:xfrm>
        </p:grpSpPr>
        <p:sp>
          <p:nvSpPr>
            <p:cNvPr id="18" name="Rounded Rectangle 17"/>
            <p:cNvSpPr/>
            <p:nvPr/>
          </p:nvSpPr>
          <p:spPr>
            <a:xfrm>
              <a:off x="7818120" y="1481328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46720" y="1572768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Flooded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VV z-score below −0.8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818120" y="2505456"/>
            <a:ext cx="3822191" cy="868680"/>
            <a:chOff x="7818120" y="2505456"/>
            <a:chExt cx="3822191" cy="868680"/>
          </a:xfrm>
        </p:grpSpPr>
        <p:sp>
          <p:nvSpPr>
            <p:cNvPr id="21" name="Rounded Rectangle 20"/>
            <p:cNvSpPr/>
            <p:nvPr/>
          </p:nvSpPr>
          <p:spPr>
            <a:xfrm>
              <a:off x="7818120" y="2505456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046720" y="2596896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Drydown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VV rises &gt; 1.2σ right after a flooded date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818120" y="3529584"/>
            <a:ext cx="3822191" cy="868680"/>
            <a:chOff x="7818120" y="3529584"/>
            <a:chExt cx="3822191" cy="868680"/>
          </a:xfrm>
        </p:grpSpPr>
        <p:sp>
          <p:nvSpPr>
            <p:cNvPr id="24" name="Rounded Rectangle 23"/>
            <p:cNvSpPr/>
            <p:nvPr/>
          </p:nvSpPr>
          <p:spPr>
            <a:xfrm>
              <a:off x="7818120" y="3529584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46720" y="3621024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Season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VH minimum = sowing; sharpest VH drop after the peak = harvest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818120" y="4636008"/>
            <a:ext cx="3822191" cy="1371600"/>
            <a:chOff x="7818120" y="4636008"/>
            <a:chExt cx="3822191" cy="1371600"/>
          </a:xfrm>
        </p:grpSpPr>
        <p:sp>
          <p:nvSpPr>
            <p:cNvPr id="27" name="Rounded Rectangle 26"/>
            <p:cNvSpPr/>
            <p:nvPr/>
          </p:nvSpPr>
          <p:spPr>
            <a:xfrm>
              <a:off x="7818120" y="4636008"/>
              <a:ext cx="3822191" cy="137160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46720" y="4672584"/>
              <a:ext cx="3364991" cy="12984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500" b="1">
                  <a:solidFill>
                    <a:srgbClr val="D7EBDF"/>
                  </a:solidFill>
                  <a:latin typeface="Calibri"/>
                </a:rPr>
                <a:t>Result fed to the calculation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100" b="1">
                  <a:solidFill>
                    <a:srgbClr val="FFFFFF"/>
                  </a:solidFill>
                  <a:latin typeface="Calibri"/>
                </a:rPr>
                <a:t>2 AWD events · 84-day season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Live run on the deployed app · Sentinel-1 via Google Earth Engine · 12 observations, Jan–May 2026 · rule engine: AdaptiveAWDGate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A model trained on real AWD plots cross-checks the 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40" y="1481328"/>
            <a:ext cx="3547872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17261E"/>
                </a:solidFill>
                <a:latin typeface="Calibri"/>
              </a:rPr>
              <a:t>Why add ML?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Rules are explainable but brittle. A model trained on independently labelled AWD plots checks each field's drydown result from a second angle.</a:t>
            </a:r>
          </a:p>
        </p:txBody>
      </p:sp>
      <p:grpSp>
        <p:nvGrpSpPr>
          <p:cNvPr id="83" name="Group 82"/>
          <p:cNvGrpSpPr/>
          <p:nvPr/>
        </p:nvGrpSpPr>
        <p:grpSpPr>
          <a:xfrm>
            <a:off x="8092440" y="3813048"/>
            <a:ext cx="3547872" cy="1828800"/>
            <a:chOff x="8092440" y="3813048"/>
            <a:chExt cx="3547872" cy="1828800"/>
          </a:xfrm>
        </p:grpSpPr>
        <p:sp>
          <p:nvSpPr>
            <p:cNvPr id="84" name="Rounded Rectangle 83"/>
            <p:cNvSpPr/>
            <p:nvPr/>
          </p:nvSpPr>
          <p:spPr>
            <a:xfrm>
              <a:off x="8092440" y="3813048"/>
              <a:ext cx="3547872" cy="1828800"/>
            </a:xfrm>
            <a:prstGeom prst="roundRect">
              <a:avLst>
                <a:gd name="adj" fmla="val 6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293608" y="3849624"/>
              <a:ext cx="3145536" cy="175564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700" b="1">
                  <a:solidFill>
                    <a:srgbClr val="A86A12"/>
                  </a:solidFill>
                  <a:latin typeface="Calibri"/>
                </a:rPr>
                <a:t>Honest limitation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Labels come from Punjab, not Bangladesh, and the model is right on about 71% of unseen plots. It stays advisory — it flags disagreement and never changes a calculation.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AI Validation page · data: microsoft/rice-irrigation-mapping-s1s2 · 172 held-out plots (90 AWD) · repeated 5×5 cross-validation 66.3% ± 4.2%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1371600"/>
            <a:ext cx="7223760" cy="6858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900" b="1">
                <a:solidFill>
                  <a:srgbClr val="17261E"/>
                </a:solidFill>
                <a:latin typeface="Calibri"/>
              </a:rPr>
              <a:t>AWD practice model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4F5D56"/>
                </a:solidFill>
                <a:latin typeface="Calibri"/>
              </a:rPr>
              <a:t>Random forest · Sentinel-1 radar + Satellite Embedding · Microsoft rice-irrigation-mapping (Punjab)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240280"/>
            <a:ext cx="2788920" cy="1828800"/>
          </a:xfrm>
          <a:prstGeom prst="roundRect">
            <a:avLst>
              <a:gd name="adj" fmla="val 6000"/>
            </a:avLst>
          </a:prstGeom>
          <a:solidFill>
            <a:srgbClr val="1E5B3F"/>
          </a:solidFill>
          <a:ln w="12700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2377440"/>
            <a:ext cx="2606040" cy="1554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64 / 90</a:t>
            </a:r>
          </a:p>
          <a:p>
            <a:pPr algn="ctr">
              <a:spcBef>
                <a:spcPts val="30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AWD plots correctly identified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D7EBDF"/>
                </a:solidFill>
                <a:latin typeface="Calibri"/>
              </a:rPr>
              <a:t>on unseen held-out test plots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40" y="224028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520440" y="228600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72.7%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AWD precision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15000" y="224028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15000" y="228600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71.1%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AWD recall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40" y="32004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20440" y="324612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0.719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AWD F1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15000" y="32004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15000" y="324612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0.754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ROC-AUC (AWD score)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29768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4343400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17261E"/>
                </a:solidFill>
                <a:latin typeface="Calibri"/>
              </a:rPr>
              <a:t>863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4F5D56"/>
                </a:solidFill>
                <a:latin typeface="Calibri"/>
              </a:rPr>
              <a:t>plots labelled by irrigation practice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0" y="4526280"/>
            <a:ext cx="2286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1E5B3F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71800" y="429768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71800" y="4343400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17261E"/>
                </a:solidFill>
                <a:latin typeface="Calibri"/>
              </a:rPr>
              <a:t>688 / 172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4F5D56"/>
                </a:solidFill>
                <a:latin typeface="Calibri"/>
              </a:rPr>
              <a:t>train / held-out test split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66360" y="4526280"/>
            <a:ext cx="2286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1E5B3F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94959" y="429768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94959" y="4343400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17261E"/>
                </a:solidFill>
                <a:latin typeface="Calibri"/>
              </a:rPr>
              <a:t>Every field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4F5D56"/>
                </a:solidFill>
                <a:latin typeface="Calibri"/>
              </a:rPr>
              <a:t>run on its Signal Analytics window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A deterministic VM0051 engine turns evidence into tCO₂e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481328"/>
            <a:ext cx="6629400" cy="2880360"/>
          </a:xfrm>
          <a:prstGeom prst="roundRect">
            <a:avLst>
              <a:gd name="adj" fmla="val 4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709928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E</a:t>
            </a:r>
            <a:r>
              <a:rPr sz="1900" b="0">
                <a:solidFill>
                  <a:srgbClr val="E4EEE8"/>
                </a:solidFill>
                <a:latin typeface="Consolas"/>
              </a:rPr>
              <a:t>     = EF</a:t>
            </a:r>
            <a:r>
              <a:rPr sz="1300" b="0">
                <a:solidFill>
                  <a:srgbClr val="E4EEE8"/>
                </a:solidFill>
                <a:latin typeface="Consolas"/>
              </a:rPr>
              <a:t>c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w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p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o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days × 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185416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ΔCH₄</a:t>
            </a:r>
            <a:r>
              <a:rPr sz="1900" b="0">
                <a:solidFill>
                  <a:srgbClr val="E4EEE8"/>
                </a:solidFill>
                <a:latin typeface="Consolas"/>
              </a:rPr>
              <a:t>  = E</a:t>
            </a:r>
            <a:r>
              <a:rPr sz="1300" b="0">
                <a:solidFill>
                  <a:srgbClr val="E4EEE8"/>
                </a:solidFill>
                <a:latin typeface="Consolas"/>
              </a:rPr>
              <a:t>baseline</a:t>
            </a:r>
            <a:r>
              <a:rPr sz="1900" b="0">
                <a:solidFill>
                  <a:srgbClr val="E4EEE8"/>
                </a:solidFill>
                <a:latin typeface="Consolas"/>
              </a:rPr>
              <a:t> − E</a:t>
            </a:r>
            <a:r>
              <a:rPr sz="1300" b="0">
                <a:solidFill>
                  <a:srgbClr val="E4EEE8"/>
                </a:solidFill>
                <a:latin typeface="Consolas"/>
              </a:rPr>
              <a:t>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660904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ΔCO₂e</a:t>
            </a:r>
            <a:r>
              <a:rPr sz="1900" b="0">
                <a:solidFill>
                  <a:srgbClr val="E4EEE8"/>
                </a:solidFill>
                <a:latin typeface="Consolas"/>
              </a:rPr>
              <a:t> = ΔCH₄ × 28 ÷ 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36392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2C46D"/>
                </a:solidFill>
                <a:latin typeface="Consolas"/>
              </a:rPr>
              <a:t>ER</a:t>
            </a:r>
            <a:r>
              <a:rPr sz="1900" b="0">
                <a:solidFill>
                  <a:srgbClr val="E4EEE8"/>
                </a:solidFill>
                <a:latin typeface="Consolas"/>
              </a:rPr>
              <a:t>    = ΔCO₂e × (1 − 15%) − PE</a:t>
            </a:r>
            <a:r>
              <a:rPr sz="1300" b="0">
                <a:solidFill>
                  <a:srgbClr val="E4EEE8"/>
                </a:solidFill>
                <a:latin typeface="Consolas"/>
              </a:rPr>
              <a:t>N₂O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21608"/>
            <a:ext cx="61264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alibri"/>
              </a:rPr>
              <a:t>VM0051 Eq. 6–8, 29 (QA3) · EFc = 0.85 kg CH₄/ha/day (IPCC 2019, South Asia) · GWP CH₄ = 28 (AR5)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48640" y="4544568"/>
            <a:ext cx="6629400" cy="1481328"/>
            <a:chOff x="548640" y="4544568"/>
            <a:chExt cx="6629400" cy="1481328"/>
          </a:xfrm>
        </p:grpSpPr>
        <p:sp>
          <p:nvSpPr>
            <p:cNvPr id="23" name="TextBox 22"/>
            <p:cNvSpPr txBox="1"/>
            <p:nvPr/>
          </p:nvSpPr>
          <p:spPr>
            <a:xfrm>
              <a:off x="548640" y="4544568"/>
              <a:ext cx="6629400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WATER-REGIME FACTOR SFw — WHERE AWD'S BENEFIT COMES FROM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8640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48640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1E5B3F"/>
                  </a:solidFill>
                  <a:latin typeface="Calibri"/>
                </a:rPr>
                <a:t>1.00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8640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4F5D56"/>
                  </a:solidFill>
                  <a:latin typeface="Calibri"/>
                </a:rPr>
                <a:t>Continuous flooding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4F5D56"/>
                  </a:solidFill>
                  <a:latin typeface="Calibri"/>
                </a:rPr>
                <a:t>0 drydowns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798064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798064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1E5B3F"/>
                  </a:solidFill>
                  <a:latin typeface="Calibri"/>
                </a:rPr>
                <a:t>0.71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98064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4F5D56"/>
                  </a:solidFill>
                  <a:latin typeface="Calibri"/>
                </a:rPr>
                <a:t>Single aeration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4F5D56"/>
                  </a:solidFill>
                  <a:latin typeface="Calibri"/>
                </a:rPr>
                <a:t>1 drydown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047488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047488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FFFFFF"/>
                  </a:solidFill>
                  <a:latin typeface="Calibri"/>
                </a:rPr>
                <a:t>0.55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47488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D7EBDF"/>
                  </a:solidFill>
                  <a:latin typeface="Calibri"/>
                </a:rPr>
                <a:t>True AWD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D7EBDF"/>
                  </a:solidFill>
                  <a:latin typeface="Calibri"/>
                </a:rPr>
                <a:t>≥ 2 drydowns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498079" y="1481328"/>
            <a:ext cx="4142232" cy="4544568"/>
            <a:chOff x="7498079" y="1481328"/>
            <a:chExt cx="4142232" cy="4544568"/>
          </a:xfrm>
        </p:grpSpPr>
        <p:sp>
          <p:nvSpPr>
            <p:cNvPr id="34" name="Rounded Rectangle 33"/>
            <p:cNvSpPr/>
            <p:nvPr/>
          </p:nvSpPr>
          <p:spPr>
            <a:xfrm>
              <a:off x="7498079" y="1481328"/>
              <a:ext cx="4142232" cy="4544568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726679" y="1645920"/>
              <a:ext cx="3749039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Worked example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1 ha · 84 days · 2 drydowns · 100 kg N/ha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26679" y="2487168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Baseline CH₄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784080" y="2487168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205.5 kg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726679" y="2889504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Project CH₄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784080" y="2889504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113.0 kg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726679" y="3291840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Avoided CH₄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784080" y="3291840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92.5 kg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726679" y="3694176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As CO₂e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784080" y="3694176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2.59 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726679" y="4096512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− 15% uncertainty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784080" y="4096512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− 0.39 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726679" y="4498848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− N₂O penalty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784080" y="4498848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− 0.08 t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726679" y="4974336"/>
              <a:ext cx="3703320" cy="18288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726679" y="504748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Net reduction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26880" y="5029200"/>
              <a:ext cx="2103120" cy="502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2300" b="1">
                  <a:solidFill>
                    <a:srgbClr val="1E5B3F"/>
                  </a:solidFill>
                  <a:latin typeface="Calibri"/>
                </a:rPr>
                <a:t>2.12 tCO₂e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726679" y="5522976"/>
              <a:ext cx="3749039" cy="502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B4432E"/>
                  </a:solidFill>
                  <a:latin typeface="Calibri"/>
                </a:rPr>
                <a:t>Above 60,000 tCO₂e/yr the engine blocks instead of guessing.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Worked example computed by CarbonAssetEngine.calculate_credits() (src/carbon/rice.py)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Readiness gates never let an unsupported requirement pass silently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7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7141464" cy="4709160"/>
            <a:chOff x="548640" y="1481328"/>
            <a:chExt cx="7141464" cy="470916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7086600" cy="4251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list checks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7240" y="1636776"/>
              <a:ext cx="292608" cy="292608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170432" y="1618488"/>
              <a:ext cx="6309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Readiness checklist — VM0051 field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77240" y="2167128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5528" y="2203704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2E8B57"/>
                  </a:solidFill>
                  <a:latin typeface="Calibri"/>
                </a:rPr>
                <a:t>satisfied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286000" y="2075688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common.monitoring_period_coverage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Crop seasons cover the monitoring period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77240" y="2624328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77240" y="2770632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A86A1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95528" y="2807208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286000" y="2679192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common.methodology_applicability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Declared crop outside usual scope — reviewer confirms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77240" y="3227832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77240" y="3374136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A86A1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5528" y="3410712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86000" y="3282696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common.evidence_review_status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Field observations not yet accepted by a second person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77240" y="3831336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7240" y="3977639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B443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5528" y="4014215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B4432E"/>
                  </a:solidFill>
                  <a:latin typeface="Calibri"/>
                </a:rPr>
                <a:t>missing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286000" y="3886200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vm0051.required_measurement_inputs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AWD events and season length not yet supplied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77240" y="4434840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777240" y="4581144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95528" y="4617720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B7280"/>
                  </a:solidFill>
                  <a:latin typeface="Calibri"/>
                </a:rPr>
                <a:t>unsupported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286000" y="4489704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vm0051.leakage_assessment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Not implemented — stays blocking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77240" y="5038344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777240" y="5184648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5528" y="5221224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B7280"/>
                  </a:solidFill>
                  <a:latin typeface="Calibri"/>
                </a:rPr>
                <a:t>unsupported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286000" y="5093208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vm0051.n2o_baseline_fertilizer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Not implemented — shown to the verifier, never hidden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8640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2E8B57"/>
                  </a:solidFill>
                  <a:latin typeface="Calibri"/>
                </a:rPr>
                <a:t>1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satisfied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350008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A86A12"/>
                  </a:solidFill>
                  <a:latin typeface="Calibri"/>
                </a:rPr>
                <a:t>3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151376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B4432E"/>
                  </a:solidFill>
                  <a:latin typeface="Calibri"/>
                </a:rPr>
                <a:t>1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missing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952744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B7280"/>
                  </a:solidFill>
                  <a:latin typeface="Calibri"/>
                </a:rPr>
                <a:t>3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unsupported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8001000" y="1481328"/>
            <a:ext cx="3657600" cy="2167128"/>
            <a:chOff x="8001000" y="1481328"/>
            <a:chExt cx="3657600" cy="2167128"/>
          </a:xfrm>
        </p:grpSpPr>
        <p:sp>
          <p:nvSpPr>
            <p:cNvPr id="48" name="TextBox 47"/>
            <p:cNvSpPr txBox="1"/>
            <p:nvPr/>
          </p:nvSpPr>
          <p:spPr>
            <a:xfrm>
              <a:off x="8001000" y="1481328"/>
              <a:ext cx="3639312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AT COMMIT, THE SYSTEM FREEZES</a:t>
              </a:r>
            </a:p>
          </p:txBody>
        </p:sp>
        <p:pic>
          <p:nvPicPr>
            <p:cNvPr id="49" name="Picture 48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1938528"/>
              <a:ext cx="256032" cy="256032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8366760" y="18653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Field boundary &amp; area</a:t>
              </a:r>
            </a:p>
          </p:txBody>
        </p:sp>
        <p:pic>
          <p:nvPicPr>
            <p:cNvPr id="51" name="Picture 50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395728"/>
              <a:ext cx="256032" cy="256032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8366760" y="23225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Crop seasons &amp; engine inputs</a:t>
              </a:r>
            </a:p>
          </p:txBody>
        </p:sp>
        <p:pic>
          <p:nvPicPr>
            <p:cNvPr id="53" name="Picture 52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852928"/>
              <a:ext cx="256032" cy="256032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8366760" y="27797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Methodology bundle &amp; factors</a:t>
              </a:r>
            </a:p>
          </p:txBody>
        </p:sp>
        <p:pic>
          <p:nvPicPr>
            <p:cNvPr id="55" name="Picture 54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3310128"/>
              <a:ext cx="256032" cy="256032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8366760" y="32369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Readiness result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8001000" y="3858768"/>
            <a:ext cx="3639312" cy="2423160"/>
            <a:chOff x="8001000" y="3858768"/>
            <a:chExt cx="3639312" cy="2423160"/>
          </a:xfrm>
        </p:grpSpPr>
        <p:sp>
          <p:nvSpPr>
            <p:cNvPr id="58" name="TextBox 57"/>
            <p:cNvSpPr txBox="1"/>
            <p:nvPr/>
          </p:nvSpPr>
          <p:spPr>
            <a:xfrm>
              <a:off x="8001000" y="3858768"/>
              <a:ext cx="3639312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INTERNAL REVIEW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8001000" y="4224528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037575" y="4261104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submitted</a:t>
              </a:r>
            </a:p>
          </p:txBody>
        </p:sp>
        <p:sp>
          <p:nvSpPr>
            <p:cNvPr id="61" name="Down Arrow 60"/>
            <p:cNvSpPr/>
            <p:nvPr/>
          </p:nvSpPr>
          <p:spPr>
            <a:xfrm>
              <a:off x="8275320" y="4654296"/>
              <a:ext cx="164592" cy="128016"/>
            </a:xfrm>
            <a:prstGeom prst="down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001000" y="4791456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037575" y="4828032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in_review</a:t>
              </a:r>
            </a:p>
          </p:txBody>
        </p:sp>
        <p:sp>
          <p:nvSpPr>
            <p:cNvPr id="64" name="Down Arrow 63"/>
            <p:cNvSpPr/>
            <p:nvPr/>
          </p:nvSpPr>
          <p:spPr>
            <a:xfrm>
              <a:off x="8275320" y="5221224"/>
              <a:ext cx="164592" cy="128016"/>
            </a:xfrm>
            <a:prstGeom prst="down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8001000" y="5358384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037575" y="5394960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FFFFFF"/>
                  </a:solidFill>
                  <a:latin typeface="Calibri"/>
                </a:rPr>
                <a:t>internally_approved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001000" y="5916168"/>
              <a:ext cx="3639312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or changes requested / rejected / withdrawn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Example readiness run on the deployed app (6 of 8 checks shown) · internal approval is not VVB verification or Verra issuance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AI explains, code calculates, humans approve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9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11094415" cy="1371600"/>
            <a:chOff x="548640" y="1481328"/>
            <a:chExt cx="11094415" cy="137160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11094415" cy="1371600"/>
            </a:xfrm>
            <a:prstGeom prst="roundRect">
              <a:avLst>
                <a:gd name="adj" fmla="val 5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1520" y="1554480"/>
              <a:ext cx="45720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AUTHORITATIVE · DETERMINISTIC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31520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6384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Project &amp; evidence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3219373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493693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548557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Data validation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5981547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255867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310731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VM0051 / VM0042 engine</a:t>
              </a:r>
            </a:p>
          </p:txBody>
        </p:sp>
        <p:sp>
          <p:nvSpPr>
            <p:cNvPr id="27" name="Right Arrow 26"/>
            <p:cNvSpPr/>
            <p:nvPr/>
          </p:nvSpPr>
          <p:spPr>
            <a:xfrm>
              <a:off x="8743721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018041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72905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Results &amp; readiness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48640" y="3081528"/>
            <a:ext cx="11094415" cy="1371600"/>
            <a:chOff x="548640" y="3081528"/>
            <a:chExt cx="11094415" cy="1371600"/>
          </a:xfrm>
        </p:grpSpPr>
        <p:sp>
          <p:nvSpPr>
            <p:cNvPr id="31" name="Rounded Rectangle 30"/>
            <p:cNvSpPr/>
            <p:nvPr/>
          </p:nvSpPr>
          <p:spPr>
            <a:xfrm>
              <a:off x="548640" y="3081528"/>
              <a:ext cx="11094415" cy="1371600"/>
            </a:xfrm>
            <a:prstGeom prst="roundRect">
              <a:avLst>
                <a:gd name="adj" fmla="val 5000"/>
              </a:avLst>
            </a:prstGeom>
            <a:solidFill>
              <a:srgbClr val="EE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1520" y="3154680"/>
              <a:ext cx="45720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3E5568"/>
                  </a:solidFill>
                  <a:latin typeface="Calibri"/>
                </a:rPr>
                <a:t>ADVISORY · AI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31520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86384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Satellite, ML &amp; crop models</a:t>
              </a:r>
            </a:p>
          </p:txBody>
        </p:sp>
        <p:sp>
          <p:nvSpPr>
            <p:cNvPr id="35" name="Right Arrow 34"/>
            <p:cNvSpPr/>
            <p:nvPr/>
          </p:nvSpPr>
          <p:spPr>
            <a:xfrm>
              <a:off x="2666939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941259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96123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Bundle-scoped context packet</a:t>
              </a:r>
            </a:p>
          </p:txBody>
        </p:sp>
        <p:sp>
          <p:nvSpPr>
            <p:cNvPr id="38" name="Right Arrow 37"/>
            <p:cNvSpPr/>
            <p:nvPr/>
          </p:nvSpPr>
          <p:spPr>
            <a:xfrm>
              <a:off x="4876678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150998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205862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LLM provider</a:t>
              </a:r>
            </a:p>
          </p:txBody>
        </p:sp>
        <p:sp>
          <p:nvSpPr>
            <p:cNvPr id="41" name="Right Arrow 40"/>
            <p:cNvSpPr/>
            <p:nvPr/>
          </p:nvSpPr>
          <p:spPr>
            <a:xfrm>
              <a:off x="7086417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360737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415601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Output validator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9296156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570476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625340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Draft explanation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9509760" y="4498848"/>
            <a:ext cx="2130552" cy="822960"/>
            <a:chOff x="9509760" y="4498848"/>
            <a:chExt cx="2130552" cy="822960"/>
          </a:xfrm>
        </p:grpSpPr>
        <p:sp>
          <p:nvSpPr>
            <p:cNvPr id="48" name="Rounded Rectangle 47"/>
            <p:cNvSpPr/>
            <p:nvPr/>
          </p:nvSpPr>
          <p:spPr>
            <a:xfrm>
              <a:off x="9509760" y="4818888"/>
              <a:ext cx="2130552" cy="502920"/>
            </a:xfrm>
            <a:prstGeom prst="roundRect">
              <a:avLst>
                <a:gd name="adj" fmla="val 6000"/>
              </a:avLst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555480" y="4855464"/>
              <a:ext cx="2039112" cy="4297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FFFFFF"/>
                  </a:solidFill>
                  <a:latin typeface="Calibri"/>
                </a:rPr>
                <a:t>Human reviewer</a:t>
              </a:r>
            </a:p>
          </p:txBody>
        </p:sp>
        <p:sp>
          <p:nvSpPr>
            <p:cNvPr id="50" name="Down Arrow 49"/>
            <p:cNvSpPr/>
            <p:nvPr/>
          </p:nvSpPr>
          <p:spPr>
            <a:xfrm>
              <a:off x="10469880" y="4498848"/>
              <a:ext cx="201168" cy="292608"/>
            </a:xfrm>
            <a:prstGeom prst="down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48640" y="4800600"/>
            <a:ext cx="8823960" cy="1371600"/>
            <a:chOff x="548640" y="4800600"/>
            <a:chExt cx="8823960" cy="1371600"/>
          </a:xfrm>
        </p:grpSpPr>
        <p:pic>
          <p:nvPicPr>
            <p:cNvPr id="52" name="Picture 51" descr="lock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640" y="4846320"/>
              <a:ext cx="274320" cy="27432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9144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Bounded context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AI only sees the active methodology bundle, evidence and calculation.</a:t>
              </a:r>
            </a:p>
          </p:txBody>
        </p:sp>
        <p:pic>
          <p:nvPicPr>
            <p:cNvPr id="54" name="Picture 53" descr="shield che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20440" y="4846320"/>
              <a:ext cx="274320" cy="274320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38862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Validated output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Citations must exist and numbers must match; “certified” or “approved” claims are rejected.</a:t>
              </a:r>
            </a:p>
          </p:txBody>
        </p:sp>
        <p:pic>
          <p:nvPicPr>
            <p:cNvPr id="56" name="Picture 55" descr="circle che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92240" y="4846320"/>
              <a:ext cx="274320" cy="27432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68580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Fail closed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One retry, then fail — nothing partial is saved.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No AI component can change a calculated value, mark a requirement compliant, or create registry credits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Layered components, deployed as web, API and worker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35608"/>
            <a:ext cx="5394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COMPONENT LAYERS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1801368"/>
            <a:ext cx="5394960" cy="3246120"/>
            <a:chOff x="548640" y="1801368"/>
            <a:chExt cx="5394960" cy="3246120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1801368"/>
              <a:ext cx="5394960" cy="68580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8368" y="1801368"/>
              <a:ext cx="1234440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Next.js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920240" y="1911096"/>
              <a:ext cx="1929384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929384" y="1947672"/>
              <a:ext cx="1911096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17261E"/>
                  </a:solidFill>
                  <a:latin typeface="Calibri"/>
                </a:rPr>
                <a:t>Web app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922776" y="1911096"/>
              <a:ext cx="1929384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31920" y="1947672"/>
              <a:ext cx="1911096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17261E"/>
                  </a:solidFill>
                  <a:latin typeface="Calibri"/>
                </a:rPr>
                <a:t>API proxy</a:t>
              </a:r>
            </a:p>
          </p:txBody>
        </p:sp>
        <p:sp>
          <p:nvSpPr>
            <p:cNvPr id="24" name="Down Arrow 23"/>
            <p:cNvSpPr/>
            <p:nvPr/>
          </p:nvSpPr>
          <p:spPr>
            <a:xfrm>
              <a:off x="3154680" y="2496312"/>
              <a:ext cx="182880" cy="118872"/>
            </a:xfrm>
            <a:prstGeom prst="downArrow">
              <a:avLst/>
            </a:prstGeom>
            <a:solidFill>
              <a:srgbClr val="9AA7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48640" y="2624328"/>
              <a:ext cx="5394960" cy="68580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8368" y="2624328"/>
              <a:ext cx="1234440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FastAPI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920240" y="2734056"/>
              <a:ext cx="1929384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929384" y="2770632"/>
              <a:ext cx="1911096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17261E"/>
                  </a:solidFill>
                  <a:latin typeface="Calibri"/>
                </a:rPr>
                <a:t>Routers &amp; schemas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922776" y="2734056"/>
              <a:ext cx="1929384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31920" y="2770632"/>
              <a:ext cx="1911096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17261E"/>
                  </a:solidFill>
                  <a:latin typeface="Calibri"/>
                </a:rPr>
                <a:t>JWT · roles</a:t>
              </a:r>
            </a:p>
          </p:txBody>
        </p:sp>
        <p:sp>
          <p:nvSpPr>
            <p:cNvPr id="31" name="Down Arrow 30"/>
            <p:cNvSpPr/>
            <p:nvPr/>
          </p:nvSpPr>
          <p:spPr>
            <a:xfrm>
              <a:off x="3154680" y="3319272"/>
              <a:ext cx="182880" cy="118872"/>
            </a:xfrm>
            <a:prstGeom prst="downArrow">
              <a:avLst/>
            </a:prstGeom>
            <a:solidFill>
              <a:srgbClr val="9AA7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548640" y="3447288"/>
              <a:ext cx="5394960" cy="68580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8368" y="3447288"/>
              <a:ext cx="1234440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Domain (src/)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920240" y="3557016"/>
              <a:ext cx="928116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929384" y="3593592"/>
              <a:ext cx="909828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17261E"/>
                  </a:solidFill>
                  <a:latin typeface="Calibri"/>
                </a:rPr>
                <a:t>Evidence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921508" y="3557016"/>
              <a:ext cx="928116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30652" y="3593592"/>
              <a:ext cx="909828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17261E"/>
                  </a:solidFill>
                  <a:latin typeface="Calibri"/>
                </a:rPr>
                <a:t>Methodology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922776" y="3557016"/>
              <a:ext cx="928116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931920" y="3593592"/>
              <a:ext cx="909828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17261E"/>
                  </a:solidFill>
                  <a:latin typeface="Calibri"/>
                </a:rPr>
                <a:t>Carbon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924044" y="3557016"/>
              <a:ext cx="928116" cy="46634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933188" y="3593592"/>
              <a:ext cx="909828" cy="39319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17261E"/>
                  </a:solidFill>
                  <a:latin typeface="Calibri"/>
                </a:rPr>
                <a:t>Signals &amp; AI</a:t>
              </a:r>
            </a:p>
          </p:txBody>
        </p:sp>
        <p:sp>
          <p:nvSpPr>
            <p:cNvPr id="42" name="Down Arrow 41"/>
            <p:cNvSpPr/>
            <p:nvPr/>
          </p:nvSpPr>
          <p:spPr>
            <a:xfrm>
              <a:off x="3154680" y="4142232"/>
              <a:ext cx="182880" cy="118872"/>
            </a:xfrm>
            <a:prstGeom prst="downArrow">
              <a:avLst/>
            </a:prstGeom>
            <a:solidFill>
              <a:srgbClr val="9AA7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48640" y="4270248"/>
              <a:ext cx="1737360" cy="777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94360" y="4288536"/>
              <a:ext cx="1645920" cy="73152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Persistence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17261E"/>
                  </a:solidFill>
                  <a:latin typeface="Calibri"/>
                </a:rPr>
                <a:t>SQL · private files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2377440" y="4270248"/>
              <a:ext cx="1737360" cy="77724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423160" y="4288536"/>
              <a:ext cx="1645920" cy="73152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FFFFFF"/>
                  </a:solidFill>
                  <a:latin typeface="Calibri"/>
                </a:rPr>
                <a:t>Durable jobs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FFFFFF"/>
                  </a:solidFill>
                  <a:latin typeface="Calibri"/>
                </a:rPr>
                <a:t>queue · worker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4206240" y="4270248"/>
              <a:ext cx="1737360" cy="777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251959" y="4288536"/>
              <a:ext cx="1645920" cy="73152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External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17261E"/>
                  </a:solidFill>
                  <a:latin typeface="Calibri"/>
                </a:rPr>
                <a:t>Earth Engine · LLMs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263640" y="1435608"/>
            <a:ext cx="5394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DEPLOYMENT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6263640" y="1801368"/>
            <a:ext cx="5394960" cy="3200400"/>
            <a:chOff x="6263640" y="1801368"/>
            <a:chExt cx="5394960" cy="3200400"/>
          </a:xfrm>
        </p:grpSpPr>
        <p:sp>
          <p:nvSpPr>
            <p:cNvPr id="51" name="Rounded Rectangle 50"/>
            <p:cNvSpPr/>
            <p:nvPr/>
          </p:nvSpPr>
          <p:spPr>
            <a:xfrm>
              <a:off x="6263640" y="1801368"/>
              <a:ext cx="1371600" cy="6858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300216" y="1837944"/>
              <a:ext cx="1298448" cy="6126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Browser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HTTPS</a:t>
              </a:r>
            </a:p>
          </p:txBody>
        </p:sp>
        <p:sp>
          <p:nvSpPr>
            <p:cNvPr id="53" name="Right Arrow 52"/>
            <p:cNvSpPr/>
            <p:nvPr/>
          </p:nvSpPr>
          <p:spPr>
            <a:xfrm>
              <a:off x="7680960" y="202996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7955279" y="1801368"/>
              <a:ext cx="1783080" cy="68580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991855" y="1837944"/>
              <a:ext cx="1709928" cy="6126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Vercel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Next.js 16 · React 19</a:t>
              </a:r>
            </a:p>
          </p:txBody>
        </p:sp>
        <p:sp>
          <p:nvSpPr>
            <p:cNvPr id="56" name="Right Arrow 55"/>
            <p:cNvSpPr/>
            <p:nvPr/>
          </p:nvSpPr>
          <p:spPr>
            <a:xfrm>
              <a:off x="9784080" y="202996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0058400" y="1801368"/>
              <a:ext cx="1581912" cy="68580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094976" y="1837944"/>
              <a:ext cx="1508760" cy="6126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Railway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Docker · FastAPI</a:t>
              </a:r>
            </a:p>
          </p:txBody>
        </p:sp>
        <p:sp>
          <p:nvSpPr>
            <p:cNvPr id="59" name="Down Arrow 58"/>
            <p:cNvSpPr/>
            <p:nvPr/>
          </p:nvSpPr>
          <p:spPr>
            <a:xfrm>
              <a:off x="10744200" y="2514600"/>
              <a:ext cx="182880" cy="228600"/>
            </a:xfrm>
            <a:prstGeom prst="down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6263640" y="2807208"/>
              <a:ext cx="1719072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300216" y="2843784"/>
              <a:ext cx="1645919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17261E"/>
                  </a:solidFill>
                  <a:latin typeface="Calibri"/>
                </a:rPr>
                <a:t>Database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SQLite · PostgreSQL*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092440" y="2807208"/>
              <a:ext cx="1719072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129015" y="2843784"/>
              <a:ext cx="1645919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17261E"/>
                  </a:solidFill>
                  <a:latin typeface="Calibri"/>
                </a:rPr>
                <a:t>Evidence files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local · S3-compatible*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9921240" y="2807208"/>
              <a:ext cx="1719072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957815" y="2843784"/>
              <a:ext cx="1645919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17261E"/>
                  </a:solidFill>
                  <a:latin typeface="Calibri"/>
                </a:rPr>
                <a:t>Python worker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durable job queue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6263640" y="3721608"/>
              <a:ext cx="2633472" cy="6400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9AA7A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300216" y="3758184"/>
              <a:ext cx="2560320" cy="56692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17261E"/>
                  </a:solidFill>
                  <a:latin typeface="Calibri"/>
                </a:rPr>
                <a:t>Google Earth Engine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Sentinel-1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9006840" y="3721608"/>
              <a:ext cx="2633472" cy="6400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9AA7A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043415" y="3758184"/>
              <a:ext cx="2560320" cy="56692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17261E"/>
                  </a:solidFill>
                  <a:latin typeface="Calibri"/>
                </a:rPr>
                <a:t>LLM providers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Groq / OpenAI-compatible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263640" y="4453128"/>
              <a:ext cx="539496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7C8A83"/>
                  </a:solidFill>
                  <a:latin typeface="Calibri"/>
                </a:rPr>
                <a:t>Solid = verified in the recorded run · dashed = configured external service · * supported hosted option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48640" y="5276088"/>
            <a:ext cx="11094415" cy="868680"/>
            <a:chOff x="548640" y="5276088"/>
            <a:chExt cx="11094415" cy="868680"/>
          </a:xfrm>
        </p:grpSpPr>
        <p:sp>
          <p:nvSpPr>
            <p:cNvPr id="72" name="Rounded Rectangle 71"/>
            <p:cNvSpPr/>
            <p:nvPr/>
          </p:nvSpPr>
          <p:spPr>
            <a:xfrm>
              <a:off x="548640" y="5276088"/>
              <a:ext cx="11094415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31520" y="5321808"/>
              <a:ext cx="173736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DESIGN EVOLUTION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4F5D56"/>
                  </a:solidFill>
                  <a:latin typeface="Calibri"/>
                </a:rPr>
                <a:t>midterm → final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560320" y="5321808"/>
              <a:ext cx="292608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7C8A83"/>
                  </a:solidFill>
                  <a:latin typeface="Calibri"/>
                </a:rPr>
                <a:t>Streamlit monolith</a:t>
              </a:r>
              <a:r>
                <a:rPr sz="1400" b="1">
                  <a:solidFill>
                    <a:srgbClr val="1E5B3F"/>
                  </a:solidFill>
                  <a:latin typeface="Calibri"/>
                </a:rPr>
                <a:t>  →  </a:t>
              </a:r>
              <a:r>
                <a:rPr sz="1400" b="1">
                  <a:solidFill>
                    <a:srgbClr val="17261E"/>
                  </a:solidFill>
                  <a:latin typeface="Calibri"/>
                </a:rPr>
                <a:t>Next.js + FastAPI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577840" y="5321808"/>
              <a:ext cx="292608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7C8A83"/>
                  </a:solidFill>
                  <a:latin typeface="Calibri"/>
                </a:rPr>
                <a:t>Request-coupled jobs</a:t>
              </a:r>
              <a:r>
                <a:rPr sz="1400" b="1">
                  <a:solidFill>
                    <a:srgbClr val="1E5B3F"/>
                  </a:solidFill>
                  <a:latin typeface="Calibri"/>
                </a:rPr>
                <a:t>  →  </a:t>
              </a:r>
              <a:r>
                <a:rPr sz="1400" b="1">
                  <a:solidFill>
                    <a:srgbClr val="17261E"/>
                  </a:solidFill>
                  <a:latin typeface="Calibri"/>
                </a:rPr>
                <a:t>Durable queue + worker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595360" y="5321808"/>
              <a:ext cx="292608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7C8A83"/>
                  </a:solidFill>
                  <a:latin typeface="Calibri"/>
                </a:rPr>
                <a:t>Scalar results</a:t>
              </a:r>
              <a:r>
                <a:rPr sz="1400" b="1">
                  <a:solidFill>
                    <a:srgbClr val="1E5B3F"/>
                  </a:solidFill>
                  <a:latin typeface="Calibri"/>
                </a:rPr>
                <a:t>  →  </a:t>
              </a:r>
              <a:r>
                <a:rPr sz="1400" b="1">
                  <a:solidFill>
                    <a:srgbClr val="17261E"/>
                  </a:solidFill>
                  <a:latin typeface="Calibri"/>
                </a:rPr>
                <a:t>Versioned snapshots</a:t>
              </a: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Deployment as recorded in the final report (§5.5) · production worker and storage provenance not yet verified end to end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Design classes, persistent data and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35608"/>
            <a:ext cx="51206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KEY DESIGN CLASSES &amp; MODULES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1801368"/>
            <a:ext cx="5093208" cy="3986784"/>
            <a:chOff x="548640" y="1801368"/>
            <a:chExt cx="5093208" cy="3986784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1801368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48640" y="1801368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8368" y="1892808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AdaptiveAWDGate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analyze_irrigation_behavior()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extract_phenology()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154680" y="1801368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154680" y="1801368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64408" y="1892808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SpatialDataEngine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extract_clean_timeseries()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Sentinel-1 via Earth Engine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8640" y="2825496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2825496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8368" y="2916936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CarbonAssetEngine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calculate_credits()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VM0051 rice AWD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154680" y="2825496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154680" y="2825496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64408" y="2916936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AlmCarbonEngine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calculate_credits()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VM0042 + VMD0054 leakage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8640" y="3849624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48640" y="3849624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8368" y="3941064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methodology.readiness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build_readiness_checklist()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per-requirement states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154680" y="3849624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154680" y="3849624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64408" y="3941064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carbon.snapshot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build_snapshot()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calculate_from_snapshot()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48640" y="4873752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48640" y="4873752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8368" y="4965192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WorkerContext · jobs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create_job()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claim_next_job()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3154680" y="4873752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154680" y="4873752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264408" y="4965192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AttachmentStorage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LocalFilesystemStorage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S3Storage (strategy)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5897880" y="1435608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PERSISTENT DATA (50+ TABLES)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897880" y="1783080"/>
            <a:ext cx="2852928" cy="4096512"/>
            <a:chOff x="5897880" y="1783080"/>
            <a:chExt cx="2852928" cy="4096512"/>
          </a:xfrm>
        </p:grpSpPr>
        <p:pic>
          <p:nvPicPr>
            <p:cNvPr id="44" name="Picture 43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1847088"/>
              <a:ext cx="256032" cy="256032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6236208" y="178308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Identity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organizations · users · project_members</a:t>
              </a:r>
            </a:p>
          </p:txBody>
        </p:sp>
        <p:pic>
          <p:nvPicPr>
            <p:cNvPr id="46" name="Picture 45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2670048"/>
              <a:ext cx="256032" cy="256032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6236208" y="260604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Fields &amp; evidence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fields · crop_seasons · practice_events · attachments</a:t>
              </a:r>
            </a:p>
          </p:txBody>
        </p:sp>
        <p:pic>
          <p:nvPicPr>
            <p:cNvPr id="48" name="Picture 47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3493008"/>
              <a:ext cx="256032" cy="256032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6236208" y="342900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Methodology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methodology_bundles · methodology_requirements · readiness_determinations</a:t>
              </a:r>
            </a:p>
          </p:txBody>
        </p:sp>
        <p:pic>
          <p:nvPicPr>
            <p:cNvPr id="50" name="Picture 49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4315968"/>
              <a:ext cx="256032" cy="256032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6236208" y="425196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Calculation &amp; review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calculations · review_submissions · findings</a:t>
              </a:r>
            </a:p>
          </p:txBody>
        </p:sp>
        <p:pic>
          <p:nvPicPr>
            <p:cNvPr id="52" name="Picture 51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5138928"/>
              <a:ext cx="256032" cy="256032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6236208" y="507492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Jobs &amp; AI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background_jobs · workers · ai_records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8915400" y="1435608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BEHAVIOUR (STATE MACHINES)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8915400" y="1801368"/>
            <a:ext cx="2743200" cy="3840480"/>
            <a:chOff x="8915400" y="1801368"/>
            <a:chExt cx="2743200" cy="3840480"/>
          </a:xfrm>
        </p:grpSpPr>
        <p:sp>
          <p:nvSpPr>
            <p:cNvPr id="56" name="TextBox 55"/>
            <p:cNvSpPr txBox="1"/>
            <p:nvPr/>
          </p:nvSpPr>
          <p:spPr>
            <a:xfrm>
              <a:off x="8915400" y="180136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Calculation version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915400" y="2167128"/>
              <a:ext cx="1234440" cy="384048"/>
            </a:xfrm>
            <a:prstGeom prst="roundRect">
              <a:avLst>
                <a:gd name="adj" fmla="val 40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933688" y="2203704"/>
              <a:ext cx="119786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A86A12"/>
                  </a:solidFill>
                  <a:latin typeface="Calibri"/>
                </a:rPr>
                <a:t>draft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10287000" y="2167128"/>
              <a:ext cx="1371600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0305288" y="2203704"/>
              <a:ext cx="133502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1">
                  <a:solidFill>
                    <a:srgbClr val="1E5B3F"/>
                  </a:solidFill>
                  <a:latin typeface="Calibri"/>
                </a:rPr>
                <a:t>ready_for_review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915400" y="257860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decided by blocking readiness items</a:t>
              </a:r>
            </a:p>
          </p:txBody>
        </p:sp>
        <p:sp>
          <p:nvSpPr>
            <p:cNvPr id="62" name="Down Arrow 61"/>
            <p:cNvSpPr/>
            <p:nvPr/>
          </p:nvSpPr>
          <p:spPr>
            <a:xfrm>
              <a:off x="10195560" y="2852928"/>
              <a:ext cx="182880" cy="201168"/>
            </a:xfrm>
            <a:prstGeom prst="downArrow">
              <a:avLst/>
            </a:prstGeom>
            <a:solidFill>
              <a:srgbClr val="9AA7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9464040" y="3108960"/>
              <a:ext cx="1645920" cy="384048"/>
            </a:xfrm>
            <a:prstGeom prst="roundRect">
              <a:avLst>
                <a:gd name="adj" fmla="val 40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482328" y="3145536"/>
              <a:ext cx="160934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4F5D56"/>
                  </a:solidFill>
                  <a:latin typeface="Calibri"/>
                </a:rPr>
                <a:t>superseded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915400" y="3511296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new evidence → new version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915400" y="399592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Background job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8915400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924544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alibri"/>
                </a:rPr>
                <a:t>pending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9848088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9857232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alibri"/>
                </a:rPr>
                <a:t>running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0780776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789919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done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8915400" y="4818888"/>
              <a:ext cx="2743200" cy="8229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or error (retry / invalid) · cancel_requested → cancelled · heartbeat-monitored workers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Names as in the source code (src/, backend/worker.py) · review states shown on the readiness slide · full ER model in the report (§4)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Interface design: every user action has a visible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12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3566160" cy="4526280"/>
            <a:chOff x="548640" y="1481328"/>
            <a:chExt cx="3566160" cy="452628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map pinned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232" y="1627632"/>
              <a:ext cx="274320" cy="27432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051560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Register a field</a:t>
              </a:r>
            </a:p>
          </p:txBody>
        </p:sp>
        <p:pic>
          <p:nvPicPr>
            <p:cNvPr id="20" name="Picture 19" descr="Screenshot: Register a field screen of the Terra-Audit web app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6537" y="2029968"/>
              <a:ext cx="3290365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21" name="TextBox 20"/>
            <p:cNvSpPr txBox="1"/>
            <p:nvPr/>
          </p:nvSpPr>
          <p:spPr>
            <a:xfrm>
              <a:off x="713232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map canvas · input-mode tabs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3232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ACTION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draw / upload GeoJSON-KML / paste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3232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boundary → confirm details → field saved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297679" y="1481328"/>
            <a:ext cx="3566160" cy="4526280"/>
            <a:chOff x="4297679" y="1481328"/>
            <a:chExt cx="3566160" cy="4526280"/>
          </a:xfrm>
        </p:grpSpPr>
        <p:sp>
          <p:nvSpPr>
            <p:cNvPr id="25" name="Rounded Rectangle 24"/>
            <p:cNvSpPr/>
            <p:nvPr/>
          </p:nvSpPr>
          <p:spPr>
            <a:xfrm>
              <a:off x="4297679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6" name="Picture 25" descr="satellite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62271" y="1627632"/>
              <a:ext cx="274320" cy="27432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4800599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Signal analytics</a:t>
              </a:r>
            </a:p>
          </p:txBody>
        </p:sp>
        <p:pic>
          <p:nvPicPr>
            <p:cNvPr id="28" name="Picture 27" descr="Screenshot: Signal analytics screen of the Terra-Audit web app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35021" y="2029968"/>
              <a:ext cx="3291476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29" name="TextBox 28"/>
            <p:cNvSpPr txBox="1"/>
            <p:nvPr/>
          </p:nvSpPr>
          <p:spPr>
            <a:xfrm>
              <a:off x="4462271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analysis window · detector · Run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462271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EVENT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close &lt; open → inline error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62271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job pending → results + audit trail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046719" y="1481328"/>
            <a:ext cx="3566160" cy="4526280"/>
            <a:chOff x="8046719" y="1481328"/>
            <a:chExt cx="3566160" cy="4526280"/>
          </a:xfrm>
        </p:grpSpPr>
        <p:sp>
          <p:nvSpPr>
            <p:cNvPr id="33" name="Rounded Rectangle 32"/>
            <p:cNvSpPr/>
            <p:nvPr/>
          </p:nvSpPr>
          <p:spPr>
            <a:xfrm>
              <a:off x="8046719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calculator icon (decorative)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11311" y="1627632"/>
              <a:ext cx="274320" cy="27432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8549640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Calculation &amp; readiness</a:t>
              </a:r>
            </a:p>
          </p:txBody>
        </p:sp>
        <p:pic>
          <p:nvPicPr>
            <p:cNvPr id="36" name="Picture 35" descr="Screenshot: Calculation &amp; readiness screen of the Terra-Audit web app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84417" y="2029968"/>
              <a:ext cx="3290764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37" name="TextBox 36"/>
            <p:cNvSpPr txBox="1"/>
            <p:nvPr/>
          </p:nvSpPr>
          <p:spPr>
            <a:xfrm>
              <a:off x="8211311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seasons · period · Check readiness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11311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EVENT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Check readiness → checklist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211311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Commit → draft / ready_for_review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48640" y="6053328"/>
            <a:ext cx="11094415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4F5D56"/>
                </a:solidFill>
                <a:latin typeface="Calibri"/>
              </a:rPr>
              <a:t>Shared labelled controls · inline validation · text + colour status cues · DD-MM-YYYY dates · keyboard-aware controls · responsive layouts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Code: the AWD rule engine produces an auditable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13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1481328"/>
          <a:ext cx="47091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371600"/>
                <a:gridCol w="1051560"/>
                <a:gridCol w="105156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VV z-score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Flooded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Drydown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09 Jan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1.023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21 Jan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0.441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02 Feb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-0.140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14 Feb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-0.942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26 Feb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-1.440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10 Mar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-0.111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86A1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22 Mar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0.390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03 Apr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-0.606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15 Apr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-1.326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27 Apr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-0.083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86A1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09 May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0.857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21 May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1.936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23560" y="1481328"/>
            <a:ext cx="6016752" cy="4572000"/>
          </a:xfrm>
          <a:prstGeom prst="roundRect">
            <a:avLst>
              <a:gd name="adj" fmla="val 3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1481328"/>
            <a:ext cx="6016752" cy="365760"/>
          </a:xfrm>
          <a:prstGeom prst="rect">
            <a:avLst/>
          </a:prstGeom>
          <a:solidFill>
            <a:srgbClr val="1C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5274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3562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45336"/>
            <a:ext cx="510235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onsolas"/>
              </a:rPr>
              <a:t>src/signals/threshold_gate.py · AdaptiveAWDGate (excerpt)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984248"/>
            <a:ext cx="56509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Field-level statistical baseline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vv_mean = df["vv_smoothed"].mean()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vv_std = df["vv_smoothed"].std()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if vv_std == 0 or np.isnan(vv_std):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   vv_std = 0.1  # Prevent division by zero on flat test data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Z-score flood state detection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df["vv_zscore"] = (df["vv_smoothed"] - vv_mean) / vv_std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df["is_flooded"] = np.where(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df["vv_zscore"] &lt; self.z_flood_threshold, 1, 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Drydown event = sharp positive jump following a flooded state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df["vv_diff"] = df["vv_smoothed"].diff().fillna(0)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threshold_jump = self.dynamic_delta_sigma * vv_std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df["drydown_event"] = np.where(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(df["vv_diff"] &gt; threshold_jump)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&amp; (df["is_flooded"].shift(1) == 1), 1, 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Left: the columns this code produces, from the live run (audit-trail table in the app) · z_flood_threshold = −0.8, dynamic_delta_sigma = 1.2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Code: the credit engine blocks instead of guessing — and a test proves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481328"/>
            <a:ext cx="6080760" cy="4572000"/>
          </a:xfrm>
          <a:prstGeom prst="roundRect">
            <a:avLst>
              <a:gd name="adj" fmla="val 3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1481328"/>
            <a:ext cx="6080760" cy="365760"/>
          </a:xfrm>
          <a:prstGeom prst="rect">
            <a:avLst/>
          </a:prstGeom>
          <a:solidFill>
            <a:srgbClr val="1C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494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1545336"/>
            <a:ext cx="51663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onsolas"/>
              </a:rPr>
              <a:t>src/carbon/rice.py · calculate_credits() (condensed)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984248"/>
            <a:ext cx="5715000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Baseline vs project CH4 (Eq. 6/8)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e_baseline = self.ef_c * 1.0 * sc_p * sc_o_bsl * days * area_ha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e_project  = self.ef_c * sf_w_project * sc_p * sc_o_wp * days * area_ha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delta_e_co2e = (e_baseline - e_project) * self.gwp_ch4 / 1000.0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QA3 project-size gate (§8.6.3)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if delta_e_co2e &gt; self.QA3_PROJECT_SIZE_GATE_TCO2E_YR: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    return {"qa3_pathway_valid": False,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            "final_issuance": None, ...}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15% uncertainty, N2O penalty (Eq. 25), net (Eq. 29)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ch4_after_unc = delta_e_co2e * (1 - self.UNC_QA3_DEFAULT)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pe_n2o = (self._n2o_irrigation_penalty(q_n, area_ha)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         if awd_events &gt; 0 else 0.0)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final_issuance = max(0.0, ch4_after_unc - pe_n2o)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481328"/>
            <a:ext cx="4782312" cy="251460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481328"/>
            <a:ext cx="4782312" cy="365760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0430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8718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7006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545336"/>
            <a:ext cx="38679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4F5D56"/>
                </a:solidFill>
                <a:latin typeface="Consolas"/>
              </a:rPr>
              <a:t>tests/test_carbon_calculator.py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984248"/>
            <a:ext cx="4416552" cy="1920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def test_qa3_project_size_gate_blocks_oversized_projects(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engine):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r = engine.calculate_credits(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awd_events=2, season_length_days=120,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area_ha=500_000.0, q_n_kg_per_ha=0.0)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4B00"/>
                </a:solidFill>
                <a:latin typeface="Consolas"/>
              </a:rPr>
              <a:t>    assert r["qa3_pathway_valid"] is False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4B00"/>
                </a:solidFill>
                <a:latin typeface="Consolas"/>
              </a:rPr>
              <a:t>    assert r["final_issuance"] is None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24528"/>
            <a:ext cx="4782312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Every factor is a named constant cited to its VM0051 / IPCC table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All intermediate values are returned for the audit trail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Snapshot calculation never re-reads the live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Engine code condensed for the slide — full function in src/carbon/rice.py · test passes in the 184-test backend suite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184 backend tests pass — layered from equations to tenant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15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2066543" cy="1554480"/>
            <a:chOff x="548640" y="1481328"/>
            <a:chExt cx="2066543" cy="155448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8640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FFFFFF"/>
                  </a:solidFill>
                  <a:latin typeface="Calibri"/>
                </a:rPr>
                <a:t>184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8640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backend tests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0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D7EBDF"/>
                  </a:solidFill>
                  <a:latin typeface="Calibri"/>
                </a:rPr>
                <a:t>0 failed · pytest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798064" y="1481328"/>
            <a:ext cx="2066543" cy="1554480"/>
            <a:chOff x="2798064" y="1481328"/>
            <a:chExt cx="2066543" cy="1554480"/>
          </a:xfrm>
        </p:grpSpPr>
        <p:sp>
          <p:nvSpPr>
            <p:cNvPr id="22" name="Rounded Rectangle 21"/>
            <p:cNvSpPr/>
            <p:nvPr/>
          </p:nvSpPr>
          <p:spPr>
            <a:xfrm>
              <a:off x="2798064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798064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4 / 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798064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frontend tests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798064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npm test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047488" y="1481328"/>
            <a:ext cx="2066543" cy="1554480"/>
            <a:chOff x="5047488" y="1481328"/>
            <a:chExt cx="2066543" cy="1554480"/>
          </a:xfrm>
        </p:grpSpPr>
        <p:sp>
          <p:nvSpPr>
            <p:cNvPr id="27" name="Rounded Rectangle 26"/>
            <p:cNvSpPr/>
            <p:nvPr/>
          </p:nvSpPr>
          <p:spPr>
            <a:xfrm>
              <a:off x="5047488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47488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✓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47488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production build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47488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next build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296912" y="1481328"/>
            <a:ext cx="2066543" cy="1554480"/>
            <a:chOff x="7296912" y="1481328"/>
            <a:chExt cx="2066543" cy="1554480"/>
          </a:xfrm>
        </p:grpSpPr>
        <p:sp>
          <p:nvSpPr>
            <p:cNvPr id="32" name="Rounded Rectangle 31"/>
            <p:cNvSpPr/>
            <p:nvPr/>
          </p:nvSpPr>
          <p:spPr>
            <a:xfrm>
              <a:off x="7296912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296912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✓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296912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type check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96912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TypeScript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546336" y="1481328"/>
            <a:ext cx="2066543" cy="1554480"/>
            <a:chOff x="9546336" y="1481328"/>
            <a:chExt cx="2066543" cy="1554480"/>
          </a:xfrm>
        </p:grpSpPr>
        <p:sp>
          <p:nvSpPr>
            <p:cNvPr id="37" name="Rounded Rectangle 36"/>
            <p:cNvSpPr/>
            <p:nvPr/>
          </p:nvSpPr>
          <p:spPr>
            <a:xfrm>
              <a:off x="9546336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546336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546336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lint errors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546336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ESLint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48640" y="3355848"/>
            <a:ext cx="11000231" cy="1097280"/>
            <a:chOff x="548640" y="3355848"/>
            <a:chExt cx="11000231" cy="1097280"/>
          </a:xfrm>
        </p:grpSpPr>
        <p:sp>
          <p:nvSpPr>
            <p:cNvPr id="42" name="Rounded Rectangle 41"/>
            <p:cNvSpPr/>
            <p:nvPr/>
          </p:nvSpPr>
          <p:spPr>
            <a:xfrm>
              <a:off x="548640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13232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Unit / regression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equations · golden values · hard gates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3154680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355848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520440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API / integration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auth · tenant isolation · jobs · exports</a:t>
              </a:r>
            </a:p>
          </p:txBody>
        </p:sp>
        <p:sp>
          <p:nvSpPr>
            <p:cNvPr id="47" name="Right Arrow 46"/>
            <p:cNvSpPr/>
            <p:nvPr/>
          </p:nvSpPr>
          <p:spPr>
            <a:xfrm>
              <a:off x="5961888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6163055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327647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Frontend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tests · types · lint · build</a:t>
              </a:r>
            </a:p>
          </p:txBody>
        </p:sp>
        <p:sp>
          <p:nvSpPr>
            <p:cNvPr id="50" name="Right Arrow 49"/>
            <p:cNvSpPr/>
            <p:nvPr/>
          </p:nvSpPr>
          <p:spPr>
            <a:xfrm>
              <a:off x="8769096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8970263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34855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Operational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deployment · external services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48640" y="4727448"/>
            <a:ext cx="11036808" cy="1371600"/>
            <a:chOff x="548640" y="4727448"/>
            <a:chExt cx="11036808" cy="1371600"/>
          </a:xfrm>
        </p:grpSpPr>
        <p:sp>
          <p:nvSpPr>
            <p:cNvPr id="54" name="TextBox 53"/>
            <p:cNvSpPr txBox="1"/>
            <p:nvPr/>
          </p:nvSpPr>
          <p:spPr>
            <a:xfrm>
              <a:off x="548640" y="4727448"/>
              <a:ext cx="539496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Pass criterion</a:t>
              </a: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0 failures, no unjustified skips — and unsupported states must stay explicit, never silently satisfied.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190488" y="4727448"/>
              <a:ext cx="539496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Risks → contingency</a:t>
              </a: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No ground truth → ML advisory · unimplemented rules → blocking checks · live services → isolated fixtures.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All five checks re-run on the current code, 10 Oct 2026 · ESLint: 0 errors, 4 warnings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Key test cases prove gates, isolation and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16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1481328"/>
          <a:ext cx="11091672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3337560"/>
                <a:gridCol w="3017520"/>
                <a:gridCol w="2999232"/>
                <a:gridCol w="777240"/>
              </a:tblGrid>
              <a:tr h="56692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QA3 size gate — 500,000 ha field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Reject above 60,000 tCO₂e/yr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qa3_pathway_valid = False, no issuance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Another organization reads a field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Cannot list or open it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empty list · direct GET → 404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PDF after live evidence is edited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Built from the frozen snapshot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owner 200 · viewer 403 · other org 404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TC-06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AI output claims “certified”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Reject; one retry, then fail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validation error · nothing saved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Evidence: tests/test_carbon_calculator.py · tests/backend/test_fields_endpoints.py · test_evidence_verification.py · tests/test_ai_validate.py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Challenges solved — and what remains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REFLECTION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8031" y="548640"/>
            <a:ext cx="777240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81328"/>
            <a:ext cx="66751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CHALLENGE  →  SOLUTION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1892808"/>
            <a:ext cx="6675120" cy="1234440"/>
            <a:chOff x="548640" y="1892808"/>
            <a:chExt cx="6675120" cy="1234440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1892808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777240" y="2194560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0" name="Picture 19" descr="calculator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6470" y="2343790"/>
              <a:ext cx="323331" cy="323331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1600200" y="2002536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Methodology fidelity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Factors cited to tables + golden-value tests — caught a wrong EF (1.4 → 0.85).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48640" y="3291840"/>
            <a:ext cx="6675120" cy="1234440"/>
            <a:chOff x="548640" y="3291840"/>
            <a:chExt cx="6675120" cy="1234440"/>
          </a:xfrm>
        </p:grpSpPr>
        <p:sp>
          <p:nvSpPr>
            <p:cNvPr id="23" name="Rounded Rectangle 22"/>
            <p:cNvSpPr/>
            <p:nvPr/>
          </p:nvSpPr>
          <p:spPr>
            <a:xfrm>
              <a:off x="548640" y="3291840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77240" y="3593592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5" name="Picture 24" descr="c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6470" y="3742822"/>
              <a:ext cx="323331" cy="323331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1600200" y="3401568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Slow satellite &amp; AI work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Durable job queue with a separate Python worker.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48640" y="4690872"/>
            <a:ext cx="6675120" cy="1234440"/>
            <a:chOff x="548640" y="4690872"/>
            <a:chExt cx="6675120" cy="1234440"/>
          </a:xfrm>
        </p:grpSpPr>
        <p:sp>
          <p:nvSpPr>
            <p:cNvPr id="28" name="Rounded Rectangle 27"/>
            <p:cNvSpPr/>
            <p:nvPr/>
          </p:nvSpPr>
          <p:spPr>
            <a:xfrm>
              <a:off x="548640" y="4690872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777240" y="4992624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0" name="Picture 29" descr="rotate ccw clo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6470" y="5141854"/>
              <a:ext cx="323331" cy="32333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600200" y="4800600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Numbers drifting after edits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Immutable snapshots; edits create a new version.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498079" y="1481328"/>
            <a:ext cx="4142232" cy="4572000"/>
            <a:chOff x="7498079" y="1481328"/>
            <a:chExt cx="4142232" cy="4572000"/>
          </a:xfrm>
        </p:grpSpPr>
        <p:sp>
          <p:nvSpPr>
            <p:cNvPr id="33" name="Rounded Rectangle 32"/>
            <p:cNvSpPr/>
            <p:nvPr/>
          </p:nvSpPr>
          <p:spPr>
            <a:xfrm>
              <a:off x="7498079" y="1481328"/>
              <a:ext cx="4142232" cy="4572000"/>
            </a:xfrm>
            <a:prstGeom prst="roundRect">
              <a:avLst>
                <a:gd name="adj" fmla="val 6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triangle alert icon (decorative)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26679" y="1664208"/>
              <a:ext cx="274320" cy="27432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8092440" y="1664208"/>
              <a:ext cx="33832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STILL OPEN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26679" y="2029968"/>
              <a:ext cx="3749039" cy="20116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VM0051 leakage not yet modelled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No independent AWD ground truth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AI evaluation set incomplete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Production provenance unverified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726679" y="4087368"/>
              <a:ext cx="3685032" cy="9144"/>
            </a:xfrm>
            <a:prstGeom prst="rect">
              <a:avLst/>
            </a:prstGeom>
            <a:solidFill>
              <a:srgbClr val="EBCB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flask conical icon (decorative)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726679" y="4224528"/>
              <a:ext cx="274320" cy="27432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8092440" y="4224528"/>
              <a:ext cx="33832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NEXT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726679" y="4572000"/>
              <a:ext cx="3749039" cy="1463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Field ground-truth campaign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Eq. 38 uncertainty for large projects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Remaining VM0051 terms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Software verification ≠ VVB verification ≠ Verra registration or issuance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dark green topographi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0"/>
            <a:ext cx="6400800" cy="1005840"/>
          </a:xfrm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48640" y="1051560"/>
            <a:ext cx="6400800" cy="2377440"/>
            <a:chOff x="548640" y="1051560"/>
            <a:chExt cx="6400800" cy="2377440"/>
          </a:xfrm>
        </p:grpSpPr>
        <p:pic>
          <p:nvPicPr>
            <p:cNvPr id="5" name="Picture 4" descr="leaf icon (decorative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60" y="1051560"/>
              <a:ext cx="685800" cy="6858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548640" y="2880360"/>
              <a:ext cx="640080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600" b="0">
                  <a:solidFill>
                    <a:srgbClr val="CFE6D8"/>
                  </a:solidFill>
                  <a:latin typeface="Calibri"/>
                </a:rPr>
                <a:t>Questions are welcome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8640" y="4023360"/>
            <a:ext cx="6583680" cy="1645920"/>
            <a:chOff x="548640" y="4023360"/>
            <a:chExt cx="6583680" cy="1645920"/>
          </a:xfrm>
        </p:grpSpPr>
        <p:sp>
          <p:nvSpPr>
            <p:cNvPr id="8" name="TextBox 7"/>
            <p:cNvSpPr txBox="1"/>
            <p:nvPr/>
          </p:nvSpPr>
          <p:spPr>
            <a:xfrm>
              <a:off x="548640" y="4023360"/>
              <a:ext cx="6583680" cy="1645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Live app  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terra-audit.vercel.app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Repository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github.com/knah1d/terra-audit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Presenter 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Kazi Nahid · BSSE 1437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Supervisor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Dr. Emon Kumar Dey, Professor, IIT, DU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35240" y="2103120"/>
            <a:ext cx="3977639" cy="2286000"/>
            <a:chOff x="7635240" y="2103120"/>
            <a:chExt cx="3977639" cy="2286000"/>
          </a:xfrm>
        </p:grpSpPr>
        <p:sp>
          <p:nvSpPr>
            <p:cNvPr id="10" name="Rounded Rectangle 9"/>
            <p:cNvSpPr/>
            <p:nvPr/>
          </p:nvSpPr>
          <p:spPr>
            <a:xfrm>
              <a:off x="7635240" y="2103120"/>
              <a:ext cx="1874519" cy="228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1" name="Picture 10" descr="QR code linking to the Live app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18119" y="2240280"/>
              <a:ext cx="1508760" cy="150876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7635240" y="3840480"/>
              <a:ext cx="1874519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Live app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738360" y="2103120"/>
              <a:ext cx="1874519" cy="228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QR code linking to the GitHub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21240" y="2240280"/>
              <a:ext cx="1508760" cy="150876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9738360" y="3840480"/>
              <a:ext cx="1874519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GitHub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Internal review turns a calculation into a verifier-ready MRV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Nothing reaches the report unreviewed — and everything in it can be checked.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2029968"/>
            <a:ext cx="1572768" cy="1627632"/>
            <a:chOff x="548640" y="2029968"/>
            <a:chExt cx="1572768" cy="1627632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1051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51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35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Save calculation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35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frozen snapshot</a:t>
              </a: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1938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148840" y="2029968"/>
            <a:ext cx="1572768" cy="1627632"/>
            <a:chOff x="2148840" y="2029968"/>
            <a:chExt cx="1572768" cy="1627632"/>
          </a:xfrm>
        </p:grpSpPr>
        <p:sp>
          <p:nvSpPr>
            <p:cNvPr id="25" name="Rounded Rectangle 24"/>
            <p:cNvSpPr/>
            <p:nvPr/>
          </p:nvSpPr>
          <p:spPr>
            <a:xfrm>
              <a:off x="2148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2651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51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203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Submit for review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03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lead / contributor</a:t>
              </a:r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35387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749039" y="2029968"/>
            <a:ext cx="1572768" cy="1627632"/>
            <a:chOff x="3749039" y="2029968"/>
            <a:chExt cx="1572768" cy="1627632"/>
          </a:xfrm>
        </p:grpSpPr>
        <p:sp>
          <p:nvSpPr>
            <p:cNvPr id="32" name="Rounded Rectangle 31"/>
            <p:cNvSpPr/>
            <p:nvPr/>
          </p:nvSpPr>
          <p:spPr>
            <a:xfrm>
              <a:off x="3749039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251959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519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039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Reviewer checks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039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findings · diff</a:t>
              </a: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51389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349240" y="2029968"/>
            <a:ext cx="1572767" cy="1627632"/>
            <a:chOff x="5349240" y="2029968"/>
            <a:chExt cx="1572767" cy="1627632"/>
          </a:xfrm>
        </p:grpSpPr>
        <p:sp>
          <p:nvSpPr>
            <p:cNvPr id="39" name="Rounded Rectangle 38"/>
            <p:cNvSpPr/>
            <p:nvPr/>
          </p:nvSpPr>
          <p:spPr>
            <a:xfrm>
              <a:off x="53492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852159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8521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041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Decision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041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approve / changes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67391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949440" y="2029968"/>
            <a:ext cx="1572767" cy="1627632"/>
            <a:chOff x="6949440" y="2029968"/>
            <a:chExt cx="1572767" cy="1627632"/>
          </a:xfrm>
        </p:grpSpPr>
        <p:sp>
          <p:nvSpPr>
            <p:cNvPr id="46" name="Rounded Rectangle 45"/>
            <p:cNvSpPr/>
            <p:nvPr/>
          </p:nvSpPr>
          <p:spPr>
            <a:xfrm>
              <a:off x="69494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452360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523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5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043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Project MRV report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0043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final when approved</a:t>
              </a:r>
            </a:p>
          </p:txBody>
        </p:sp>
        <p:sp>
          <p:nvSpPr>
            <p:cNvPr id="51" name="Right Arrow 50"/>
            <p:cNvSpPr/>
            <p:nvPr/>
          </p:nvSpPr>
          <p:spPr>
            <a:xfrm>
              <a:off x="83393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549640" y="2029968"/>
            <a:ext cx="1572768" cy="1627632"/>
            <a:chOff x="8549640" y="2029968"/>
            <a:chExt cx="1572768" cy="1627632"/>
          </a:xfrm>
        </p:grpSpPr>
        <p:sp>
          <p:nvSpPr>
            <p:cNvPr id="53" name="Rounded Rectangle 52"/>
            <p:cNvSpPr/>
            <p:nvPr/>
          </p:nvSpPr>
          <p:spPr>
            <a:xfrm>
              <a:off x="8549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9052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052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6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6045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Evidence package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6045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ZIP · SHA-256</a:t>
              </a:r>
            </a:p>
          </p:txBody>
        </p:sp>
        <p:sp>
          <p:nvSpPr>
            <p:cNvPr id="58" name="Right Arrow 57"/>
            <p:cNvSpPr/>
            <p:nvPr/>
          </p:nvSpPr>
          <p:spPr>
            <a:xfrm>
              <a:off x="9939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0149840" y="2029968"/>
            <a:ext cx="1371600" cy="1627632"/>
            <a:chOff x="10149840" y="2029968"/>
            <a:chExt cx="1371600" cy="1627632"/>
          </a:xfrm>
        </p:grpSpPr>
        <p:sp>
          <p:nvSpPr>
            <p:cNvPr id="60" name="Rounded Rectangle 59"/>
            <p:cNvSpPr/>
            <p:nvPr/>
          </p:nvSpPr>
          <p:spPr>
            <a:xfrm>
              <a:off x="10149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0652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652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7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204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Verifier (VVB)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204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validation &amp; verification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48640" y="4023360"/>
            <a:ext cx="3886200" cy="1920240"/>
            <a:chOff x="548640" y="4023360"/>
            <a:chExt cx="5449824" cy="1920240"/>
          </a:xfrm>
        </p:grpSpPr>
        <p:sp>
          <p:nvSpPr>
            <p:cNvPr id="66" name="Rounded Rectangle 65"/>
            <p:cNvSpPr/>
            <p:nvPr/>
          </p:nvSpPr>
          <p:spPr>
            <a:xfrm>
              <a:off x="548640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22959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8" name="Picture 67" descr="wheat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0968" y="4409968"/>
              <a:ext cx="342351" cy="342351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1691640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Project MRV report (PDF)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VM0051 monitoring-report structure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All fields summed, QA3 checked per year, QA/QC trail, requirements, project documents and sign-off.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4572000" y="4023360"/>
            <a:ext cx="3886200" cy="1920240"/>
            <a:chOff x="6190488" y="4023360"/>
            <a:chExt cx="5449824" cy="1920240"/>
          </a:xfrm>
        </p:grpSpPr>
        <p:sp>
          <p:nvSpPr>
            <p:cNvPr id="71" name="Rounded Rectangle 70"/>
            <p:cNvSpPr/>
            <p:nvPr/>
          </p:nvSpPr>
          <p:spPr>
            <a:xfrm>
              <a:off x="6190488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6464807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3" name="Picture 72" descr="map icon (decorative)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22816" y="4409968"/>
              <a:ext cx="342351" cy="342351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7333488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Evidence package (ZIP)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Everything a verifier needs, hashed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Field reports, frozen snapshots, Sentinel-1 results, documents and a SHA-256 manifest of every file.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78240" y="4023360"/>
            <a:ext cx="1728216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page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3104" y="4078224"/>
            <a:ext cx="1617404" cy="22860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607040" y="4023360"/>
            <a:ext cx="1033271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5B3F"/>
                </a:solidFill>
                <a:latin typeface="Calibri"/>
              </a:rPr>
              <a:t>REAL OUTPUT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4F5D56"/>
                </a:solidFill>
                <a:latin typeface="Calibri"/>
              </a:rPr>
              <a:t>Page 1 of the project report — FINAL once every field is approved.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Terra-Audit — SE801 Final Presentation</dc:title>
  <dc:subject>AI-Assisted Digital MRV Platform for AWD Rice Irrigation and ALM Carbon Credits</dc:subject>
  <dc:creator>Kazi Nahid</dc:creator>
  <cp:keywords>digital MRV; AWD rice; VM0051; VM0042; carbon accounting; SE801</cp:keywords>
  <dc:description>generated using python-pptx</dc:description>
  <cp:lastModifiedBy>Kazi Nahid</cp:lastModifiedBy>
  <cp:revision>1</cp:revision>
  <dcterms:created xsi:type="dcterms:W3CDTF">2013-01-27T09:14:16Z</dcterms:created>
  <dcterms:modified xsi:type="dcterms:W3CDTF">2013-01-27T09:15:58Z</dcterms:modified>
  <cp:category/>
</cp:coreProperties>
</file>