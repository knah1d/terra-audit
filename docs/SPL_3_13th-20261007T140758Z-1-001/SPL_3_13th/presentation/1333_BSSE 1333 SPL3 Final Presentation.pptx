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Hanken Grotesk Medium"/>
      <p:regular r:id="rId34"/>
      <p:bold r:id="rId35"/>
      <p:italic r:id="rId36"/>
      <p:boldItalic r:id="rId37"/>
    </p:embeddedFont>
    <p:embeddedFont>
      <p:font typeface="Neuton Light"/>
      <p:regular r:id="rId38"/>
      <p:bold r:id="rId39"/>
      <p:boldItalic r:id="rId40"/>
    </p:embeddedFont>
    <p:embeddedFont>
      <p:font typeface="Hanken Grotesk"/>
      <p:regular r:id="rId41"/>
      <p:bold r:id="rId42"/>
      <p:italic r:id="rId43"/>
      <p:boldItalic r:id="rId44"/>
    </p:embeddedFont>
    <p:embeddedFont>
      <p:font typeface="Hanken Grotesk SemiBold"/>
      <p:regular r:id="rId45"/>
      <p:bold r:id="rId46"/>
      <p:italic r:id="rId47"/>
      <p:boldItalic r:id="rId48"/>
    </p:embeddedFont>
    <p:embeddedFont>
      <p:font typeface="Neuton"/>
      <p:regular r:id="rId49"/>
      <p:bold r:id="rId50"/>
      <p:italic r:id="rId51"/>
    </p:embeddedFont>
    <p:embeddedFont>
      <p:font typeface="Hanken Grotesk Ligh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gfDGtU2L3Rn/BNSgBsCOS7Zyn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BAA3FA-F598-4A16-A4C4-719AAEC984A7}">
  <a:tblStyle styleId="{5ABAA3FA-F598-4A16-A4C4-719AAEC984A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utonLight-boldItalic.fntdata"/><Relationship Id="rId42" Type="http://schemas.openxmlformats.org/officeDocument/2006/relationships/font" Target="fonts/HankenGrotesk-bold.fntdata"/><Relationship Id="rId41" Type="http://schemas.openxmlformats.org/officeDocument/2006/relationships/font" Target="fonts/HankenGrotesk-regular.fntdata"/><Relationship Id="rId44" Type="http://schemas.openxmlformats.org/officeDocument/2006/relationships/font" Target="fonts/HankenGrotesk-boldItalic.fntdata"/><Relationship Id="rId43" Type="http://schemas.openxmlformats.org/officeDocument/2006/relationships/font" Target="fonts/HankenGrotesk-italic.fntdata"/><Relationship Id="rId46" Type="http://schemas.openxmlformats.org/officeDocument/2006/relationships/font" Target="fonts/HankenGroteskSemiBold-bold.fntdata"/><Relationship Id="rId45" Type="http://schemas.openxmlformats.org/officeDocument/2006/relationships/font" Target="fonts/HankenGrotesk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ankenGroteskSemiBold-boldItalic.fntdata"/><Relationship Id="rId47" Type="http://schemas.openxmlformats.org/officeDocument/2006/relationships/font" Target="fonts/HankenGroteskSemiBold-italic.fntdata"/><Relationship Id="rId49" Type="http://schemas.openxmlformats.org/officeDocument/2006/relationships/font" Target="fonts/Neuton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HankenGroteskMedium-bold.fntdata"/><Relationship Id="rId34" Type="http://schemas.openxmlformats.org/officeDocument/2006/relationships/font" Target="fonts/HankenGroteskMedium-regular.fntdata"/><Relationship Id="rId37" Type="http://schemas.openxmlformats.org/officeDocument/2006/relationships/font" Target="fonts/HankenGroteskMedium-boldItalic.fntdata"/><Relationship Id="rId36" Type="http://schemas.openxmlformats.org/officeDocument/2006/relationships/font" Target="fonts/HankenGroteskMedium-italic.fntdata"/><Relationship Id="rId39" Type="http://schemas.openxmlformats.org/officeDocument/2006/relationships/font" Target="fonts/NeutonLight-bold.fntdata"/><Relationship Id="rId38" Type="http://schemas.openxmlformats.org/officeDocument/2006/relationships/font" Target="fonts/NeutonLigh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euton-italic.fntdata"/><Relationship Id="rId50" Type="http://schemas.openxmlformats.org/officeDocument/2006/relationships/font" Target="fonts/Neuton-bold.fntdata"/><Relationship Id="rId53" Type="http://schemas.openxmlformats.org/officeDocument/2006/relationships/font" Target="fonts/HankenGroteskLight-bold.fntdata"/><Relationship Id="rId52" Type="http://schemas.openxmlformats.org/officeDocument/2006/relationships/font" Target="fonts/HankenGroteskLight-regular.fntdata"/><Relationship Id="rId11" Type="http://schemas.openxmlformats.org/officeDocument/2006/relationships/slide" Target="slides/slide5.xml"/><Relationship Id="rId55" Type="http://schemas.openxmlformats.org/officeDocument/2006/relationships/font" Target="fonts/HankenGroteskLight-boldItalic.fntdata"/><Relationship Id="rId10" Type="http://schemas.openxmlformats.org/officeDocument/2006/relationships/slide" Target="slides/slide4.xml"/><Relationship Id="rId54" Type="http://schemas.openxmlformats.org/officeDocument/2006/relationships/font" Target="fonts/HankenGrotesk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h1499daca25a6e9a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h1499daca25a6e9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h1499daca25a6e9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h1499daca25a6e9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h354936156d2f4d6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h354936156d2f4d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h354936156d2f4d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h354936156d2f4d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h354936156d2f4d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h354936156d2f4d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5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26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26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26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26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26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26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26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26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26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26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26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26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26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1" name="Google Shape;41;p2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" name="Google Shape;48;p2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2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28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28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28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5" name="Google Shape;55;p28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6" name="Google Shape;56;p28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7" name="Google Shape;57;p28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" name="Google Shape;58;p28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9" name="Google Shape;59;p28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" name="Google Shape;60;p28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28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62" name="Google Shape;62;p28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63" name="Google Shape;63;p28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" name="Google Shape;68;p2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" name="Google Shape;76;p29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29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29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29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Google Shape;81;p29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Google Shape;82;p29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" name="Google Shape;83;p29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29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" name="Google Shape;85;p29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30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93" name="Google Shape;93;p30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5" name="Google Shape;95;p30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30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7" name="Google Shape;97;p30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00" name="Google Shape;100;p31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31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" name="Google Shape;103;p31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04" name="Google Shape;104;p31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31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31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7" name="Google Shape;107;p31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31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9" name="Google Shape;109;p31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10" name="Google Shape;110;p31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1" name="Google Shape;111;p31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12" name="Google Shape;112;p31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13" name="Google Shape;113;p31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4" name="Google Shape;114;p31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9" name="Google Shape;119;p32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1" name="Google Shape;121;p32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22" name="Google Shape;122;p32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33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33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9" name="Google Shape;129;p33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0" name="Google Shape;130;p33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1" name="Google Shape;131;p33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2" name="Google Shape;132;p33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3" name="Google Shape;133;p33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4" name="Google Shape;134;p3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33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" name="Google Shape;138;p33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41" name="Google Shape;141;p3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34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43" name="Google Shape;143;p34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44" name="Google Shape;144;p34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" name="Google Shape;145;p34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5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50" name="Google Shape;150;p35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35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35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54" name="Google Shape;154;p35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35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35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7" name="Google Shape;157;p35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8" name="Google Shape;158;p35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9" name="Google Shape;159;p35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0" name="Google Shape;160;p35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35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2" name="Google Shape;162;p3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3" name="Google Shape;163;p35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7" name="Google Shape;167;p35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0" name="Google Shape;170;p35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2" name="Google Shape;172;p35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5" name="Google Shape;175;p36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6" name="Google Shape;176;p36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7" name="Google Shape;177;p36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8" name="Google Shape;178;p36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9" name="Google Shape;179;p36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36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36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36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36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36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36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9" name="Google Shape;189;p36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5" name="Google Shape;195;p36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6" name="Google Shape;196;p36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7" name="Google Shape;197;p36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8" name="Google Shape;198;p36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9" name="Google Shape;199;p36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6" name="Google Shape;206;p36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36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36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12" name="Google Shape;212;p37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6" name="Google Shape;226;p37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37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37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37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37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37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37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37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8" name="Google Shape;248;p38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9" name="Google Shape;249;p38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0" name="Google Shape;250;p38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1" name="Google Shape;251;p38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38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38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38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38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38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38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38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38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38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38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38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38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38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38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38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38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8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8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4" name="Google Shape;274;p38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5" name="Google Shape;275;p38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6" name="Google Shape;276;p38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7" name="Google Shape;277;p38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8" name="Google Shape;278;p38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38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8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8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4" name="Google Shape;284;p3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5" name="Google Shape;285;p39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7" name="Google Shape;287;p39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39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9" name="Google Shape;289;p39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39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39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39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39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4" name="Google Shape;294;p39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5" name="Google Shape;295;p39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6" name="Google Shape;296;p39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7" name="Google Shape;297;p39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8" name="Google Shape;298;p39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9" name="Google Shape;299;p39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39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39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39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9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4" name="Google Shape;304;p39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39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39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9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39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39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9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39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39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9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9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6" name="Google Shape;316;p39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7" name="Google Shape;317;p39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8" name="Google Shape;318;p39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9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0" name="Google Shape;320;p39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40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40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40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40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40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8" name="Google Shape;328;p40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9" name="Google Shape;329;p40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0" name="Google Shape;330;p40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1" name="Google Shape;331;p40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40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40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40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40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40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8" name="Google Shape;338;p40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40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0" name="Google Shape;340;p40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2" name="Google Shape;342;p40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3" name="Google Shape;343;p40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4" name="Google Shape;344;p40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5" name="Google Shape;345;p40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6" name="Google Shape;346;p40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7" name="Google Shape;347;p40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8" name="Google Shape;348;p40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9" name="Google Shape;349;p40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0" name="Google Shape;350;p40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1" name="Google Shape;351;p40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2" name="Google Shape;352;p40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5" name="Google Shape;355;p4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6" name="Google Shape;356;p41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41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41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41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41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2" name="Google Shape;372;p41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3" name="Google Shape;373;p41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4" name="Google Shape;374;p41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5" name="Google Shape;375;p41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6" name="Google Shape;376;p41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7" name="Google Shape;377;p41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42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42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2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2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2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8" name="Google Shape;388;p42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9" name="Google Shape;389;p42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42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1" name="Google Shape;391;p42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2" name="Google Shape;392;p42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3" name="Google Shape;393;p42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4" name="Google Shape;394;p42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5" name="Google Shape;395;p42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6" name="Google Shape;396;p42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9" name="Google Shape;399;p43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0" name="Google Shape;400;p43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2" name="Google Shape;402;p43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3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4" name="Google Shape;404;p43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3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6" name="Google Shape;406;p43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1" name="Google Shape;411;p44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12" name="Google Shape;412;p44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44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4" name="Google Shape;414;p44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4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6" name="Google Shape;416;p44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7" name="Google Shape;417;p44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8" name="Google Shape;418;p44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9" name="Google Shape;419;p44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0" name="Google Shape;420;p44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1" name="Google Shape;421;p44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2" name="Google Shape;422;p44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3" name="Google Shape;423;p44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4" name="Google Shape;424;p44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44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44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7" name="Google Shape;427;p44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4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4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2" name="Google Shape;432;p4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3" name="Google Shape;433;p4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4" name="Google Shape;434;p4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5" name="Google Shape;435;p45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6" name="Google Shape;436;p45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5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45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5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5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45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4" name="Google Shape;444;p45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45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6" name="Google Shape;446;p45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45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8" name="Google Shape;448;p45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45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45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1" name="Google Shape;451;p45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4" name="Google Shape;454;p4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5" name="Google Shape;455;p4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6" name="Google Shape;456;p4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7" name="Google Shape;457;p4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8" name="Google Shape;458;p46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9" name="Google Shape;459;p46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61" name="Google Shape;461;p4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2" name="Google Shape;462;p46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63" name="Google Shape;463;p46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46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46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46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46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46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46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0" name="Google Shape;470;p46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1" name="Google Shape;471;p46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2" name="Google Shape;472;p46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3" name="Google Shape;473;p46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4" name="Google Shape;474;p46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47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47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48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48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48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48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48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48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48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48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48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48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48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48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48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48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4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48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48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48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48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48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48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48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48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48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48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48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48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48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48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48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40" name="Google Shape;540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6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6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6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6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6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6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6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6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6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6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6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6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6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6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6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6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6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6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6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6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6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6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6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6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6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6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6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6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6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6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6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6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6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6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6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6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6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6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lightcastlepartners.com/insights/2023/11/enhancing-lives-of-rmg-workers-in-bangladesh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ieeexplore.ieee.org/document/10217703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tensorflow.org/hub/tutorials/movenet" TargetMode="External"/><Relationship Id="rId4" Type="http://schemas.openxmlformats.org/officeDocument/2006/relationships/hyperlink" Target="https://research.google/blog/mediapipe-holistic-simultaneous-face-hand-and-pose-prediction-on-device/" TargetMode="External"/><Relationship Id="rId5" Type="http://schemas.openxmlformats.org/officeDocument/2006/relationships/hyperlink" Target="https://ieeexplore.ieee.org/document/10652738" TargetMode="External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eeexplore.ieee.org/document/10652738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2.com/articles/object-detection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rive.google.com/file/d/1-xMJx_UVQh9waef98h86wpVIKPNDW0gY/view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"/>
          <p:cNvSpPr/>
          <p:nvPr/>
        </p:nvSpPr>
        <p:spPr>
          <a:xfrm>
            <a:off x="1418550" y="1179779"/>
            <a:ext cx="6306900" cy="1261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 Low-Cost Vision-based System to Improve Efficiency of Assembly Lines in Ready-made Garments Factories</a:t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1"/>
          <p:cNvSpPr txBox="1"/>
          <p:nvPr/>
        </p:nvSpPr>
        <p:spPr>
          <a:xfrm>
            <a:off x="2218050" y="3679125"/>
            <a:ext cx="4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900">
                <a:latin typeface="Neuton"/>
                <a:ea typeface="Neuton"/>
                <a:cs typeface="Neuton"/>
                <a:sym typeface="Neuton"/>
              </a:rPr>
              <a:t>Project Funded by University Grants Commission</a:t>
            </a:r>
            <a:endParaRPr b="0" i="0" sz="900" u="none" cap="none" strike="noStrike">
              <a:solidFill>
                <a:srgbClr val="000000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4" name="Google Shape;624;p2"/>
          <p:cNvSpPr txBox="1"/>
          <p:nvPr/>
        </p:nvSpPr>
        <p:spPr>
          <a:xfrm>
            <a:off x="219650" y="319700"/>
            <a:ext cx="235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25" name="Google Shape;625;p2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grpSp>
        <p:nvGrpSpPr>
          <p:cNvPr id="626" name="Google Shape;626;p2"/>
          <p:cNvGrpSpPr/>
          <p:nvPr/>
        </p:nvGrpSpPr>
        <p:grpSpPr>
          <a:xfrm>
            <a:off x="643725" y="1710701"/>
            <a:ext cx="6426639" cy="2169802"/>
            <a:chOff x="0" y="0"/>
            <a:chExt cx="10927800" cy="3689512"/>
          </a:xfrm>
        </p:grpSpPr>
        <p:sp>
          <p:nvSpPr>
            <p:cNvPr id="627" name="Google Shape;627;p2"/>
            <p:cNvSpPr/>
            <p:nvPr/>
          </p:nvSpPr>
          <p:spPr>
            <a:xfrm>
              <a:off x="0" y="0"/>
              <a:ext cx="8414400" cy="664200"/>
            </a:xfrm>
            <a:prstGeom prst="roundRect">
              <a:avLst>
                <a:gd fmla="val 10000" name="adj"/>
              </a:avLst>
            </a:prstGeom>
            <a:solidFill>
              <a:srgbClr val="ED7D31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"/>
            <p:cNvSpPr txBox="1"/>
            <p:nvPr/>
          </p:nvSpPr>
          <p:spPr>
            <a:xfrm>
              <a:off x="19451" y="19451"/>
              <a:ext cx="76200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0" lIns="60500" spcFirstLastPara="1" rIns="60500" wrap="square" tIns="6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rPr lang="en" sz="15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Objective</a:t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"/>
            <p:cNvSpPr/>
            <p:nvPr/>
          </p:nvSpPr>
          <p:spPr>
            <a:xfrm>
              <a:off x="628350" y="756328"/>
              <a:ext cx="8414400" cy="664200"/>
            </a:xfrm>
            <a:prstGeom prst="roundRect">
              <a:avLst>
                <a:gd fmla="val 10000" name="adj"/>
              </a:avLst>
            </a:prstGeom>
            <a:solidFill>
              <a:srgbClr val="D7785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"/>
            <p:cNvSpPr txBox="1"/>
            <p:nvPr/>
          </p:nvSpPr>
          <p:spPr>
            <a:xfrm>
              <a:off x="647801" y="775779"/>
              <a:ext cx="73155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0" lIns="60500" spcFirstLastPara="1" rIns="60500" wrap="square" tIns="6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rPr lang="en" sz="15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Methodology</a:t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"/>
            <p:cNvSpPr/>
            <p:nvPr/>
          </p:nvSpPr>
          <p:spPr>
            <a:xfrm>
              <a:off x="1256700" y="1512656"/>
              <a:ext cx="8414400" cy="664200"/>
            </a:xfrm>
            <a:prstGeom prst="roundRect">
              <a:avLst>
                <a:gd fmla="val 10000" name="adj"/>
              </a:avLst>
            </a:prstGeom>
            <a:solidFill>
              <a:srgbClr val="C47F6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"/>
            <p:cNvSpPr txBox="1"/>
            <p:nvPr/>
          </p:nvSpPr>
          <p:spPr>
            <a:xfrm>
              <a:off x="1276151" y="1532107"/>
              <a:ext cx="73155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0" lIns="60500" spcFirstLastPara="1" rIns="60500" wrap="square" tIns="6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rPr lang="en" sz="15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Project Demonstration</a:t>
              </a:r>
              <a:endParaRPr sz="158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"/>
            <p:cNvSpPr/>
            <p:nvPr/>
          </p:nvSpPr>
          <p:spPr>
            <a:xfrm>
              <a:off x="1885050" y="2268984"/>
              <a:ext cx="8414400" cy="664200"/>
            </a:xfrm>
            <a:prstGeom prst="roundRect">
              <a:avLst>
                <a:gd fmla="val 10000" name="adj"/>
              </a:avLst>
            </a:prstGeom>
            <a:solidFill>
              <a:srgbClr val="B38E8A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"/>
            <p:cNvSpPr txBox="1"/>
            <p:nvPr/>
          </p:nvSpPr>
          <p:spPr>
            <a:xfrm>
              <a:off x="1904501" y="2288435"/>
              <a:ext cx="73155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0" lIns="60500" spcFirstLastPara="1" rIns="60500" wrap="square" tIns="6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rPr lang="en" sz="15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Used Technology</a:t>
              </a:r>
              <a:endParaRPr sz="823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t/>
              </a:r>
              <a:endParaRPr sz="823"/>
            </a:p>
          </p:txBody>
        </p:sp>
        <p:sp>
          <p:nvSpPr>
            <p:cNvPr id="635" name="Google Shape;635;p2"/>
            <p:cNvSpPr/>
            <p:nvPr/>
          </p:nvSpPr>
          <p:spPr>
            <a:xfrm>
              <a:off x="2513400" y="3025312"/>
              <a:ext cx="8414400" cy="664200"/>
            </a:xfrm>
            <a:prstGeom prst="roundRect">
              <a:avLst>
                <a:gd fmla="val 10000" name="adj"/>
              </a:avLst>
            </a:prstGeom>
            <a:solidFill>
              <a:srgbClr val="A4A4A4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"/>
            <p:cNvSpPr txBox="1"/>
            <p:nvPr/>
          </p:nvSpPr>
          <p:spPr>
            <a:xfrm>
              <a:off x="2532851" y="3044763"/>
              <a:ext cx="73155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500" lIns="60500" spcFirstLastPara="1" rIns="60500" wrap="square" tIns="6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88"/>
                <a:buFont typeface="Calibri"/>
                <a:buNone/>
              </a:pPr>
              <a:r>
                <a:rPr b="0" i="0" lang="en" sz="1587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Deployment Plan</a:t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"/>
            <p:cNvSpPr/>
            <p:nvPr/>
          </p:nvSpPr>
          <p:spPr>
            <a:xfrm>
              <a:off x="7982767" y="485156"/>
              <a:ext cx="431700" cy="431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7D5CB">
                <a:alpha val="89412"/>
              </a:srgbClr>
            </a:solidFill>
            <a:ln cap="flat" cmpd="sng" w="9525">
              <a:solidFill>
                <a:srgbClr val="F7D5CB">
                  <a:alpha val="89412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"/>
            <p:cNvSpPr txBox="1"/>
            <p:nvPr/>
          </p:nvSpPr>
          <p:spPr>
            <a:xfrm>
              <a:off x="8079890" y="485156"/>
              <a:ext cx="2373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00" lIns="14200" spcFirstLastPara="1" rIns="14200" wrap="square" tIns="14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7"/>
                <a:buFont typeface="Calibri"/>
                <a:buNone/>
              </a:pPr>
              <a:r>
                <a:t/>
              </a:r>
              <a:endParaRPr b="0" i="0" sz="111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"/>
            <p:cNvSpPr/>
            <p:nvPr/>
          </p:nvSpPr>
          <p:spPr>
            <a:xfrm>
              <a:off x="8611118" y="1241484"/>
              <a:ext cx="431700" cy="431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FD6D1">
                <a:alpha val="89412"/>
              </a:srgbClr>
            </a:solidFill>
            <a:ln cap="flat" cmpd="sng" w="9525">
              <a:solidFill>
                <a:srgbClr val="EFD6D1">
                  <a:alpha val="89412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"/>
            <p:cNvSpPr txBox="1"/>
            <p:nvPr/>
          </p:nvSpPr>
          <p:spPr>
            <a:xfrm>
              <a:off x="8708241" y="1241484"/>
              <a:ext cx="2373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00" lIns="14200" spcFirstLastPara="1" rIns="14200" wrap="square" tIns="14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7"/>
                <a:buFont typeface="Calibri"/>
                <a:buNone/>
              </a:pPr>
              <a:r>
                <a:t/>
              </a:r>
              <a:endParaRPr b="0" i="0" sz="111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"/>
            <p:cNvSpPr/>
            <p:nvPr/>
          </p:nvSpPr>
          <p:spPr>
            <a:xfrm>
              <a:off x="9239468" y="1986744"/>
              <a:ext cx="431700" cy="431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8D9D7">
                <a:alpha val="89412"/>
              </a:srgbClr>
            </a:solidFill>
            <a:ln cap="flat" cmpd="sng" w="9525">
              <a:solidFill>
                <a:srgbClr val="E8D9D7">
                  <a:alpha val="89412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"/>
            <p:cNvSpPr txBox="1"/>
            <p:nvPr/>
          </p:nvSpPr>
          <p:spPr>
            <a:xfrm>
              <a:off x="9336591" y="1986744"/>
              <a:ext cx="2373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00" lIns="14200" spcFirstLastPara="1" rIns="14200" wrap="square" tIns="14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7"/>
                <a:buFont typeface="Calibri"/>
                <a:buNone/>
              </a:pPr>
              <a:r>
                <a:t/>
              </a:r>
              <a:endParaRPr b="0" i="0" sz="111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"/>
            <p:cNvSpPr/>
            <p:nvPr/>
          </p:nvSpPr>
          <p:spPr>
            <a:xfrm>
              <a:off x="9867818" y="2750451"/>
              <a:ext cx="431700" cy="431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FDFDF">
                <a:alpha val="89412"/>
              </a:srgbClr>
            </a:solidFill>
            <a:ln cap="flat" cmpd="sng" w="9525">
              <a:solidFill>
                <a:srgbClr val="DFDFDF">
                  <a:alpha val="89412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"/>
            <p:cNvSpPr txBox="1"/>
            <p:nvPr/>
          </p:nvSpPr>
          <p:spPr>
            <a:xfrm>
              <a:off x="9964941" y="2750451"/>
              <a:ext cx="2373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00" lIns="14200" spcFirstLastPara="1" rIns="14200" wrap="square" tIns="14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7"/>
                <a:buFont typeface="Calibri"/>
                <a:buNone/>
              </a:pPr>
              <a:r>
                <a:t/>
              </a:r>
              <a:endParaRPr b="0" i="0" sz="111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0" name="Google Shape;650;p3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Context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1" name="Google Shape;651;p3"/>
          <p:cNvSpPr txBox="1"/>
          <p:nvPr/>
        </p:nvSpPr>
        <p:spPr>
          <a:xfrm>
            <a:off x="219650" y="1358500"/>
            <a:ext cx="747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Existing Scenario</a:t>
            </a:r>
            <a:endParaRPr b="0" i="0" sz="2000" u="none" cap="none" strike="noStrike">
              <a:solidFill>
                <a:srgbClr val="000000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2" name="Google Shape;652;p3"/>
          <p:cNvSpPr txBox="1"/>
          <p:nvPr/>
        </p:nvSpPr>
        <p:spPr>
          <a:xfrm>
            <a:off x="369925" y="2123725"/>
            <a:ext cx="7322400" cy="22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Garment manufacturing relies heavily on human workers.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Large factories may have hundreds of workers operating simultaneously.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Currently, worker activity is often monitored manually by supervisors.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Manual monitoring is difficult to scale and provides limited quantitative and continuous records.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3" name="Google Shape;653;p3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1499daca25a6e9aa_0_9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9" name="Google Shape;659;h1499daca25a6e9aa_0_9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Project Objective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60" name="Google Shape;660;h1499daca25a6e9aa_0_9"/>
          <p:cNvSpPr txBox="1"/>
          <p:nvPr/>
        </p:nvSpPr>
        <p:spPr>
          <a:xfrm>
            <a:off x="219650" y="1358500"/>
            <a:ext cx="747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Garments Activity Recognition System</a:t>
            </a:r>
            <a:endParaRPr sz="20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61" name="Google Shape;661;h1499daca25a6e9aa_0_9"/>
          <p:cNvSpPr txBox="1"/>
          <p:nvPr/>
        </p:nvSpPr>
        <p:spPr>
          <a:xfrm>
            <a:off x="369925" y="2123725"/>
            <a:ext cx="7322400" cy="22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Detect and track multiple workers using existing CCTV footage.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Monitor their movement during sewing-related activities.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Identify active/work-related vs. inactive/non-work-related states.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Generate quantitative activity records for individual workers.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Operate without requiring additional wearable sensors or dedicated cameras.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62" name="Google Shape;662;h1499daca25a6e9aa_0_9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h1499daca25a6e9aa_0_0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8" name="Google Shape;668;h1499daca25a6e9aa_0_0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69" name="Google Shape;669;h1499daca25a6e9aa_0_0"/>
          <p:cNvSpPr txBox="1"/>
          <p:nvPr/>
        </p:nvSpPr>
        <p:spPr>
          <a:xfrm>
            <a:off x="219650" y="1358500"/>
            <a:ext cx="747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Garments Activity Recognition System</a:t>
            </a:r>
            <a:endParaRPr b="0" i="0" sz="2000" u="none" cap="none" strike="noStrike">
              <a:solidFill>
                <a:srgbClr val="000000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70" name="Google Shape;670;h1499daca25a6e9aa_0_0"/>
          <p:cNvSpPr txBox="1"/>
          <p:nvPr/>
        </p:nvSpPr>
        <p:spPr>
          <a:xfrm>
            <a:off x="369925" y="2123725"/>
            <a:ext cx="3588600" cy="20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Identity Hand Positions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Tracking Hands over the frame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Feature Extraction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Activity Classification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71" name="Google Shape;671;h1499daca25a6e9aa_0_0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7" name="Google Shape;677;p4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78" name="Google Shape;678;p4"/>
          <p:cNvSpPr txBox="1"/>
          <p:nvPr/>
        </p:nvSpPr>
        <p:spPr>
          <a:xfrm>
            <a:off x="110900" y="1807613"/>
            <a:ext cx="4251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euton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Identify the workers and their hands positions</a:t>
            </a:r>
            <a:endParaRPr b="0" i="0" sz="2000" u="none" cap="none" strike="noStrike">
              <a:solidFill>
                <a:srgbClr val="000000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679" name="Google Shape;679;p4" title="garment-floo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350" y="1807625"/>
            <a:ext cx="4034400" cy="230463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"/>
          <p:cNvSpPr txBox="1"/>
          <p:nvPr/>
        </p:nvSpPr>
        <p:spPr>
          <a:xfrm>
            <a:off x="5051238" y="4201528"/>
            <a:ext cx="3588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01: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b="0" i="0" lang="en" sz="1500" u="sng" cap="none" strike="noStrike">
                <a:solidFill>
                  <a:srgbClr val="0B5394"/>
                </a:solidFill>
                <a:latin typeface="Neuton"/>
                <a:ea typeface="Neuton"/>
                <a:cs typeface="Neuton"/>
                <a:sym typeface="Neut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Sewing Workers in a Garment Floor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81" name="Google Shape;681;p4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7" name="Google Shape;687;p5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88" name="Google Shape;688;p5"/>
          <p:cNvSpPr txBox="1"/>
          <p:nvPr/>
        </p:nvSpPr>
        <p:spPr>
          <a:xfrm>
            <a:off x="219650" y="1225150"/>
            <a:ext cx="4352400" cy="3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Existing Dataset: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VerSew 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[1]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About Dataset: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-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3,121 high-resolution videos containing approximately 49,936 frames.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-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Captures the actions of 34 sewing machine operators and maintenance workers.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About Dataset: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-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Contains one person per frame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89" name="Google Shape;689;p5"/>
          <p:cNvSpPr txBox="1"/>
          <p:nvPr/>
        </p:nvSpPr>
        <p:spPr>
          <a:xfrm>
            <a:off x="4963762" y="3584800"/>
            <a:ext cx="363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02: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b="0" i="0" lang="en" sz="1500" u="sng" cap="none" strike="noStrike">
                <a:solidFill>
                  <a:srgbClr val="0B5394"/>
                </a:solidFill>
                <a:latin typeface="Neuton"/>
                <a:ea typeface="Neuton"/>
                <a:cs typeface="Neuton"/>
                <a:sym typeface="Neu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Frame from VerSew Dataset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90" name="Google Shape;690;p5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691" name="Google Shape;6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812" y="1653578"/>
            <a:ext cx="3275874" cy="1836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7" name="Google Shape;697;p6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98" name="Google Shape;698;p6"/>
          <p:cNvSpPr txBox="1"/>
          <p:nvPr/>
        </p:nvSpPr>
        <p:spPr>
          <a:xfrm>
            <a:off x="219650" y="1225150"/>
            <a:ext cx="4352400" cy="3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01.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Identify Hand Positions</a:t>
            </a:r>
            <a:endParaRPr b="0" i="0" sz="2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Key Point Based Models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Movenet (</a:t>
            </a:r>
            <a:r>
              <a:rPr b="0" i="0" lang="en" sz="1800" u="sng" cap="none" strike="noStrike">
                <a:solidFill>
                  <a:srgbClr val="0000FF"/>
                </a:solidFill>
                <a:latin typeface="Neuton"/>
                <a:ea typeface="Neuton"/>
                <a:cs typeface="Neuton"/>
                <a:sym typeface="Neu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Thunder Variant</a:t>
            </a: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-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17 human body key points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euton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MediaPipe Holistic (</a:t>
            </a:r>
            <a:r>
              <a:rPr b="0" i="0" lang="en" sz="2000" u="sng" cap="none" strike="noStrike">
                <a:solidFill>
                  <a:srgbClr val="0000FF"/>
                </a:solidFill>
                <a:latin typeface="Neuton"/>
                <a:ea typeface="Neuton"/>
                <a:cs typeface="Neuton"/>
                <a:sym typeface="Neut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Mediapipe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-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Holistic extracts 540 landmarks, including 33 pose landmarks, 21 landmarks per hand, and 468 facial landmarks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99" name="Google Shape;699;p6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grpSp>
        <p:nvGrpSpPr>
          <p:cNvPr id="700" name="Google Shape;700;p6"/>
          <p:cNvGrpSpPr/>
          <p:nvPr/>
        </p:nvGrpSpPr>
        <p:grpSpPr>
          <a:xfrm>
            <a:off x="5018475" y="1628300"/>
            <a:ext cx="3636000" cy="3020425"/>
            <a:chOff x="4956800" y="1950450"/>
            <a:chExt cx="3636000" cy="3020425"/>
          </a:xfrm>
        </p:grpSpPr>
        <p:sp>
          <p:nvSpPr>
            <p:cNvPr id="701" name="Google Shape;701;p6"/>
            <p:cNvSpPr txBox="1"/>
            <p:nvPr/>
          </p:nvSpPr>
          <p:spPr>
            <a:xfrm>
              <a:off x="4956800" y="4361875"/>
              <a:ext cx="36360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dk1"/>
                  </a:solidFill>
                  <a:latin typeface="Neuton"/>
                  <a:ea typeface="Neuton"/>
                  <a:cs typeface="Neuton"/>
                  <a:sym typeface="Neuton"/>
                </a:rPr>
                <a:t>Fig 03: </a:t>
              </a:r>
              <a:r>
                <a:rPr b="0" i="0" lang="en" sz="1500" u="none" cap="none" strike="noStrike">
                  <a:solidFill>
                    <a:srgbClr val="0B5394"/>
                  </a:solidFill>
                  <a:latin typeface="Neuton"/>
                  <a:ea typeface="Neuton"/>
                  <a:cs typeface="Neuton"/>
                  <a:sym typeface="Neuton"/>
                </a:rPr>
                <a:t> </a:t>
              </a:r>
              <a:r>
                <a:rPr b="0" i="0" lang="en" sz="1500" u="sng" cap="none" strike="noStrike">
                  <a:solidFill>
                    <a:srgbClr val="0B5394"/>
                  </a:solidFill>
                  <a:latin typeface="Neuton"/>
                  <a:ea typeface="Neuton"/>
                  <a:cs typeface="Neuton"/>
                  <a:sym typeface="Neuton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Detecting Hands Using Key points Based Model</a:t>
              </a:r>
              <a:endParaRPr b="0" i="0" sz="1500" u="none" cap="none" strike="noStrike">
                <a:solidFill>
                  <a:srgbClr val="0B5394"/>
                </a:solidFill>
                <a:latin typeface="Neuton"/>
                <a:ea typeface="Neuton"/>
                <a:cs typeface="Neuton"/>
                <a:sym typeface="Neuton"/>
              </a:endParaRPr>
            </a:p>
          </p:txBody>
        </p:sp>
        <p:pic>
          <p:nvPicPr>
            <p:cNvPr id="702" name="Google Shape;702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36698" y="1950450"/>
              <a:ext cx="2007975" cy="2254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8" name="Google Shape;708;p7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09" name="Google Shape;709;p7"/>
          <p:cNvSpPr txBox="1"/>
          <p:nvPr/>
        </p:nvSpPr>
        <p:spPr>
          <a:xfrm>
            <a:off x="219650" y="1225150"/>
            <a:ext cx="43524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Existing Work: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Enhanced Garments Sewing Activity Recognition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[2]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Findings: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Poor quality of key points extractions.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Blurry and noisy hand movements and varying angles.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10" name="Google Shape;710;p7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9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11" name="Google Shape;711;p7"/>
          <p:cNvSpPr txBox="1"/>
          <p:nvPr/>
        </p:nvSpPr>
        <p:spPr>
          <a:xfrm>
            <a:off x="5018475" y="33361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04: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b="0" i="0" lang="en" sz="1500" u="sng" cap="none" strike="noStrike">
                <a:solidFill>
                  <a:srgbClr val="0B5394"/>
                </a:solidFill>
                <a:latin typeface="Neuton"/>
                <a:ea typeface="Neuton"/>
                <a:cs typeface="Neuton"/>
                <a:sym typeface="Neu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Results of paper [2]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12" name="Google Shape;7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0473" y="1853901"/>
            <a:ext cx="4572002" cy="15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8" name="Google Shape;718;p8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19" name="Google Shape;719;p8"/>
          <p:cNvSpPr txBox="1"/>
          <p:nvPr/>
        </p:nvSpPr>
        <p:spPr>
          <a:xfrm>
            <a:off x="219650" y="1225150"/>
            <a:ext cx="43524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Proposed Solution: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Use color based segmentation for hand detection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Preprocessing: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Evenly Distributed Frames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Convert to HSV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Illumination Invariant (CLAHE + Gamma Correction)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ROI selection (Otsu)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HSV color range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20" name="Google Shape;720;p8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21" name="Google Shape;721;p8"/>
          <p:cNvSpPr txBox="1"/>
          <p:nvPr/>
        </p:nvSpPr>
        <p:spPr>
          <a:xfrm>
            <a:off x="5055850" y="41136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05: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Video Upload and Extract Frames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22" name="Google Shape;722;p8"/>
          <p:cNvPicPr preferRelativeResize="0"/>
          <p:nvPr/>
        </p:nvPicPr>
        <p:blipFill rotWithShape="1">
          <a:blip r:embed="rId3">
            <a:alphaModFix/>
          </a:blip>
          <a:srcRect b="0" l="21463" r="0" t="0"/>
          <a:stretch/>
        </p:blipFill>
        <p:spPr>
          <a:xfrm>
            <a:off x="4493074" y="1660675"/>
            <a:ext cx="4414648" cy="228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8" name="Google Shape;728;p9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29" name="Google Shape;729;p9"/>
          <p:cNvSpPr txBox="1"/>
          <p:nvPr/>
        </p:nvSpPr>
        <p:spPr>
          <a:xfrm>
            <a:off x="219650" y="1225150"/>
            <a:ext cx="43524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Proposed Solution: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Use color based segmentation for hand detection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Detection: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Use HSV Color range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Morphological Opening and Closing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Contour Generation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Remove Noise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30" name="Google Shape;730;p9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31" name="Google Shape;731;p9"/>
          <p:cNvSpPr txBox="1"/>
          <p:nvPr/>
        </p:nvSpPr>
        <p:spPr>
          <a:xfrm>
            <a:off x="5055850" y="41136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06: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ROI selection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32" name="Google Shape;7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4700" y="1631753"/>
            <a:ext cx="4267149" cy="240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8" name="Google Shape;738;p10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39" name="Google Shape;739;p10"/>
          <p:cNvSpPr txBox="1"/>
          <p:nvPr/>
        </p:nvSpPr>
        <p:spPr>
          <a:xfrm>
            <a:off x="611125" y="1507875"/>
            <a:ext cx="4352400" cy="28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02.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Tracking Hands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Popular Algorithms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[3]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Kalman Filter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Hungarian Algorithm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Proposed Solution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Distance Based identity tracking.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40" name="Google Shape;740;p10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41" name="Google Shape;741;p10"/>
          <p:cNvSpPr txBox="1"/>
          <p:nvPr/>
        </p:nvSpPr>
        <p:spPr>
          <a:xfrm>
            <a:off x="5267000" y="34154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07: </a:t>
            </a:r>
            <a:r>
              <a:rPr b="0" i="0" lang="en" sz="15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b="0" i="0" lang="en" sz="1500" u="sng" cap="none" strike="noStrike">
                <a:solidFill>
                  <a:srgbClr val="0B5394"/>
                </a:solidFill>
                <a:latin typeface="Neuton"/>
                <a:ea typeface="Neuton"/>
                <a:cs typeface="Neuton"/>
                <a:sym typeface="Neu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https://g2.com/object-detection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42" name="Google Shape;7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4573" y="1698262"/>
            <a:ext cx="2820849" cy="16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1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8" name="Google Shape;748;p11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49" name="Google Shape;749;p11"/>
          <p:cNvSpPr txBox="1"/>
          <p:nvPr/>
        </p:nvSpPr>
        <p:spPr>
          <a:xfrm>
            <a:off x="611125" y="1507875"/>
            <a:ext cx="43524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03.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Extract Meaningful Features 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Amplitude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Dominant frequency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SD of hand coordinates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Mean Speed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Motion Variability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Total Displacement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50" name="Google Shape;750;p11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13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51" name="Google Shape;751;p11"/>
          <p:cNvSpPr txBox="1"/>
          <p:nvPr/>
        </p:nvSpPr>
        <p:spPr>
          <a:xfrm>
            <a:off x="5267000" y="34154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08: Hand Movement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52" name="Google Shape;752;p11" title="cha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5975" y="1906552"/>
            <a:ext cx="3018050" cy="13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8" name="Google Shape;758;p12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59" name="Google Shape;759;p12"/>
          <p:cNvSpPr txBox="1"/>
          <p:nvPr/>
        </p:nvSpPr>
        <p:spPr>
          <a:xfrm>
            <a:off x="611125" y="1507875"/>
            <a:ext cx="316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03. </a:t>
            </a:r>
            <a:r>
              <a:rPr b="0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Classify Working States 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60" name="Google Shape;760;p12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14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61" name="Google Shape;761;p12"/>
          <p:cNvSpPr txBox="1"/>
          <p:nvPr/>
        </p:nvSpPr>
        <p:spPr>
          <a:xfrm>
            <a:off x="3214988" y="4675569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09: Model Result</a:t>
            </a:r>
            <a:endParaRPr b="0" i="0" sz="15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62" name="Google Shape;7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7700" y="2293210"/>
            <a:ext cx="4034400" cy="1618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00" y="2601913"/>
            <a:ext cx="3931674" cy="1472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3"/>
          <p:cNvSpPr/>
          <p:nvPr/>
        </p:nvSpPr>
        <p:spPr>
          <a:xfrm>
            <a:off x="-8700" y="-6524"/>
            <a:ext cx="9144000" cy="83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9" name="Google Shape;769;p13"/>
          <p:cNvSpPr txBox="1"/>
          <p:nvPr/>
        </p:nvSpPr>
        <p:spPr>
          <a:xfrm>
            <a:off x="165275" y="156575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70" name="Google Shape;770;p13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15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71" name="Google Shape;771;p13"/>
          <p:cNvSpPr txBox="1"/>
          <p:nvPr/>
        </p:nvSpPr>
        <p:spPr>
          <a:xfrm>
            <a:off x="371900" y="1105525"/>
            <a:ext cx="256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Classification Model 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72" name="Google Shape;772;p13"/>
          <p:cNvSpPr txBox="1"/>
          <p:nvPr/>
        </p:nvSpPr>
        <p:spPr>
          <a:xfrm>
            <a:off x="491500" y="1598125"/>
            <a:ext cx="4556400" cy="25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KNN</a:t>
            </a:r>
            <a:endParaRPr b="1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Average validation accuracy 0.79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Average test accuracy 0.74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Random Forest</a:t>
            </a:r>
            <a:endParaRPr b="1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Non Sewing F1 Score 0.92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Sewing F1 Score 0.88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73" name="Google Shape;773;p13"/>
          <p:cNvSpPr txBox="1"/>
          <p:nvPr/>
        </p:nvSpPr>
        <p:spPr>
          <a:xfrm>
            <a:off x="5460772" y="3628925"/>
            <a:ext cx="26424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10: Model ResultRandom Forest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74" name="Google Shape;7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9762" y="2163249"/>
            <a:ext cx="3404427" cy="13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4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0" name="Google Shape;780;p14"/>
          <p:cNvSpPr txBox="1"/>
          <p:nvPr/>
        </p:nvSpPr>
        <p:spPr>
          <a:xfrm>
            <a:off x="219650" y="319700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Workflow Diagram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81" name="Google Shape;781;p14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16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82" name="Google Shape;782;p14"/>
          <p:cNvSpPr txBox="1"/>
          <p:nvPr/>
        </p:nvSpPr>
        <p:spPr>
          <a:xfrm>
            <a:off x="2754001" y="465736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11:  Workflow of GARS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83" name="Google Shape;7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201" y="1311220"/>
            <a:ext cx="4483586" cy="32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h354936156d2f4d65_0_26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9" name="Google Shape;789;h354936156d2f4d65_0_26"/>
          <p:cNvSpPr txBox="1"/>
          <p:nvPr/>
        </p:nvSpPr>
        <p:spPr>
          <a:xfrm>
            <a:off x="219650" y="319700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Workflow </a:t>
            </a: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Calibration Process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90" name="Google Shape;790;h354936156d2f4d65_0_26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17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91" name="Google Shape;791;h354936156d2f4d65_0_26"/>
          <p:cNvSpPr txBox="1"/>
          <p:nvPr/>
        </p:nvSpPr>
        <p:spPr>
          <a:xfrm>
            <a:off x="2754001" y="459851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11:  Workflow of </a:t>
            </a:r>
            <a:r>
              <a:rPr lang="en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Calibration Process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792" name="Google Shape;792;h354936156d2f4d65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88" y="1404778"/>
            <a:ext cx="7442429" cy="308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h354936156d2f4d65_0_35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8" name="Google Shape;798;h354936156d2f4d65_0_35"/>
          <p:cNvSpPr txBox="1"/>
          <p:nvPr/>
        </p:nvSpPr>
        <p:spPr>
          <a:xfrm>
            <a:off x="219650" y="319700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Workflow </a:t>
            </a: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Detection </a:t>
            </a: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Process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99" name="Google Shape;799;h354936156d2f4d65_0_35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18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00" name="Google Shape;800;h354936156d2f4d65_0_35"/>
          <p:cNvSpPr txBox="1"/>
          <p:nvPr/>
        </p:nvSpPr>
        <p:spPr>
          <a:xfrm>
            <a:off x="2754001" y="459851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11:  Workflow of  </a:t>
            </a:r>
            <a:r>
              <a:rPr lang="en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Detection</a:t>
            </a:r>
            <a:r>
              <a:rPr lang="en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 Process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801" name="Google Shape;801;h354936156d2f4d65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500" y="1422075"/>
            <a:ext cx="7371000" cy="26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5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7" name="Google Shape;807;p15"/>
          <p:cNvSpPr txBox="1"/>
          <p:nvPr/>
        </p:nvSpPr>
        <p:spPr>
          <a:xfrm>
            <a:off x="219650" y="319700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Output Demo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08" name="Google Shape;808;p15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19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09" name="Google Shape;809;p15"/>
          <p:cNvSpPr txBox="1"/>
          <p:nvPr/>
        </p:nvSpPr>
        <p:spPr>
          <a:xfrm>
            <a:off x="2627075" y="2405800"/>
            <a:ext cx="43548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0000FF"/>
                </a:solidFill>
                <a:latin typeface="Neuton"/>
                <a:ea typeface="Neuton"/>
                <a:cs typeface="Neuton"/>
                <a:sym typeface="Neu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Output Video Link</a:t>
            </a:r>
            <a:endParaRPr sz="2000">
              <a:solidFill>
                <a:srgbClr val="0000FF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7"/>
          <p:cNvSpPr/>
          <p:nvPr/>
        </p:nvSpPr>
        <p:spPr>
          <a:xfrm>
            <a:off x="-8700" y="-6524"/>
            <a:ext cx="9144000" cy="83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5" name="Google Shape;815;p17"/>
          <p:cNvSpPr txBox="1"/>
          <p:nvPr/>
        </p:nvSpPr>
        <p:spPr>
          <a:xfrm>
            <a:off x="165275" y="156575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Used Technology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16" name="Google Shape;816;p17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20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17" name="Google Shape;817;p17"/>
          <p:cNvSpPr txBox="1"/>
          <p:nvPr/>
        </p:nvSpPr>
        <p:spPr>
          <a:xfrm>
            <a:off x="261675" y="1136350"/>
            <a:ext cx="45978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Frontend: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NestJs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Zustand (state management)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Axios Data fetching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Backend: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FastAPI (python)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OpenCV, Scikit-learn, Numpy, Pandas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818" name="Google Shape;8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9950" y="1611150"/>
            <a:ext cx="894175" cy="8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6100" y="1563324"/>
            <a:ext cx="1828475" cy="106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388" y="2904425"/>
            <a:ext cx="837300" cy="8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6950" y="2811387"/>
            <a:ext cx="772975" cy="102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8"/>
          <p:cNvSpPr/>
          <p:nvPr/>
        </p:nvSpPr>
        <p:spPr>
          <a:xfrm>
            <a:off x="-8700" y="-6524"/>
            <a:ext cx="9144000" cy="83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165275" y="156575"/>
            <a:ext cx="573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Used Technology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21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475125" y="1106475"/>
            <a:ext cx="39324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Database: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MongoDB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ML Model: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Testing: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Pytest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Deployment: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Docker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Version Control:</a:t>
            </a:r>
            <a:endParaRPr b="1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Git, Github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830" name="Google Shape;8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725" y="1769788"/>
            <a:ext cx="837300" cy="8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852" y="2786365"/>
            <a:ext cx="1334951" cy="133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4300" y="2920137"/>
            <a:ext cx="1771249" cy="99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9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8" name="Google Shape;838;p19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Testing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39" name="Google Shape;839;p19"/>
          <p:cNvSpPr txBox="1"/>
          <p:nvPr/>
        </p:nvSpPr>
        <p:spPr>
          <a:xfrm>
            <a:off x="436450" y="1255050"/>
            <a:ext cx="43524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 Suite Composition: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Unit test cases: 460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Integration test cases: 10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Total test cases: 470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 Execution Results: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Total test cases executed: 470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 cases passed: 470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Test cases failed: 0</a:t>
            </a:r>
            <a:endParaRPr b="0" i="0" sz="16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euton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86% statement coverage</a:t>
            </a:r>
            <a:endParaRPr b="0" i="0" sz="18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40" name="Google Shape;840;p19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841" name="Google Shape;8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5075" y="1184524"/>
            <a:ext cx="2300450" cy="32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19"/>
          <p:cNvSpPr txBox="1"/>
          <p:nvPr/>
        </p:nvSpPr>
        <p:spPr>
          <a:xfrm>
            <a:off x="4615522" y="4430187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12: Unit test coverage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0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23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graphicFrame>
        <p:nvGraphicFramePr>
          <p:cNvPr id="848" name="Google Shape;848;p20"/>
          <p:cNvGraphicFramePr/>
          <p:nvPr/>
        </p:nvGraphicFramePr>
        <p:xfrm>
          <a:off x="2268075" y="159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{5ABAA3FA-F598-4A16-A4C4-719AAEC984A7}</a:tableStyleId>
              </a:tblPr>
              <a:tblGrid>
                <a:gridCol w="947800"/>
                <a:gridCol w="698025"/>
                <a:gridCol w="1261500"/>
                <a:gridCol w="684775"/>
                <a:gridCol w="692175"/>
              </a:tblGrid>
              <a:tr h="334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Count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File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Coverage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4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Routes (HTTP Endpoints)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207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test_activity_recognition.py, test_auth.py, test_calibration.py, test_detection.py, test_feature_extraction.py, test_preprocessing.py, test_processing.py, test_utils.py, test_videos.py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80-99%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Algorithms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test_calibration.py, test_detection.py, test_preprocessing.py, test_tracking.py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99-100%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Utilities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test_auth.py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Middleware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test_auth.py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Foundation (Database, Schemas, Dependencies)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test_database.py, test_schemas.py, test_dependencies.py, test_main.py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87-100%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Integration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test_routes_integration.py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test modules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86%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470 passing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127000" marL="1270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1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4" name="Google Shape;854;p21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Deployment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55" name="Google Shape;855;p21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24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856" name="Google Shape;8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25" y="1625675"/>
            <a:ext cx="3669625" cy="25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4720" y="2035278"/>
            <a:ext cx="4297103" cy="192451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1"/>
          <p:cNvSpPr txBox="1"/>
          <p:nvPr/>
        </p:nvSpPr>
        <p:spPr>
          <a:xfrm>
            <a:off x="2753988" y="4316044"/>
            <a:ext cx="36360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Fig 13: Docker Containers</a:t>
            </a:r>
            <a:endParaRPr b="0" i="0" sz="1400" u="none" cap="none" strike="noStrike">
              <a:solidFill>
                <a:srgbClr val="0B5394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2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4" name="Google Shape;864;p22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Appendix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65" name="Google Shape;865;p22"/>
          <p:cNvSpPr txBox="1"/>
          <p:nvPr/>
        </p:nvSpPr>
        <p:spPr>
          <a:xfrm>
            <a:off x="385400" y="1505000"/>
            <a:ext cx="74598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Neuton"/>
              <a:buAutoNum type="arabicPeriod"/>
            </a:pPr>
            <a:r>
              <a:rPr b="0" i="0" lang="en" sz="1400" u="none" cap="none" strike="noStrike">
                <a:solidFill>
                  <a:srgbClr val="666666"/>
                </a:solidFill>
                <a:latin typeface="Neuton"/>
                <a:ea typeface="Neuton"/>
                <a:cs typeface="Neuton"/>
                <a:sym typeface="Neuton"/>
              </a:rPr>
              <a:t>Aly Fathy, VARSew: A Literature Review and Benchmark Dataset for Visual Recognition in Garment Sewing, IEEE Intelligent Methods, Systems, and Applications (IMSA), 2023</a:t>
            </a:r>
            <a:endParaRPr b="0" i="0" sz="1400" u="none" cap="none" strike="noStrike">
              <a:solidFill>
                <a:srgbClr val="666666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Neuton"/>
              <a:buAutoNum type="arabicPeriod"/>
            </a:pPr>
            <a:r>
              <a:rPr b="0" i="0" lang="en" sz="1400" u="none" cap="none" strike="noStrike">
                <a:solidFill>
                  <a:srgbClr val="666666"/>
                </a:solidFill>
                <a:latin typeface="Neuton"/>
                <a:ea typeface="Neuton"/>
                <a:cs typeface="Neuton"/>
                <a:sym typeface="Neuton"/>
              </a:rPr>
              <a:t> Mustafa Marzuk, Enhancing Garment Sewing Employee Added Value Monitoring Using a Video-Based Spatio-Temporal Approach Through Computer Vision, IEEE Intelligent Methods, Systems, and Applications (IMSA), 2024 </a:t>
            </a:r>
            <a:endParaRPr b="0" i="0" sz="1400" u="none" cap="none" strike="noStrike">
              <a:solidFill>
                <a:srgbClr val="666666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Neuton"/>
              <a:buAutoNum type="arabicPeriod"/>
            </a:pPr>
            <a:r>
              <a:rPr b="0" i="0" lang="en" sz="1400" u="none" cap="none" strike="noStrike">
                <a:solidFill>
                  <a:srgbClr val="666666"/>
                </a:solidFill>
                <a:latin typeface="Neuton"/>
                <a:ea typeface="Neuton"/>
                <a:cs typeface="Neuton"/>
                <a:sym typeface="Neuton"/>
              </a:rPr>
              <a:t>Zhibo Zou, Compensation Tracker: Reprocessing Lost Object for Multi Object Tracking, IEEE/CVF WACV, 2022</a:t>
            </a:r>
            <a:endParaRPr b="0" i="0" sz="1400" u="none" cap="none" strike="noStrike">
              <a:solidFill>
                <a:srgbClr val="666666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Neuton"/>
              <a:buAutoNum type="arabicPeriod"/>
            </a:pPr>
            <a:r>
              <a:rPr b="0" i="0" lang="en" sz="1400" u="none" cap="none" strike="noStrike">
                <a:solidFill>
                  <a:srgbClr val="666666"/>
                </a:solidFill>
                <a:latin typeface="Neuton"/>
                <a:ea typeface="Neuton"/>
                <a:cs typeface="Neuton"/>
                <a:sym typeface="Neuton"/>
              </a:rPr>
              <a:t>Wenhang Su, Chengjun Wang, Jiabao Li, Zhipeng Yu, Li Jin, A novel feature extraction framework based on periodic features for human activity recognition using wearable sensor data, Digital Signal Processing, Volume 168, Part C, 2026, 105584, ISSN 1051-2004</a:t>
            </a:r>
            <a:endParaRPr b="0" i="0" sz="1400" u="none" cap="none" strike="noStrike">
              <a:solidFill>
                <a:srgbClr val="666666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euton"/>
              <a:buAutoNum type="arabicPeriod"/>
            </a:pPr>
            <a:r>
              <a:rPr b="0" i="0" lang="en" sz="1400" u="none" cap="none" strike="noStrike">
                <a:solidFill>
                  <a:srgbClr val="434343"/>
                </a:solidFill>
                <a:latin typeface="Neuton"/>
                <a:ea typeface="Neuton"/>
                <a:cs typeface="Neuton"/>
                <a:sym typeface="Neuton"/>
              </a:rPr>
              <a:t>Jun Liu, Skeleton-Based Action Recognition Using Spatio-Temporal LSTM Network with Trust Gates IEEE Transactions on Pattern Analysis and Machine Intelligence, 2018</a:t>
            </a:r>
            <a:endParaRPr b="0" i="0" sz="1400" u="none" cap="none" strike="noStrike">
              <a:solidFill>
                <a:srgbClr val="434343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66" name="Google Shape;866;p22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h354936156d2f4d65_0_0"/>
          <p:cNvSpPr/>
          <p:nvPr/>
        </p:nvSpPr>
        <p:spPr>
          <a:xfrm>
            <a:off x="-8700" y="-6522"/>
            <a:ext cx="9144000" cy="11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2" name="Google Shape;872;h354936156d2f4d65_0_0"/>
          <p:cNvSpPr txBox="1"/>
          <p:nvPr/>
        </p:nvSpPr>
        <p:spPr>
          <a:xfrm>
            <a:off x="219650" y="319700"/>
            <a:ext cx="4034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Research Contributors</a:t>
            </a:r>
            <a:endParaRPr b="0" i="0" sz="30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73" name="Google Shape;873;h354936156d2f4d65_0_0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26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874" name="Google Shape;874;h354936156d2f4d65_0_0"/>
          <p:cNvSpPr txBox="1"/>
          <p:nvPr/>
        </p:nvSpPr>
        <p:spPr>
          <a:xfrm>
            <a:off x="343700" y="1899675"/>
            <a:ext cx="3554400" cy="198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Md. Sabbir Hosen</a:t>
            </a:r>
            <a:b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</a:b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BSSE 1333 ,  Institute of Information Technology, University of Dhaka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Shartaz Sajid Nahid</a:t>
            </a:r>
            <a:b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</a:b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Lecturer · Department of Computer Science and Engineering ,East West University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5" name="Google Shape;875;h354936156d2f4d65_0_0"/>
          <p:cNvSpPr txBox="1"/>
          <p:nvPr/>
        </p:nvSpPr>
        <p:spPr>
          <a:xfrm>
            <a:off x="4768625" y="1899675"/>
            <a:ext cx="3931800" cy="208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Dr. Ahmedul Kabir</a:t>
            </a:r>
            <a:endParaRPr b="1"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Associate Professor · Institute of Information Technology, University of Dhaka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Dr. Mohammad Shoyaib</a:t>
            </a:r>
            <a:endParaRPr b="1"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Professor ·, Institute of Information Technology, University of Dhaka</a:t>
            </a:r>
            <a:endParaRPr sz="16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6" name="Google Shape;876;h354936156d2f4d65_0_0"/>
          <p:cNvSpPr txBox="1"/>
          <p:nvPr/>
        </p:nvSpPr>
        <p:spPr>
          <a:xfrm>
            <a:off x="4686235" y="1428730"/>
            <a:ext cx="2577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Supervised By</a:t>
            </a:r>
            <a:endParaRPr b="1" sz="18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/>
              <a:t>Thank you!</a:t>
            </a:r>
            <a:endParaRPr/>
          </a:p>
        </p:txBody>
      </p:sp>
      <p:cxnSp>
        <p:nvCxnSpPr>
          <p:cNvPr id="882" name="Google Shape;882;p23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3" name="Google Shape;883;p23"/>
          <p:cNvSpPr txBox="1"/>
          <p:nvPr/>
        </p:nvSpPr>
        <p:spPr>
          <a:xfrm>
            <a:off x="8592800" y="4648725"/>
            <a:ext cx="47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27</a:t>
            </a:r>
            <a:endParaRPr b="0" i="0" sz="1500" u="none" cap="none" strike="noStrike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